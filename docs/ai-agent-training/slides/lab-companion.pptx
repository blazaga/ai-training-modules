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macOS and WSL shells were the target. Not tested on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has no Postman folder: its client is your own Claude (or the MCP Inspector), over stdio.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105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run on an empty in-memory database; this step proves the resources also serve the seeded rows. Then pnpm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02 10/10 (lab 01 still 15/15) and verify 60 unit / 55 e2e. Its query guard has two layers, each proven by removing it: one SELECT/WITH statement (libSQL silently runs only the first of two), and a query_only connection (a delete hidden in a WITH emptied the copy without it). It also found that the default database path is relative to the working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runs the server on a COPY of data/app.db. When learners try it from Claude, the writes go to their own data/app.db: pnpm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pnpm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pnpm verify + pnpm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Node 24 + pnpm</a:t>
            </a:r>
            <a:endParaRPr lang="en-US" sz="1800" dirty="0"/>
          </a:p>
          <a:p>
            <a:pPr indent="0" marL="0">
              <a:buNone/>
            </a:pPr>
            <a:r>
              <a:rPr lang="en-US" sz="1400" dirty="0">
                <a:solidFill>
                  <a:srgbClr val="2B3440"/>
                </a:solidFill>
              </a:rPr>
              <a:t>Every command runs in boilerplate/nest-ai-starter. </a:t>
            </a:r>
            <a:pPr indent="0" marL="0">
              <a:buNone/>
            </a:pPr>
            <a:r>
              <a:rPr lang="en-US" sz="1400" dirty="0">
                <a:solidFill>
                  <a:srgbClr val="2B3440"/>
                </a:solidFill>
                <a:latin typeface="Courier New" pitchFamily="34" charset="0"/>
                <a:ea typeface="Courier New" pitchFamily="34" charset="-122"/>
                <a:cs typeface="Courier New" pitchFamily="34" charset="-120"/>
              </a:rPr>
              <a:t>corepack enable</a:t>
            </a:r>
            <a:pPr indent="0" marL="0">
              <a:buNone/>
            </a:pPr>
            <a:r>
              <a:rPr lang="en-US" sz="1400" dirty="0">
                <a:solidFill>
                  <a:srgbClr val="2B3440"/>
                </a:solidFill>
              </a:rPr>
              <a:t> once puts pnpm on your PATH; otherwise write </a:t>
            </a:r>
            <a:pPr indent="0" marL="0">
              <a:buNone/>
            </a:pPr>
            <a:r>
              <a:rPr lang="en-US" sz="1400" dirty="0">
                <a:solidFill>
                  <a:srgbClr val="2B3440"/>
                </a:solidFill>
                <a:latin typeface="Courier New" pitchFamily="34" charset="0"/>
                <a:ea typeface="Courier New" pitchFamily="34" charset="-122"/>
                <a:cs typeface="Courier New" pitchFamily="34" charset="-120"/>
              </a:rPr>
              <a:t>corepack pnpm</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Calling the API with Postman</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Import one file</a:t>
            </a:r>
            <a:endParaRPr lang="en-US" sz="1800" dirty="0"/>
          </a:p>
          <a:p>
            <a:pPr indent="0" marL="0">
              <a:buNone/>
            </a:pPr>
            <a:r>
              <a:rPr lang="en-US" sz="1400" dirty="0">
                <a:solidFill>
                  <a:srgbClr val="2B3440"/>
                </a:solidFill>
              </a:rPr>
              <a:t>In the starter: </a:t>
            </a:r>
            <a:pPr indent="0" marL="0">
              <a:buNone/>
            </a:pPr>
            <a:r>
              <a:rPr lang="en-US" sz="1400" dirty="0">
                <a:solidFill>
                  <a:srgbClr val="2B3440"/>
                </a:solidFill>
                <a:latin typeface="Courier New" pitchFamily="34" charset="0"/>
                <a:ea typeface="Courier New" pitchFamily="34" charset="-122"/>
                <a:cs typeface="Courier New" pitchFamily="34" charset="-120"/>
              </a:rPr>
              <a:t>postman/nest-ai-starter.postman_collection.json</a:t>
            </a:r>
            <a:pPr indent="0" marL="0">
              <a:buNone/>
            </a:pPr>
            <a:r>
              <a:rPr lang="en-US" sz="1400" dirty="0">
                <a:solidFill>
                  <a:srgbClr val="2B3440"/>
                </a:solidFill>
              </a:rPr>
              <a:t>. baseUrl is http://localhost:3000. Run the folders in order: 01 stores the ids 02 uses.</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Folders follow module 1</a:t>
            </a:r>
            <a:endParaRPr lang="en-US" sz="1800" dirty="0"/>
          </a:p>
          <a:p>
            <a:pPr indent="0" marL="0">
              <a:buNone/>
            </a:pPr>
            <a:r>
              <a:rPr lang="en-US" sz="1400" dirty="0">
                <a:solidFill>
                  <a:srgbClr val="2B3440"/>
                </a:solidFill>
              </a:rPr>
              <a:t>Users, then notes and sharing. Every request has tests: read the Test Results tab, not just the status.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pnpm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pnpm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60'</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45'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60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2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switches to corepack pnpm if pnpm is missing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pnpm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pnpm lab 01 and pnpm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pnpm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build &amp;&amp; pnpm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second terminal: the seeded rows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curl -s 'localhost:3000/api/v1/notes?status=done'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lab 01   # the lab check: all green?</a:t>
            </a:r>
            <a:endParaRPr lang="en-US" sz="1200" dirty="0"/>
          </a:p>
        </p:txBody>
      </p:sp>
      <p:sp>
        <p:nvSpPr>
          <p:cNvPr id="9" name="postman"/>
          <p:cNvSpPr/>
          <p:nvPr/>
        </p:nvSpPr>
        <p:spPr>
          <a:xfrm>
            <a:off x="5852160" y="1097280"/>
            <a:ext cx="2834640" cy="3520440"/>
          </a:xfrm>
          <a:prstGeom prst="roundRect">
            <a:avLst>
              <a:gd name="adj" fmla="val 2581"/>
            </a:avLst>
          </a:prstGeom>
          <a:solidFill>
            <a:srgbClr val="EF5B25"/>
          </a:solidFill>
          <a:ln w="12700">
            <a:solidFill>
              <a:srgbClr val="EF5B25"/>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Postman</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01 · Users (module 1)</a:t>
            </a:r>
            <a:endParaRPr lang="en-US" sz="1300" dirty="0"/>
          </a:p>
          <a:p>
            <a:pPr indent="0" marL="0">
              <a:buNone/>
            </a:pPr>
            <a:r>
              <a:rPr lang="en-US" sz="1300" dirty="0">
                <a:solidFill>
                  <a:srgbClr val="FFFFFF"/>
                </a:solidFill>
              </a:rPr>
              <a:t>1. List users (seeded)</a:t>
            </a:r>
            <a:endParaRPr lang="en-US" sz="1300" dirty="0"/>
          </a:p>
          <a:p>
            <a:pPr indent="0" marL="0">
              <a:buNone/>
            </a:pPr>
            <a:r>
              <a:rPr lang="en-US" sz="1300" dirty="0">
                <a:solidFill>
                  <a:srgbClr val="FFFFFF"/>
                </a:solidFill>
              </a:rPr>
              <a:t>2. Create user</a:t>
            </a:r>
            <a:endParaRPr lang="en-US" sz="1300" dirty="0"/>
          </a:p>
          <a:p>
            <a:pPr indent="0" marL="0">
              <a:spcBef>
                <a:spcPts val="600"/>
              </a:spcBef>
              <a:buNone/>
            </a:pPr>
            <a:r>
              <a:rPr lang="en-US" sz="1300" b="1" dirty="0">
                <a:solidFill>
                  <a:srgbClr val="FFFFFF"/>
                </a:solidFill>
              </a:rPr>
              <a:t>02 · Notes and sharing (module 1)</a:t>
            </a:r>
            <a:endParaRPr lang="en-US" sz="1300" dirty="0"/>
          </a:p>
          <a:p>
            <a:pPr indent="0" marL="0">
              <a:buNone/>
            </a:pPr>
            <a:r>
              <a:rPr lang="en-US" sz="1300" dirty="0">
                <a:solidFill>
                  <a:srgbClr val="FFFFFF"/>
                </a:solidFill>
              </a:rPr>
              <a:t>1. Create note</a:t>
            </a:r>
            <a:endParaRPr lang="en-US" sz="1300" dirty="0"/>
          </a:p>
          <a:p>
            <a:pPr indent="0" marL="0">
              <a:buNone/>
            </a:pPr>
            <a:r>
              <a:rPr lang="en-US" sz="1300" dirty="0">
                <a:solidFill>
                  <a:srgbClr val="FFFFFF"/>
                </a:solidFill>
              </a:rPr>
              <a:t>2. Edit a done note → 422 (R2)</a:t>
            </a:r>
            <a:endParaRPr lang="en-US" sz="1300" dirty="0"/>
          </a:p>
          <a:p>
            <a:pPr indent="0" marL="0">
              <a:buNone/>
            </a:pPr>
            <a:r>
              <a:rPr lang="en-US" sz="1300" dirty="0">
                <a:solidFill>
                  <a:srgbClr val="FFFFFF"/>
                </a:solidFill>
              </a:rPr>
              <a:t>3.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 (base: 20 unit, 2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app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pnpm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reads and writes the database; you add it to your own Claude and ask it about the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45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Your own Claude should be able to read and change this data.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my own Claude.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pnpm lab 02 and pnpm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verify are green; then tell me how to add it to Claude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Code, and show me two questions I could ask it.</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write tools call NotesService: no rule copied</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read-only in two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exits when data/app.db is missing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pnpm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claude mcp add notes-db -e DATABASE_URL="file:$PWD/data/app.db" \</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  -- node "$PWD/dist/mcp-server.js"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then, in Claude: "Which open notes are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shared with more than one person?"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your Claude,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60 passed (60)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55 passed (55)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lab 01 02</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25 passed (25)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query: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READ_ONLY: only a single SELECT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(or WITH … SELECT) statement is allowed</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a write sent to query is READ_ONLY</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Claude answers a question about the data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a query_only connection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copies the notes rules into the tools</a:t>
            </a:r>
            <a:endParaRPr lang="en-US" sz="1600" dirty="0"/>
          </a:p>
          <a:p>
            <a:pPr indent="0" marL="0">
              <a:buNone/>
            </a:pPr>
            <a:r>
              <a:rPr lang="en-US" sz="1400" dirty="0">
                <a:solidFill>
                  <a:srgbClr val="2B3440"/>
                </a:solidFill>
              </a:rPr>
              <a:t>One rule, two copies, one will drift. The tools should call NotesService.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Your Claude</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2026-10-27T03:22:49Z</dcterms:created>
  <dcterms:modified xsi:type="dcterms:W3CDTF">2026-10-27T03:22:49Z</dcterms:modified>
</cp:coreProperties>
</file>