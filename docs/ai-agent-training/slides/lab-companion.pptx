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deck on screen during lab work. Each module has: a divider (goal + time), PROMPT slides (what the proctor says and the exact prompt learners paste into their agent), CHECK IT (what learners run to check the agent's work), CHECKPOINT (what correct looks like) and WHEN THE AGENT GOES WRONG (mistakes agents actually made). The full explanations are in the chapter documents.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 does the building and the planning; the learner directs and checks. The instruction says what and when it is done, never how: the repo (CLAUDE.md, its skills, the specs) tells the agent how, and watching it find that out is part of the lab. Measured: fresh agents given only these instructions got every module's lab green. Hold the agent to evidence: counts, a failing run, the generated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request passes middleware first, then reaches a controller. The controller does no business logic: it calls a service. The service holds the rules and reads or writes the database (through a repository). The answer travels back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module groups one feature: its controller, its service and its repository. The controller calls the service; the service calls the repository; Nest connects them (dependency injection). Middleware sits outside the feature and runs before the controller. In module 1 your agent builds one module for users and one for notes.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is on Windows. Windows PowerShell 5.1 has no &amp;&amp; (PowerShell 7 does), so every command is on its own line; curl is curl.exe there (plain curl is Invoke-WebRequest). The base starts its tools with node and their JS entry, because the node_modules\.bin shims are .cmd files on Windows; measured on Linux, not yet on a Windows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module 1 is built, health is the only green row: the rest answer 404 or wait for an id. Module 2 has no playground: its client is Claude Desktop, over stdio. The Postman collection stays in the starter (postman/) for anyone who prefers it; the labs do not use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checks drive the app over HTTP (lab 01, empty in-memory database) and the MCP server over stdio (lab 02, a copy of the seeded file), and never import learner code. The contracts are the specs; test/labs/README.md summarises them. Each module's reference result is a patch in docs/ai-agent-training/checkpoints/.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modules, about 105 minutes of labs. Times are ESTIMATES: nobody has run these labs with an audience yet. Adjust after the first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00 + 01 + 02. Left out for time: nothing: the two stretch exercises of chapter 01 are for fast groups.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given only this instruction installed, built, started the app, and reported 20 unit / 2 e2e (5 e2e now, with the playground's test), lab 01 red, and the table counts (115 open and 85 done notes, 120 shares, none with its owner). If port 3000 is busy, PORT in .env (chapter 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found the resource-spec and nest-resource-scaffold skills from CLAUDE.md on its own; the template kept users.table.ts and left 14 markers; verify went to 29 unit / 18 e2e. Lab 01 stays red until notes exist. Ask: which instruction told it to use the skill? None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01 15/15 and verify 43 unit / 46 e2e. Its first dueAt answered 500 for "next tuesday" (zod 4 runs a transform after a failed format check); it found and fixed it. The filters and share routes go outside the markers,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labs run on an empty in-memory database; this step proves the resources also serve the seeded rows. Then pnpm db:seed puts the data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Covers chapters 03 + 04. Left out for time: the stdio framing lab (chapter 03): reading one exchange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a fresh agent got lab 02 10/10 (lab 01 still 15/15) and verify 60 unit / 55 e2e. Its query guard has two layers, each proven by removing it: one SELECT/WITH statement (libSQL silently runs only the first of two), and a query_only connection (a delete hidden in a WITH emptied the copy without it). It also found that the default database path is relative to the working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Desktop starts the server from its own folder with a minimal PATH, so the entry needs absolute paths for node, the server and the database: the script prints them. Quit Claude Desktop completely (not just the window) before reopening. The lab runs on a COPY of data/app.db; Claude Desktop writes to the real one, and pnpm db:seed puts it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asking each learner for one thing their agent got wrong, and how they found out: a count, a red test, the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rtlCol="0"/>
          <a:lstStyle>
            <a:lvl1pPr algn="l" indent="0" marL="0">
              <a:buNone/>
              <a:defRPr lang="en-US" sz="4400" b="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rtlCol="0"/>
          <a:lstStyle>
            <a:lvl1pPr indent="0" marL="0">
              <a:buNone/>
              <a:defRPr lang="en-US" sz="1800" dirty="0">
                <a:solidFill>
                  <a:srgbClr val="1FB68A"/>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B1F24"/>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rtlCol="0"/>
          <a:lstStyle>
            <a:lvl1pPr indent="0" marL="0">
              <a:buNone/>
              <a:defRPr lang="en-US" sz="1400" b="1" spc="300" kern="0" dirty="0">
                <a:solidFill>
                  <a:srgbClr val="1FB68A"/>
                </a:solidFill>
              </a:defRPr>
            </a:lvl1pPr>
          </a:lstStyle>
          <a:p>
            <a:pPr indent="0" marL="0">
              <a:buNone/>
            </a:pP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rtlCol="0"/>
          <a:lstStyle>
            <a:lvl1pPr indent="0" marL="0">
              <a:buNone/>
              <a:defRPr lang="en-US" sz="1800" dirty="0">
                <a:solidFill>
                  <a:srgbClr val="CBD5E1"/>
                </a:solidFill>
              </a:defRPr>
            </a:lvl1pPr>
          </a:lstStyle>
          <a:p>
            <a:pPr indent="0" marL="0">
              <a:buNone/>
            </a:pPr>
            <a:endParaRPr lang="en-US" sz="1800" dirty="0"/>
          </a:p>
        </p:txBody>
      </p:sp>
      <p:sp>
        <p:nvSpPr>
          <p:cNvPr id="5"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94A3B8"/>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200" b="1" dirty="0">
                <a:solidFill>
                  <a:srgbClr val="1B1F24"/>
                </a:solidFill>
              </a:defRPr>
            </a:lvl1pPr>
          </a:lstStyle>
          <a:p>
            <a:pPr algn="l" indent="0" marL="0">
              <a:buNone/>
            </a:pPr>
            <a:endParaRPr lang="en-US" sz="3200" dirty="0"/>
          </a:p>
        </p:txBody>
      </p:sp>
      <p:sp>
        <p:nvSpPr>
          <p:cNvPr id="3" name="Text 0"/>
          <p:cNvSpPr/>
          <p:nvPr/>
        </p:nvSpPr>
        <p:spPr>
          <a:xfrm>
            <a:off x="457200" y="4754880"/>
            <a:ext cx="6858000" cy="274320"/>
          </a:xfrm>
          <a:prstGeom prst="rect">
            <a:avLst/>
          </a:prstGeom>
          <a:noFill/>
          <a:ln/>
        </p:spPr>
        <p:txBody>
          <a:bodyPr wrap="square" lIns="0" tIns="0" rIns="0" bIns="0" rtlCol="0" anchor="ctr"/>
          <a:lstStyle/>
          <a:p>
            <a:pPr indent="0" marL="0">
              <a:buNone/>
            </a:pPr>
            <a:r>
              <a:rPr lang="en-US" sz="1000" dirty="0">
                <a:solidFill>
                  <a:srgbClr val="64748B"/>
                </a:solidFill>
              </a:rPr>
              <a:t>Lab companion · Building apps with AI agents · NestJS + MCP</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4.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4.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4.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4.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4.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4.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Building Apps with AI Agents</a:t>
            </a:r>
            <a:endParaRPr lang="en-US" sz="4400" dirty="0"/>
          </a:p>
        </p:txBody>
      </p:sp>
      <p:sp>
        <p:nvSpPr>
          <p:cNvPr id="3"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r>
              <a:rPr lang="en-US" sz="1800" dirty="0">
                <a:solidFill>
                  <a:srgbClr val="1FB68A"/>
                </a:solidFill>
              </a:rPr>
              <a:t>Lab companion · two modules · NestJS 12 · drizzle · SQLite · MCP</a:t>
            </a:r>
            <a:endParaRPr lang="en-US" sz="1800" dirty="0"/>
          </a:p>
        </p:txBody>
      </p:sp>
      <p:sp>
        <p:nvSpPr>
          <p:cNvPr id="4" name="terminal"/>
          <p:cNvSpPr/>
          <p:nvPr/>
        </p:nvSpPr>
        <p:spPr>
          <a:xfrm>
            <a:off x="548640" y="3703320"/>
            <a:ext cx="5120640" cy="777240"/>
          </a:xfrm>
          <a:prstGeom prst="roundRect">
            <a:avLst>
              <a:gd name="adj" fmla="val 9412"/>
            </a:avLst>
          </a:prstGeom>
          <a:solidFill>
            <a:srgbClr val="1B1F24"/>
          </a:solidFill>
          <a:ln w="12700">
            <a:solidFill>
              <a:srgbClr val="1B1F24"/>
            </a:solidFill>
            <a:prstDash val="solid"/>
          </a:ln>
        </p:spPr>
      </p:sp>
      <p:sp>
        <p:nvSpPr>
          <p:cNvPr id="5" name="Shape 3"/>
          <p:cNvSpPr/>
          <p:nvPr/>
        </p:nvSpPr>
        <p:spPr>
          <a:xfrm>
            <a:off x="731520" y="3831336"/>
            <a:ext cx="109728" cy="109728"/>
          </a:xfrm>
          <a:prstGeom prst="ellipse">
            <a:avLst/>
          </a:prstGeom>
          <a:solidFill>
            <a:srgbClr val="E5484D"/>
          </a:solidFill>
          <a:ln w="12700">
            <a:solidFill>
              <a:srgbClr val="E5484D"/>
            </a:solidFill>
            <a:prstDash val="solid"/>
          </a:ln>
        </p:spPr>
      </p:sp>
      <p:sp>
        <p:nvSpPr>
          <p:cNvPr id="6" name="Shape 4"/>
          <p:cNvSpPr/>
          <p:nvPr/>
        </p:nvSpPr>
        <p:spPr>
          <a:xfrm>
            <a:off x="914400" y="3831336"/>
            <a:ext cx="109728" cy="109728"/>
          </a:xfrm>
          <a:prstGeom prst="ellipse">
            <a:avLst/>
          </a:prstGeom>
          <a:solidFill>
            <a:srgbClr val="E69A28"/>
          </a:solidFill>
          <a:ln w="12700">
            <a:solidFill>
              <a:srgbClr val="E69A28"/>
            </a:solidFill>
            <a:prstDash val="solid"/>
          </a:ln>
        </p:spPr>
      </p:sp>
      <p:sp>
        <p:nvSpPr>
          <p:cNvPr id="7" name="Shape 5"/>
          <p:cNvSpPr/>
          <p:nvPr/>
        </p:nvSpPr>
        <p:spPr>
          <a:xfrm>
            <a:off x="1097280" y="3831336"/>
            <a:ext cx="109728" cy="109728"/>
          </a:xfrm>
          <a:prstGeom prst="ellipse">
            <a:avLst/>
          </a:prstGeom>
          <a:solidFill>
            <a:srgbClr val="1FB68A"/>
          </a:solidFill>
          <a:ln w="12700">
            <a:solidFill>
              <a:srgbClr val="1FB68A"/>
            </a:solidFill>
            <a:prstDash val="solid"/>
          </a:ln>
        </p:spPr>
      </p:sp>
      <p:sp>
        <p:nvSpPr>
          <p:cNvPr id="8" name="terminal-text"/>
          <p:cNvSpPr txBox="1"/>
          <p:nvPr/>
        </p:nvSpPr>
        <p:spPr>
          <a:xfrm>
            <a:off x="777240" y="4087368"/>
            <a:ext cx="4663440" cy="2743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 pnpm verify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How every lab works</a:t>
            </a:r>
            <a:endParaRPr lang="en-US" sz="3200" dirty="0"/>
          </a:p>
        </p:txBody>
      </p:sp>
      <p:sp>
        <p:nvSpPr>
          <p:cNvPr id="3" name="Shape 1"/>
          <p:cNvSpPr/>
          <p:nvPr/>
        </p:nvSpPr>
        <p:spPr>
          <a:xfrm>
            <a:off x="786384" y="1325880"/>
            <a:ext cx="822960" cy="822960"/>
          </a:xfrm>
          <a:prstGeom prst="ellipse">
            <a:avLst/>
          </a:prstGeom>
          <a:solidFill>
            <a:srgbClr val="1B1F24"/>
          </a:solidFill>
          <a:ln w="12700">
            <a:solidFill>
              <a:srgbClr val="1B1F24"/>
            </a:solidFill>
            <a:prstDash val="solid"/>
          </a:ln>
        </p:spPr>
      </p:sp>
      <p:sp>
        <p:nvSpPr>
          <p:cNvPr id="4" name="Text 2"/>
          <p:cNvSpPr txBox="1"/>
          <p:nvPr/>
        </p:nvSpPr>
        <p:spPr>
          <a:xfrm>
            <a:off x="786384"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1</a:t>
            </a:r>
            <a:endParaRPr lang="en-US" sz="2800" dirty="0"/>
          </a:p>
        </p:txBody>
      </p:sp>
      <p:pic>
        <p:nvPicPr>
          <p:cNvPr id="5" name="Image 0" descr="preencoded.png">    </p:cNvPr>
          <p:cNvPicPr>
            <a:picLocks noChangeAspect="1"/>
          </p:cNvPicPr>
          <p:nvPr/>
        </p:nvPicPr>
        <p:blipFill>
          <a:blip r:embed="rId1"/>
          <a:stretch>
            <a:fillRect/>
          </a:stretch>
        </p:blipFill>
        <p:spPr>
          <a:xfrm>
            <a:off x="1911096" y="1627632"/>
            <a:ext cx="237744" cy="237744"/>
          </a:xfrm>
          <a:prstGeom prst="rect">
            <a:avLst/>
          </a:prstGeom>
        </p:spPr>
      </p:pic>
      <p:sp>
        <p:nvSpPr>
          <p:cNvPr id="6" name="Text 3"/>
          <p:cNvSpPr txBox="1"/>
          <p:nvPr/>
        </p:nvSpPr>
        <p:spPr>
          <a:xfrm>
            <a:off x="457200"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Proctor</a:t>
            </a:r>
            <a:endParaRPr lang="en-US" sz="1800" dirty="0"/>
          </a:p>
        </p:txBody>
      </p:sp>
      <p:sp>
        <p:nvSpPr>
          <p:cNvPr id="7" name="Text 4"/>
          <p:cNvSpPr txBox="1"/>
          <p:nvPr/>
        </p:nvSpPr>
        <p:spPr>
          <a:xfrm>
            <a:off x="457200"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the goal, where the requirements are, when it is done</a:t>
            </a:r>
            <a:endParaRPr lang="en-US" sz="1400" dirty="0"/>
          </a:p>
        </p:txBody>
      </p:sp>
      <p:sp>
        <p:nvSpPr>
          <p:cNvPr id="8" name="Shape 5"/>
          <p:cNvSpPr/>
          <p:nvPr/>
        </p:nvSpPr>
        <p:spPr>
          <a:xfrm>
            <a:off x="2468880" y="1325880"/>
            <a:ext cx="822960" cy="822960"/>
          </a:xfrm>
          <a:prstGeom prst="ellipse">
            <a:avLst/>
          </a:prstGeom>
          <a:solidFill>
            <a:srgbClr val="1B1F24"/>
          </a:solidFill>
          <a:ln w="12700">
            <a:solidFill>
              <a:srgbClr val="1B1F24"/>
            </a:solidFill>
            <a:prstDash val="solid"/>
          </a:ln>
        </p:spPr>
      </p:sp>
      <p:sp>
        <p:nvSpPr>
          <p:cNvPr id="9" name="Text 6"/>
          <p:cNvSpPr txBox="1"/>
          <p:nvPr/>
        </p:nvSpPr>
        <p:spPr>
          <a:xfrm>
            <a:off x="2468880"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2</a:t>
            </a:r>
            <a:endParaRPr lang="en-US" sz="2800" dirty="0"/>
          </a:p>
        </p:txBody>
      </p:sp>
      <p:pic>
        <p:nvPicPr>
          <p:cNvPr id="10" name="Image 1" descr="preencoded.png">    </p:cNvPr>
          <p:cNvPicPr>
            <a:picLocks noChangeAspect="1"/>
          </p:cNvPicPr>
          <p:nvPr/>
        </p:nvPicPr>
        <p:blipFill>
          <a:blip r:embed="rId2"/>
          <a:stretch>
            <a:fillRect/>
          </a:stretch>
        </p:blipFill>
        <p:spPr>
          <a:xfrm>
            <a:off x="3593592" y="1627632"/>
            <a:ext cx="237744" cy="237744"/>
          </a:xfrm>
          <a:prstGeom prst="rect">
            <a:avLst/>
          </a:prstGeom>
        </p:spPr>
      </p:pic>
      <p:sp>
        <p:nvSpPr>
          <p:cNvPr id="11" name="Text 7"/>
          <p:cNvSpPr txBox="1"/>
          <p:nvPr/>
        </p:nvSpPr>
        <p:spPr>
          <a:xfrm>
            <a:off x="2139696"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Instruct</a:t>
            </a:r>
            <a:endParaRPr lang="en-US" sz="1800" dirty="0"/>
          </a:p>
        </p:txBody>
      </p:sp>
      <p:sp>
        <p:nvSpPr>
          <p:cNvPr id="12" name="Text 8"/>
          <p:cNvSpPr txBox="1"/>
          <p:nvPr/>
        </p:nvSpPr>
        <p:spPr>
          <a:xfrm>
            <a:off x="2139696"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you give that to your agent, never the steps</a:t>
            </a:r>
            <a:endParaRPr lang="en-US" sz="1400" dirty="0"/>
          </a:p>
        </p:txBody>
      </p:sp>
      <p:sp>
        <p:nvSpPr>
          <p:cNvPr id="13" name="Shape 9"/>
          <p:cNvSpPr/>
          <p:nvPr/>
        </p:nvSpPr>
        <p:spPr>
          <a:xfrm>
            <a:off x="4151376" y="1325880"/>
            <a:ext cx="822960" cy="822960"/>
          </a:xfrm>
          <a:prstGeom prst="ellipse">
            <a:avLst/>
          </a:prstGeom>
          <a:solidFill>
            <a:srgbClr val="1B1F24"/>
          </a:solidFill>
          <a:ln w="12700">
            <a:solidFill>
              <a:srgbClr val="1B1F24"/>
            </a:solidFill>
            <a:prstDash val="solid"/>
          </a:ln>
        </p:spPr>
      </p:sp>
      <p:sp>
        <p:nvSpPr>
          <p:cNvPr id="14" name="Text 10"/>
          <p:cNvSpPr txBox="1"/>
          <p:nvPr/>
        </p:nvSpPr>
        <p:spPr>
          <a:xfrm>
            <a:off x="4151376"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3</a:t>
            </a:r>
            <a:endParaRPr lang="en-US" sz="2800" dirty="0"/>
          </a:p>
        </p:txBody>
      </p:sp>
      <p:pic>
        <p:nvPicPr>
          <p:cNvPr id="15" name="Image 2" descr="preencoded.png">    </p:cNvPr>
          <p:cNvPicPr>
            <a:picLocks noChangeAspect="1"/>
          </p:cNvPicPr>
          <p:nvPr/>
        </p:nvPicPr>
        <p:blipFill>
          <a:blip r:embed="rId3"/>
          <a:stretch>
            <a:fillRect/>
          </a:stretch>
        </p:blipFill>
        <p:spPr>
          <a:xfrm>
            <a:off x="5276088" y="1627632"/>
            <a:ext cx="237744" cy="237744"/>
          </a:xfrm>
          <a:prstGeom prst="rect">
            <a:avLst/>
          </a:prstGeom>
        </p:spPr>
      </p:pic>
      <p:sp>
        <p:nvSpPr>
          <p:cNvPr id="16" name="Text 11"/>
          <p:cNvSpPr txBox="1"/>
          <p:nvPr/>
        </p:nvSpPr>
        <p:spPr>
          <a:xfrm>
            <a:off x="3822192"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Agent</a:t>
            </a:r>
            <a:endParaRPr lang="en-US" sz="1800" dirty="0"/>
          </a:p>
        </p:txBody>
      </p:sp>
      <p:sp>
        <p:nvSpPr>
          <p:cNvPr id="17" name="Text 12"/>
          <p:cNvSpPr txBox="1"/>
          <p:nvPr/>
        </p:nvSpPr>
        <p:spPr>
          <a:xfrm>
            <a:off x="3822192"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works out how from the repo, then builds it</a:t>
            </a:r>
            <a:endParaRPr lang="en-US" sz="1400" dirty="0"/>
          </a:p>
        </p:txBody>
      </p:sp>
      <p:sp>
        <p:nvSpPr>
          <p:cNvPr id="18" name="Shape 13"/>
          <p:cNvSpPr/>
          <p:nvPr/>
        </p:nvSpPr>
        <p:spPr>
          <a:xfrm>
            <a:off x="5833872" y="1325880"/>
            <a:ext cx="822960" cy="822960"/>
          </a:xfrm>
          <a:prstGeom prst="ellipse">
            <a:avLst/>
          </a:prstGeom>
          <a:solidFill>
            <a:srgbClr val="1B1F24"/>
          </a:solidFill>
          <a:ln w="12700">
            <a:solidFill>
              <a:srgbClr val="1B1F24"/>
            </a:solidFill>
            <a:prstDash val="solid"/>
          </a:ln>
        </p:spPr>
      </p:sp>
      <p:sp>
        <p:nvSpPr>
          <p:cNvPr id="19" name="Text 14"/>
          <p:cNvSpPr txBox="1"/>
          <p:nvPr/>
        </p:nvSpPr>
        <p:spPr>
          <a:xfrm>
            <a:off x="5833872"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4</a:t>
            </a:r>
            <a:endParaRPr lang="en-US" sz="2800" dirty="0"/>
          </a:p>
        </p:txBody>
      </p:sp>
      <p:pic>
        <p:nvPicPr>
          <p:cNvPr id="20" name="Image 3" descr="preencoded.png">    </p:cNvPr>
          <p:cNvPicPr>
            <a:picLocks noChangeAspect="1"/>
          </p:cNvPicPr>
          <p:nvPr/>
        </p:nvPicPr>
        <p:blipFill>
          <a:blip r:embed="rId4"/>
          <a:stretch>
            <a:fillRect/>
          </a:stretch>
        </p:blipFill>
        <p:spPr>
          <a:xfrm>
            <a:off x="6958584" y="1627632"/>
            <a:ext cx="237744" cy="237744"/>
          </a:xfrm>
          <a:prstGeom prst="rect">
            <a:avLst/>
          </a:prstGeom>
        </p:spPr>
      </p:pic>
      <p:sp>
        <p:nvSpPr>
          <p:cNvPr id="21" name="Text 15"/>
          <p:cNvSpPr txBox="1"/>
          <p:nvPr/>
        </p:nvSpPr>
        <p:spPr>
          <a:xfrm>
            <a:off x="5504688"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Check</a:t>
            </a:r>
            <a:endParaRPr lang="en-US" sz="1800" dirty="0"/>
          </a:p>
        </p:txBody>
      </p:sp>
      <p:sp>
        <p:nvSpPr>
          <p:cNvPr id="22" name="Text 16"/>
          <p:cNvSpPr txBox="1"/>
          <p:nvPr/>
        </p:nvSpPr>
        <p:spPr>
          <a:xfrm>
            <a:off x="5504688"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pnpm verify + pnpm lab NN: read the counts</a:t>
            </a:r>
            <a:endParaRPr lang="en-US" sz="1400" dirty="0"/>
          </a:p>
        </p:txBody>
      </p:sp>
      <p:sp>
        <p:nvSpPr>
          <p:cNvPr id="23" name="Shape 17"/>
          <p:cNvSpPr/>
          <p:nvPr/>
        </p:nvSpPr>
        <p:spPr>
          <a:xfrm>
            <a:off x="7516368" y="1325880"/>
            <a:ext cx="822960" cy="822960"/>
          </a:xfrm>
          <a:prstGeom prst="ellipse">
            <a:avLst/>
          </a:prstGeom>
          <a:solidFill>
            <a:srgbClr val="1B1F24"/>
          </a:solidFill>
          <a:ln w="12700">
            <a:solidFill>
              <a:srgbClr val="1B1F24"/>
            </a:solidFill>
            <a:prstDash val="solid"/>
          </a:ln>
        </p:spPr>
      </p:sp>
      <p:sp>
        <p:nvSpPr>
          <p:cNvPr id="24" name="Text 18"/>
          <p:cNvSpPr txBox="1"/>
          <p:nvPr/>
        </p:nvSpPr>
        <p:spPr>
          <a:xfrm>
            <a:off x="7516368" y="1325880"/>
            <a:ext cx="822960" cy="822960"/>
          </a:xfrm>
          <a:prstGeom prst="rect">
            <a:avLst/>
          </a:prstGeom>
          <a:noFill/>
          <a:ln/>
        </p:spPr>
        <p:txBody>
          <a:bodyPr wrap="square" lIns="0" tIns="0" rIns="0" bIns="0" rtlCol="0" anchor="ctr"/>
          <a:lstStyle/>
          <a:p>
            <a:pPr algn="ctr" indent="0" marL="0">
              <a:buNone/>
            </a:pPr>
            <a:r>
              <a:rPr lang="en-US" sz="2800" b="1" dirty="0">
                <a:solidFill>
                  <a:srgbClr val="FFFFFF"/>
                </a:solidFill>
              </a:rPr>
              <a:t>5</a:t>
            </a:r>
            <a:endParaRPr lang="en-US" sz="2800" dirty="0"/>
          </a:p>
        </p:txBody>
      </p:sp>
      <p:sp>
        <p:nvSpPr>
          <p:cNvPr id="25" name="Text 19"/>
          <p:cNvSpPr txBox="1"/>
          <p:nvPr/>
        </p:nvSpPr>
        <p:spPr>
          <a:xfrm>
            <a:off x="7187184" y="2331720"/>
            <a:ext cx="1481328" cy="411480"/>
          </a:xfrm>
          <a:prstGeom prst="rect">
            <a:avLst/>
          </a:prstGeom>
          <a:noFill/>
          <a:ln/>
        </p:spPr>
        <p:txBody>
          <a:bodyPr wrap="square" lIns="0" tIns="0" rIns="0" bIns="0" rtlCol="0" anchor="ctr"/>
          <a:lstStyle/>
          <a:p>
            <a:pPr algn="ctr" indent="0" marL="0">
              <a:buNone/>
            </a:pPr>
            <a:r>
              <a:rPr lang="en-US" sz="1800" b="1" dirty="0">
                <a:solidFill>
                  <a:srgbClr val="1B1F24"/>
                </a:solidFill>
              </a:rPr>
              <a:t>Review</a:t>
            </a:r>
            <a:endParaRPr lang="en-US" sz="1800" dirty="0"/>
          </a:p>
        </p:txBody>
      </p:sp>
      <p:sp>
        <p:nvSpPr>
          <p:cNvPr id="26" name="Text 20"/>
          <p:cNvSpPr txBox="1"/>
          <p:nvPr/>
        </p:nvSpPr>
        <p:spPr>
          <a:xfrm>
            <a:off x="7187184" y="2788920"/>
            <a:ext cx="1481328" cy="1097280"/>
          </a:xfrm>
          <a:prstGeom prst="rect">
            <a:avLst/>
          </a:prstGeom>
          <a:noFill/>
          <a:ln/>
        </p:spPr>
        <p:txBody>
          <a:bodyPr wrap="square" lIns="0" tIns="0" rIns="0" bIns="0" rtlCol="0" anchor="t"/>
          <a:lstStyle/>
          <a:p>
            <a:pPr algn="ctr" indent="0" marL="0">
              <a:buNone/>
            </a:pPr>
            <a:r>
              <a:rPr lang="en-US" sz="1400" dirty="0">
                <a:solidFill>
                  <a:srgbClr val="2B3440"/>
                </a:solidFill>
              </a:rPr>
              <a:t>ask it to show, not tell: the red run, the SQL</a:t>
            </a:r>
            <a:endParaRPr lang="en-US" sz="1400" dirty="0"/>
          </a:p>
        </p:txBody>
      </p:sp>
      <p:sp>
        <p:nvSpPr>
          <p:cNvPr id="27" name="Text 21"/>
          <p:cNvSpPr txBox="1"/>
          <p:nvPr/>
        </p:nvSpPr>
        <p:spPr>
          <a:xfrm>
            <a:off x="457200" y="4069080"/>
            <a:ext cx="8229600" cy="411480"/>
          </a:xfrm>
          <a:prstGeom prst="rect">
            <a:avLst/>
          </a:prstGeom>
          <a:noFill/>
          <a:ln/>
        </p:spPr>
        <p:txBody>
          <a:bodyPr wrap="square" lIns="0" tIns="0" rIns="0" bIns="0" rtlCol="0" anchor="ctr"/>
          <a:lstStyle/>
          <a:p>
            <a:pPr indent="0" marL="0">
              <a:buNone/>
            </a:pPr>
            <a:r>
              <a:rPr lang="en-US" sz="1600" i="1" dirty="0">
                <a:solidFill>
                  <a:srgbClr val="64748B"/>
                </a:solidFill>
              </a:rPr>
              <a:t>Repeatable work → tools.  Judgement → the agent, fenced in.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request flow</a:t>
            </a:r>
            <a:endParaRPr lang="en-US" sz="3200" dirty="0"/>
          </a:p>
        </p:txBody>
      </p:sp>
      <p:sp>
        <p:nvSpPr>
          <p:cNvPr id="3" name="block-1"/>
          <p:cNvSpPr/>
          <p:nvPr/>
        </p:nvSpPr>
        <p:spPr>
          <a:xfrm>
            <a:off x="457200" y="1828800"/>
            <a:ext cx="1316736" cy="1005840"/>
          </a:xfrm>
          <a:prstGeom prst="roundRect">
            <a:avLst>
              <a:gd name="adj" fmla="val 9091"/>
            </a:avLst>
          </a:prstGeom>
          <a:solidFill>
            <a:srgbClr val="1B1F24"/>
          </a:solidFill>
          <a:ln w="12700">
            <a:solidFill>
              <a:srgbClr val="1B1F24"/>
            </a:solidFill>
            <a:prstDash val="solid"/>
          </a:ln>
        </p:spPr>
      </p:sp>
      <p:sp>
        <p:nvSpPr>
          <p:cNvPr id="4" name="Text 2"/>
          <p:cNvSpPr txBox="1"/>
          <p:nvPr/>
        </p:nvSpPr>
        <p:spPr>
          <a:xfrm>
            <a:off x="457200"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Request</a:t>
            </a:r>
            <a:endParaRPr lang="en-US" sz="1600" dirty="0"/>
          </a:p>
        </p:txBody>
      </p:sp>
      <p:sp>
        <p:nvSpPr>
          <p:cNvPr id="5" name="Text 3"/>
          <p:cNvSpPr txBox="1"/>
          <p:nvPr/>
        </p:nvSpPr>
        <p:spPr>
          <a:xfrm>
            <a:off x="457200"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from the client</a:t>
            </a:r>
            <a:endParaRPr lang="en-US" sz="1300" dirty="0"/>
          </a:p>
        </p:txBody>
      </p:sp>
      <p:sp>
        <p:nvSpPr>
          <p:cNvPr id="6" name="Shape 4"/>
          <p:cNvSpPr/>
          <p:nvPr/>
        </p:nvSpPr>
        <p:spPr>
          <a:xfrm>
            <a:off x="1828800" y="2331720"/>
            <a:ext cx="301752" cy="0"/>
          </a:xfrm>
          <a:prstGeom prst="line">
            <a:avLst/>
          </a:prstGeom>
          <a:noFill/>
          <a:ln w="25400">
            <a:solidFill>
              <a:srgbClr val="64748B"/>
            </a:solidFill>
            <a:prstDash val="solid"/>
            <a:tailEnd type="triangle"/>
          </a:ln>
        </p:spPr>
      </p:sp>
      <p:sp>
        <p:nvSpPr>
          <p:cNvPr id="7" name="block-2"/>
          <p:cNvSpPr/>
          <p:nvPr/>
        </p:nvSpPr>
        <p:spPr>
          <a:xfrm>
            <a:off x="2185416" y="1828800"/>
            <a:ext cx="1316736" cy="1005840"/>
          </a:xfrm>
          <a:prstGeom prst="roundRect">
            <a:avLst>
              <a:gd name="adj" fmla="val 9091"/>
            </a:avLst>
          </a:prstGeom>
          <a:solidFill>
            <a:srgbClr val="1B1F24"/>
          </a:solidFill>
          <a:ln w="12700">
            <a:solidFill>
              <a:srgbClr val="1B1F24"/>
            </a:solidFill>
            <a:prstDash val="solid"/>
          </a:ln>
        </p:spPr>
      </p:sp>
      <p:sp>
        <p:nvSpPr>
          <p:cNvPr id="8" name="Text 6"/>
          <p:cNvSpPr txBox="1"/>
          <p:nvPr/>
        </p:nvSpPr>
        <p:spPr>
          <a:xfrm>
            <a:off x="2185416"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9" name="Text 7"/>
          <p:cNvSpPr txBox="1"/>
          <p:nvPr/>
        </p:nvSpPr>
        <p:spPr>
          <a:xfrm>
            <a:off x="2185416"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runs first</a:t>
            </a:r>
            <a:endParaRPr lang="en-US" sz="1300" dirty="0"/>
          </a:p>
        </p:txBody>
      </p:sp>
      <p:sp>
        <p:nvSpPr>
          <p:cNvPr id="10" name="Shape 8"/>
          <p:cNvSpPr/>
          <p:nvPr/>
        </p:nvSpPr>
        <p:spPr>
          <a:xfrm>
            <a:off x="3557016" y="2331720"/>
            <a:ext cx="301752" cy="0"/>
          </a:xfrm>
          <a:prstGeom prst="line">
            <a:avLst/>
          </a:prstGeom>
          <a:noFill/>
          <a:ln w="25400">
            <a:solidFill>
              <a:srgbClr val="64748B"/>
            </a:solidFill>
            <a:prstDash val="solid"/>
            <a:tailEnd type="triangle"/>
          </a:ln>
        </p:spPr>
      </p:sp>
      <p:sp>
        <p:nvSpPr>
          <p:cNvPr id="11" name="block-3"/>
          <p:cNvSpPr/>
          <p:nvPr/>
        </p:nvSpPr>
        <p:spPr>
          <a:xfrm>
            <a:off x="3913632" y="1828800"/>
            <a:ext cx="1316736" cy="1005840"/>
          </a:xfrm>
          <a:prstGeom prst="roundRect">
            <a:avLst>
              <a:gd name="adj" fmla="val 9091"/>
            </a:avLst>
          </a:prstGeom>
          <a:solidFill>
            <a:srgbClr val="1FB68A"/>
          </a:solidFill>
          <a:ln w="12700">
            <a:solidFill>
              <a:srgbClr val="1FB68A"/>
            </a:solidFill>
            <a:prstDash val="solid"/>
          </a:ln>
        </p:spPr>
      </p:sp>
      <p:sp>
        <p:nvSpPr>
          <p:cNvPr id="12" name="Text 10"/>
          <p:cNvSpPr txBox="1"/>
          <p:nvPr/>
        </p:nvSpPr>
        <p:spPr>
          <a:xfrm>
            <a:off x="3913632"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13" name="Text 11"/>
          <p:cNvSpPr txBox="1"/>
          <p:nvPr/>
        </p:nvSpPr>
        <p:spPr>
          <a:xfrm>
            <a:off x="3913632"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route</a:t>
            </a:r>
            <a:endParaRPr lang="en-US" sz="1300" dirty="0"/>
          </a:p>
        </p:txBody>
      </p:sp>
      <p:sp>
        <p:nvSpPr>
          <p:cNvPr id="14" name="Shape 12"/>
          <p:cNvSpPr/>
          <p:nvPr/>
        </p:nvSpPr>
        <p:spPr>
          <a:xfrm>
            <a:off x="5285232" y="2331720"/>
            <a:ext cx="301752" cy="0"/>
          </a:xfrm>
          <a:prstGeom prst="line">
            <a:avLst/>
          </a:prstGeom>
          <a:noFill/>
          <a:ln w="25400">
            <a:solidFill>
              <a:srgbClr val="64748B"/>
            </a:solidFill>
            <a:prstDash val="solid"/>
            <a:tailEnd type="triangle"/>
          </a:ln>
        </p:spPr>
      </p:sp>
      <p:sp>
        <p:nvSpPr>
          <p:cNvPr id="15" name="block-4"/>
          <p:cNvSpPr/>
          <p:nvPr/>
        </p:nvSpPr>
        <p:spPr>
          <a:xfrm>
            <a:off x="5641848" y="1828800"/>
            <a:ext cx="1316736" cy="1005840"/>
          </a:xfrm>
          <a:prstGeom prst="roundRect">
            <a:avLst>
              <a:gd name="adj" fmla="val 9091"/>
            </a:avLst>
          </a:prstGeom>
          <a:solidFill>
            <a:srgbClr val="1FB68A"/>
          </a:solidFill>
          <a:ln w="12700">
            <a:solidFill>
              <a:srgbClr val="1FB68A"/>
            </a:solidFill>
            <a:prstDash val="solid"/>
          </a:ln>
        </p:spPr>
      </p:sp>
      <p:sp>
        <p:nvSpPr>
          <p:cNvPr id="16" name="Text 14"/>
          <p:cNvSpPr txBox="1"/>
          <p:nvPr/>
        </p:nvSpPr>
        <p:spPr>
          <a:xfrm>
            <a:off x="5641848"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7" name="Text 15"/>
          <p:cNvSpPr txBox="1"/>
          <p:nvPr/>
        </p:nvSpPr>
        <p:spPr>
          <a:xfrm>
            <a:off x="5641848"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the rules</a:t>
            </a:r>
            <a:endParaRPr lang="en-US" sz="1300" dirty="0"/>
          </a:p>
        </p:txBody>
      </p:sp>
      <p:sp>
        <p:nvSpPr>
          <p:cNvPr id="18" name="Shape 16"/>
          <p:cNvSpPr/>
          <p:nvPr/>
        </p:nvSpPr>
        <p:spPr>
          <a:xfrm>
            <a:off x="7013448" y="2331720"/>
            <a:ext cx="301752" cy="0"/>
          </a:xfrm>
          <a:prstGeom prst="line">
            <a:avLst/>
          </a:prstGeom>
          <a:noFill/>
          <a:ln w="25400">
            <a:solidFill>
              <a:srgbClr val="64748B"/>
            </a:solidFill>
            <a:prstDash val="solid"/>
            <a:tailEnd type="triangle"/>
          </a:ln>
        </p:spPr>
      </p:sp>
      <p:sp>
        <p:nvSpPr>
          <p:cNvPr id="19" name="block-5"/>
          <p:cNvSpPr/>
          <p:nvPr/>
        </p:nvSpPr>
        <p:spPr>
          <a:xfrm>
            <a:off x="7370064" y="1828800"/>
            <a:ext cx="1316736" cy="1005840"/>
          </a:xfrm>
          <a:prstGeom prst="roundRect">
            <a:avLst>
              <a:gd name="adj" fmla="val 9091"/>
            </a:avLst>
          </a:prstGeom>
          <a:solidFill>
            <a:srgbClr val="1B1F24"/>
          </a:solidFill>
          <a:ln w="12700">
            <a:solidFill>
              <a:srgbClr val="1B1F24"/>
            </a:solidFill>
            <a:prstDash val="solid"/>
          </a:ln>
        </p:spPr>
      </p:sp>
      <p:sp>
        <p:nvSpPr>
          <p:cNvPr id="20" name="Text 18"/>
          <p:cNvSpPr txBox="1"/>
          <p:nvPr/>
        </p:nvSpPr>
        <p:spPr>
          <a:xfrm>
            <a:off x="7370064" y="1828800"/>
            <a:ext cx="1316736" cy="100584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21" name="Text 19"/>
          <p:cNvSpPr txBox="1"/>
          <p:nvPr/>
        </p:nvSpPr>
        <p:spPr>
          <a:xfrm>
            <a:off x="7370064" y="2971800"/>
            <a:ext cx="1316736" cy="365760"/>
          </a:xfrm>
          <a:prstGeom prst="rect">
            <a:avLst/>
          </a:prstGeom>
          <a:noFill/>
          <a:ln/>
        </p:spPr>
        <p:txBody>
          <a:bodyPr wrap="square" lIns="0" tIns="0" rIns="0" bIns="0" rtlCol="0" anchor="ctr"/>
          <a:lstStyle/>
          <a:p>
            <a:pPr algn="ctr" indent="0" marL="0">
              <a:buNone/>
            </a:pPr>
            <a:r>
              <a:rPr lang="en-US" sz="1300" dirty="0">
                <a:solidFill>
                  <a:srgbClr val="2B3440"/>
                </a:solidFill>
              </a:rPr>
              <a:t>SQLite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NestJS: who calls whom</a:t>
            </a:r>
            <a:endParaRPr lang="en-US" sz="3200" dirty="0"/>
          </a:p>
        </p:txBody>
      </p:sp>
      <p:sp>
        <p:nvSpPr>
          <p:cNvPr id="3" name="module"/>
          <p:cNvSpPr/>
          <p:nvPr/>
        </p:nvSpPr>
        <p:spPr>
          <a:xfrm>
            <a:off x="3657600" y="1051560"/>
            <a:ext cx="3108960" cy="3429000"/>
          </a:xfrm>
          <a:prstGeom prst="roundRect">
            <a:avLst>
              <a:gd name="adj" fmla="val 3529"/>
            </a:avLst>
          </a:prstGeom>
          <a:solidFill>
            <a:srgbClr val="F1F5F9"/>
          </a:solidFill>
          <a:ln w="12700">
            <a:solidFill>
              <a:srgbClr val="CBD5E1"/>
            </a:solidFill>
            <a:prstDash val="solid"/>
          </a:ln>
        </p:spPr>
      </p:sp>
      <p:sp>
        <p:nvSpPr>
          <p:cNvPr id="4" name="Text 2"/>
          <p:cNvSpPr txBox="1"/>
          <p:nvPr/>
        </p:nvSpPr>
        <p:spPr>
          <a:xfrm>
            <a:off x="3794760" y="1097280"/>
            <a:ext cx="2834640" cy="365760"/>
          </a:xfrm>
          <a:prstGeom prst="rect">
            <a:avLst/>
          </a:prstGeom>
          <a:noFill/>
          <a:ln/>
        </p:spPr>
        <p:txBody>
          <a:bodyPr wrap="square" lIns="0" tIns="0" rIns="0" bIns="0" rtlCol="0" anchor="ctr"/>
          <a:lstStyle/>
          <a:p>
            <a:pPr indent="0" marL="0">
              <a:buNone/>
            </a:pPr>
            <a:r>
              <a:rPr lang="en-US" sz="1400" b="1" dirty="0">
                <a:solidFill>
                  <a:srgbClr val="1B1F24"/>
                </a:solidFill>
              </a:rPr>
              <a:t>Module</a:t>
            </a:r>
            <a:endParaRPr lang="en-US" sz="1400" dirty="0"/>
          </a:p>
        </p:txBody>
      </p:sp>
      <p:sp>
        <p:nvSpPr>
          <p:cNvPr id="5" name="controller"/>
          <p:cNvSpPr/>
          <p:nvPr/>
        </p:nvSpPr>
        <p:spPr>
          <a:xfrm>
            <a:off x="4069080" y="1508760"/>
            <a:ext cx="2286000" cy="685800"/>
          </a:xfrm>
          <a:prstGeom prst="roundRect">
            <a:avLst>
              <a:gd name="adj" fmla="val 13333"/>
            </a:avLst>
          </a:prstGeom>
          <a:solidFill>
            <a:srgbClr val="1FB68A"/>
          </a:solidFill>
          <a:ln w="12700">
            <a:solidFill>
              <a:srgbClr val="1FB68A"/>
            </a:solidFill>
            <a:prstDash val="solid"/>
          </a:ln>
        </p:spPr>
      </p:sp>
      <p:sp>
        <p:nvSpPr>
          <p:cNvPr id="6" name="Text 4"/>
          <p:cNvSpPr txBox="1"/>
          <p:nvPr/>
        </p:nvSpPr>
        <p:spPr>
          <a:xfrm>
            <a:off x="4069080" y="1508760"/>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Controller</a:t>
            </a:r>
            <a:endParaRPr lang="en-US" sz="1600" dirty="0"/>
          </a:p>
        </p:txBody>
      </p:sp>
      <p:sp>
        <p:nvSpPr>
          <p:cNvPr id="7" name="Shape 5"/>
          <p:cNvSpPr/>
          <p:nvPr/>
        </p:nvSpPr>
        <p:spPr>
          <a:xfrm>
            <a:off x="5212080" y="2221992"/>
            <a:ext cx="0" cy="292608"/>
          </a:xfrm>
          <a:prstGeom prst="line">
            <a:avLst/>
          </a:prstGeom>
          <a:noFill/>
          <a:ln w="25400">
            <a:solidFill>
              <a:srgbClr val="64748B"/>
            </a:solidFill>
            <a:prstDash val="solid"/>
            <a:tailEnd type="triangle"/>
          </a:ln>
        </p:spPr>
      </p:sp>
      <p:sp>
        <p:nvSpPr>
          <p:cNvPr id="8" name="service"/>
          <p:cNvSpPr/>
          <p:nvPr/>
        </p:nvSpPr>
        <p:spPr>
          <a:xfrm>
            <a:off x="4069080" y="2542032"/>
            <a:ext cx="2286000" cy="685800"/>
          </a:xfrm>
          <a:prstGeom prst="roundRect">
            <a:avLst>
              <a:gd name="adj" fmla="val 13333"/>
            </a:avLst>
          </a:prstGeom>
          <a:solidFill>
            <a:srgbClr val="1FB68A"/>
          </a:solidFill>
          <a:ln w="12700">
            <a:solidFill>
              <a:srgbClr val="1FB68A"/>
            </a:solidFill>
            <a:prstDash val="solid"/>
          </a:ln>
        </p:spPr>
      </p:sp>
      <p:sp>
        <p:nvSpPr>
          <p:cNvPr id="9" name="Text 7"/>
          <p:cNvSpPr txBox="1"/>
          <p:nvPr/>
        </p:nvSpPr>
        <p:spPr>
          <a:xfrm>
            <a:off x="4069080" y="2542032"/>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Service</a:t>
            </a:r>
            <a:endParaRPr lang="en-US" sz="1600" dirty="0"/>
          </a:p>
        </p:txBody>
      </p:sp>
      <p:sp>
        <p:nvSpPr>
          <p:cNvPr id="10" name="Shape 8"/>
          <p:cNvSpPr/>
          <p:nvPr/>
        </p:nvSpPr>
        <p:spPr>
          <a:xfrm>
            <a:off x="5212080" y="3255264"/>
            <a:ext cx="0" cy="292608"/>
          </a:xfrm>
          <a:prstGeom prst="line">
            <a:avLst/>
          </a:prstGeom>
          <a:noFill/>
          <a:ln w="25400">
            <a:solidFill>
              <a:srgbClr val="64748B"/>
            </a:solidFill>
            <a:prstDash val="solid"/>
            <a:tailEnd type="triangle"/>
          </a:ln>
        </p:spPr>
      </p:sp>
      <p:sp>
        <p:nvSpPr>
          <p:cNvPr id="11" name="repository"/>
          <p:cNvSpPr/>
          <p:nvPr/>
        </p:nvSpPr>
        <p:spPr>
          <a:xfrm>
            <a:off x="4069080" y="3575304"/>
            <a:ext cx="2286000" cy="685800"/>
          </a:xfrm>
          <a:prstGeom prst="roundRect">
            <a:avLst>
              <a:gd name="adj" fmla="val 13333"/>
            </a:avLst>
          </a:prstGeom>
          <a:solidFill>
            <a:srgbClr val="1FB68A"/>
          </a:solidFill>
          <a:ln w="12700">
            <a:solidFill>
              <a:srgbClr val="1FB68A"/>
            </a:solidFill>
            <a:prstDash val="solid"/>
          </a:ln>
        </p:spPr>
      </p:sp>
      <p:sp>
        <p:nvSpPr>
          <p:cNvPr id="12" name="Text 10"/>
          <p:cNvSpPr txBox="1"/>
          <p:nvPr/>
        </p:nvSpPr>
        <p:spPr>
          <a:xfrm>
            <a:off x="4069080" y="3575304"/>
            <a:ext cx="22860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Repository</a:t>
            </a:r>
            <a:endParaRPr lang="en-US" sz="1600" dirty="0"/>
          </a:p>
        </p:txBody>
      </p:sp>
      <p:sp>
        <p:nvSpPr>
          <p:cNvPr id="13" name="middleware"/>
          <p:cNvSpPr/>
          <p:nvPr/>
        </p:nvSpPr>
        <p:spPr>
          <a:xfrm>
            <a:off x="914400" y="1508760"/>
            <a:ext cx="2103120" cy="685800"/>
          </a:xfrm>
          <a:prstGeom prst="roundRect">
            <a:avLst>
              <a:gd name="adj" fmla="val 13333"/>
            </a:avLst>
          </a:prstGeom>
          <a:solidFill>
            <a:srgbClr val="1B1F24"/>
          </a:solidFill>
          <a:ln w="12700">
            <a:solidFill>
              <a:srgbClr val="1B1F24"/>
            </a:solidFill>
            <a:prstDash val="solid"/>
          </a:ln>
        </p:spPr>
      </p:sp>
      <p:sp>
        <p:nvSpPr>
          <p:cNvPr id="14" name="Text 12"/>
          <p:cNvSpPr txBox="1"/>
          <p:nvPr/>
        </p:nvSpPr>
        <p:spPr>
          <a:xfrm>
            <a:off x="914400" y="1508760"/>
            <a:ext cx="210312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Middleware</a:t>
            </a:r>
            <a:endParaRPr lang="en-US" sz="1600" dirty="0"/>
          </a:p>
        </p:txBody>
      </p:sp>
      <p:sp>
        <p:nvSpPr>
          <p:cNvPr id="15" name="Shape 13"/>
          <p:cNvSpPr/>
          <p:nvPr/>
        </p:nvSpPr>
        <p:spPr>
          <a:xfrm>
            <a:off x="3044952" y="1856232"/>
            <a:ext cx="996696" cy="0"/>
          </a:xfrm>
          <a:prstGeom prst="line">
            <a:avLst/>
          </a:prstGeom>
          <a:noFill/>
          <a:ln w="25400">
            <a:solidFill>
              <a:srgbClr val="64748B"/>
            </a:solidFill>
            <a:prstDash val="solid"/>
            <a:tailEnd type="triangle"/>
          </a:ln>
        </p:spPr>
      </p:sp>
      <p:sp>
        <p:nvSpPr>
          <p:cNvPr id="16" name="database"/>
          <p:cNvSpPr/>
          <p:nvPr/>
        </p:nvSpPr>
        <p:spPr>
          <a:xfrm>
            <a:off x="7315200" y="3575304"/>
            <a:ext cx="1371600" cy="685800"/>
          </a:xfrm>
          <a:prstGeom prst="roundRect">
            <a:avLst>
              <a:gd name="adj" fmla="val 13333"/>
            </a:avLst>
          </a:prstGeom>
          <a:solidFill>
            <a:srgbClr val="1B1F24"/>
          </a:solidFill>
          <a:ln w="12700">
            <a:solidFill>
              <a:srgbClr val="1B1F24"/>
            </a:solidFill>
            <a:prstDash val="solid"/>
          </a:ln>
        </p:spPr>
      </p:sp>
      <p:sp>
        <p:nvSpPr>
          <p:cNvPr id="17" name="Text 15"/>
          <p:cNvSpPr txBox="1"/>
          <p:nvPr/>
        </p:nvSpPr>
        <p:spPr>
          <a:xfrm>
            <a:off x="7315200" y="3575304"/>
            <a:ext cx="1371600" cy="685800"/>
          </a:xfrm>
          <a:prstGeom prst="rect">
            <a:avLst/>
          </a:prstGeom>
          <a:noFill/>
          <a:ln/>
        </p:spPr>
        <p:txBody>
          <a:bodyPr wrap="square" lIns="25400" tIns="25400" rIns="25400" bIns="25400" rtlCol="0" anchor="ctr"/>
          <a:lstStyle/>
          <a:p>
            <a:pPr algn="ctr" indent="0" marL="0">
              <a:buNone/>
            </a:pPr>
            <a:r>
              <a:rPr lang="en-US" sz="1600" b="1" dirty="0">
                <a:solidFill>
                  <a:srgbClr val="FFFFFF"/>
                </a:solidFill>
              </a:rPr>
              <a:t>Database</a:t>
            </a:r>
            <a:endParaRPr lang="en-US" sz="1600" dirty="0"/>
          </a:p>
        </p:txBody>
      </p:sp>
      <p:sp>
        <p:nvSpPr>
          <p:cNvPr id="18" name="Shape 16"/>
          <p:cNvSpPr/>
          <p:nvPr/>
        </p:nvSpPr>
        <p:spPr>
          <a:xfrm>
            <a:off x="6382512" y="3922776"/>
            <a:ext cx="905256" cy="0"/>
          </a:xfrm>
          <a:prstGeom prst="line">
            <a:avLst/>
          </a:prstGeom>
          <a:noFill/>
          <a:ln w="25400">
            <a:solidFill>
              <a:srgbClr val="64748B"/>
            </a:solidFill>
            <a:prstDash val="solid"/>
            <a:tailEnd type="triangle"/>
          </a:ln>
        </p:spPr>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Three rules for the lab</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Windows, PowerShell, Node 24</a:t>
            </a:r>
            <a:endParaRPr lang="en-US" sz="1800" dirty="0"/>
          </a:p>
          <a:p>
            <a:pPr indent="0" marL="0">
              <a:buNone/>
            </a:pPr>
            <a:r>
              <a:rPr lang="en-US" sz="1400" dirty="0">
                <a:solidFill>
                  <a:srgbClr val="2B3440"/>
                </a:solidFill>
              </a:rPr>
              <a:t>Every command runs in boilerplate\nest-ai-starter, one per line. </a:t>
            </a:r>
            <a:pPr indent="0" marL="0">
              <a:buNone/>
            </a:pPr>
            <a:r>
              <a:rPr lang="en-US" sz="1400" dirty="0">
                <a:solidFill>
                  <a:srgbClr val="2B3440"/>
                </a:solidFill>
                <a:latin typeface="Courier New" pitchFamily="34" charset="0"/>
                <a:ea typeface="Courier New" pitchFamily="34" charset="-122"/>
                <a:cs typeface="Courier New" pitchFamily="34" charset="-120"/>
              </a:rPr>
              <a:t>corepack enable</a:t>
            </a:r>
            <a:pPr indent="0" marL="0">
              <a:buNone/>
            </a:pPr>
            <a:r>
              <a:rPr lang="en-US" sz="1400" dirty="0">
                <a:solidFill>
                  <a:srgbClr val="2B3440"/>
                </a:solidFill>
              </a:rPr>
              <a:t> needs an administrator terminal; otherwise write </a:t>
            </a:r>
            <a:pPr indent="0" marL="0">
              <a:buNone/>
            </a:pPr>
            <a:r>
              <a:rPr lang="en-US" sz="1400" dirty="0">
                <a:solidFill>
                  <a:srgbClr val="2B3440"/>
                </a:solidFill>
                <a:latin typeface="Courier New" pitchFamily="34" charset="0"/>
                <a:ea typeface="Courier New" pitchFamily="34" charset="-122"/>
                <a:cs typeface="Courier New" pitchFamily="34" charset="-120"/>
              </a:rPr>
              <a:t>corepack pnpm</a:t>
            </a:r>
            <a:pPr indent="0" marL="0">
              <a:buNone/>
            </a:pPr>
            <a:r>
              <a:rPr lang="en-US" sz="1400" dirty="0">
                <a:solidFill>
                  <a:srgbClr val="2B3440"/>
                </a:solidFill>
              </a:rPr>
              <a:t>.</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Counts, not exit codes</a:t>
            </a:r>
            <a:endParaRPr lang="en-US" sz="1800" dirty="0"/>
          </a:p>
          <a:p>
            <a:pPr indent="0" marL="0">
              <a:buNone/>
            </a:pPr>
            <a:r>
              <a:rPr lang="en-US" sz="1400" dirty="0">
                <a:solidFill>
                  <a:srgbClr val="2B3440"/>
                </a:solidFill>
              </a:rPr>
              <a:t>Read "Tests N passed" AND "Test Files": a failed beforeAll shows 0 failures in the Tests line and exit 1.</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The data is yours to break</a:t>
            </a:r>
            <a:endParaRPr lang="en-US" sz="1800" dirty="0"/>
          </a:p>
          <a:p>
            <a:pPr indent="0" marL="0">
              <a:buNone/>
            </a:pPr>
            <a:r>
              <a:rPr lang="en-US" sz="1400" dirty="0">
                <a:solidFill>
                  <a:srgbClr val="2B3440"/>
                </a:solidFill>
              </a:rPr>
              <a:t>data/app.db ships seeded. Change it freely while you try things;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puts it back, byte for byte.</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Try it in the browser: /playground</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page, every request</a:t>
            </a:r>
            <a:endParaRPr lang="en-US" sz="1800" dirty="0"/>
          </a:p>
          <a:p>
            <a:pPr indent="0" marL="0">
              <a:buNone/>
            </a:pPr>
            <a:r>
              <a:rPr lang="en-US" sz="1400" dirty="0">
                <a:solidFill>
                  <a:srgbClr val="2B3440"/>
                </a:solidFill>
              </a:rPr>
              <a:t>With the app running, open http://localhost:3000/playground. It lists every module 1 request: health, users, notes and sharing.</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Click to send</a:t>
            </a:r>
            <a:endParaRPr lang="en-US" sz="1800" dirty="0"/>
          </a:p>
          <a:p>
            <a:pPr indent="0" marL="0">
              <a:buNone/>
            </a:pPr>
            <a:r>
              <a:rPr lang="en-US" sz="1400" dirty="0">
                <a:solidFill>
                  <a:srgbClr val="2B3440"/>
                </a:solidFill>
              </a:rPr>
              <a:t>Each Send calls the real controller and shows the status, a ✓ when it is the one the specs expect, and the body. Run all in order chains the ids.</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It writes to your data</a:t>
            </a:r>
            <a:endParaRPr lang="en-US" sz="1800" dirty="0"/>
          </a:p>
          <a:p>
            <a:pPr indent="0" marL="0">
              <a:buNone/>
            </a:pPr>
            <a:r>
              <a:rPr lang="en-US" sz="1400" dirty="0">
                <a:solidFill>
                  <a:srgbClr val="2B3440"/>
                </a:solidFill>
              </a:rPr>
              <a:t>Requests create, change and delete rows in data/app.db. </a:t>
            </a:r>
            <a:pPr indent="0" marL="0">
              <a:buNone/>
            </a:pPr>
            <a:r>
              <a:rPr lang="en-US" sz="1400" dirty="0">
                <a:solidFill>
                  <a:srgbClr val="2B3440"/>
                </a:solidFill>
                <a:latin typeface="Courier New" pitchFamily="34" charset="0"/>
                <a:ea typeface="Courier New" pitchFamily="34" charset="-122"/>
                <a:cs typeface="Courier New" pitchFamily="34" charset="-120"/>
              </a:rPr>
              <a:t>pnpm db:seed</a:t>
            </a:r>
            <a:pPr indent="0" marL="0">
              <a:buNone/>
            </a:pPr>
            <a:r>
              <a:rPr lang="en-US" sz="1400" dirty="0">
                <a:solidFill>
                  <a:srgbClr val="2B3440"/>
                </a:solidFill>
              </a:rPr>
              <a:t> restores the seeded data.</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Lab checks: is my lab done?</a:t>
            </a:r>
            <a:endParaRPr lang="en-US" sz="3200" dirty="0"/>
          </a:p>
        </p:txBody>
      </p:sp>
      <p:sp>
        <p:nvSpPr>
          <p:cNvPr id="3" name="Shape 1"/>
          <p:cNvSpPr/>
          <p:nvPr/>
        </p:nvSpPr>
        <p:spPr>
          <a:xfrm>
            <a:off x="457200" y="1188720"/>
            <a:ext cx="640080" cy="640080"/>
          </a:xfrm>
          <a:prstGeom prst="ellipse">
            <a:avLst/>
          </a:prstGeom>
          <a:solidFill>
            <a:srgbClr val="1B1F24"/>
          </a:solidFill>
          <a:ln w="12700">
            <a:solidFill>
              <a:srgbClr val="1B1F24"/>
            </a:solidFill>
            <a:prstDash val="solid"/>
          </a:ln>
        </p:spPr>
      </p:sp>
      <p:pic>
        <p:nvPicPr>
          <p:cNvPr id="4" name="Image 0" descr="preencoded.png">    </p:cNvPr>
          <p:cNvPicPr>
            <a:picLocks noChangeAspect="1"/>
          </p:cNvPicPr>
          <p:nvPr/>
        </p:nvPicPr>
        <p:blipFill>
          <a:blip r:embed="rId1"/>
          <a:stretch>
            <a:fillRect/>
          </a:stretch>
        </p:blipFill>
        <p:spPr>
          <a:xfrm>
            <a:off x="598018" y="1329538"/>
            <a:ext cx="358445" cy="358445"/>
          </a:xfrm>
          <a:prstGeom prst="rect">
            <a:avLst/>
          </a:prstGeom>
        </p:spPr>
      </p:pic>
      <p:sp>
        <p:nvSpPr>
          <p:cNvPr id="5" name="Text 2"/>
          <p:cNvSpPr txBox="1"/>
          <p:nvPr/>
        </p:nvSpPr>
        <p:spPr>
          <a:xfrm>
            <a:off x="1325880" y="1097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One check per lab</a:t>
            </a:r>
            <a:endParaRPr lang="en-US" sz="1800" dirty="0"/>
          </a:p>
          <a:p>
            <a:pPr indent="0" marL="0">
              <a:buNone/>
            </a:pPr>
            <a:pPr indent="0" marL="0">
              <a:buNone/>
            </a:pPr>
            <a:r>
              <a:rPr lang="en-US" sz="1400" dirty="0">
                <a:solidFill>
                  <a:srgbClr val="2B3440"/>
                </a:solidFill>
                <a:latin typeface="Courier New" pitchFamily="34" charset="0"/>
                <a:ea typeface="Courier New" pitchFamily="34" charset="-122"/>
                <a:cs typeface="Courier New" pitchFamily="34" charset="-120"/>
              </a:rPr>
              <a:t>pnpm lab 01</a:t>
            </a:r>
            <a:pPr indent="0" marL="0">
              <a:buNone/>
            </a:pPr>
            <a:r>
              <a:rPr lang="en-US" sz="1400" dirty="0">
                <a:solidFill>
                  <a:srgbClr val="2B3440"/>
                </a:solidFill>
              </a:rPr>
              <a:t> runs the check for lab 01, </a:t>
            </a:r>
            <a:pPr indent="0" marL="0">
              <a:buNone/>
            </a:pPr>
            <a:r>
              <a:rPr lang="en-US" sz="1400" dirty="0">
                <a:solidFill>
                  <a:srgbClr val="2B3440"/>
                </a:solidFill>
                <a:latin typeface="Courier New" pitchFamily="34" charset="0"/>
                <a:ea typeface="Courier New" pitchFamily="34" charset="-122"/>
                <a:cs typeface="Courier New" pitchFamily="34" charset="-120"/>
              </a:rPr>
              <a:t>pnpm lab</a:t>
            </a:r>
            <a:pPr indent="0" marL="0">
              <a:buNone/>
            </a:pPr>
            <a:r>
              <a:rPr lang="en-US" sz="1400" dirty="0">
                <a:solidFill>
                  <a:srgbClr val="2B3440"/>
                </a:solidFill>
              </a:rPr>
              <a:t> all of them. Done means </a:t>
            </a:r>
            <a:pPr indent="0" marL="0">
              <a:buNone/>
            </a:pPr>
            <a:r>
              <a:rPr lang="en-US" sz="1400" dirty="0">
                <a:solidFill>
                  <a:srgbClr val="2B3440"/>
                </a:solidFill>
                <a:latin typeface="Courier New" pitchFamily="34" charset="0"/>
                <a:ea typeface="Courier New" pitchFamily="34" charset="-122"/>
                <a:cs typeface="Courier New" pitchFamily="34" charset="-120"/>
              </a:rPr>
              <a:t>Test Files 1 passed</a:t>
            </a:r>
            <a:pPr indent="0" marL="0">
              <a:buNone/>
            </a:pPr>
            <a:r>
              <a:rPr lang="en-US" sz="1400" dirty="0">
                <a:solidFill>
                  <a:srgbClr val="2B3440"/>
                </a:solidFill>
              </a:rPr>
              <a:t> and every test green.</a:t>
            </a:r>
            <a:endParaRPr lang="en-US" sz="1800" dirty="0"/>
          </a:p>
        </p:txBody>
      </p:sp>
      <p:sp>
        <p:nvSpPr>
          <p:cNvPr id="6" name="Shape 3"/>
          <p:cNvSpPr/>
          <p:nvPr/>
        </p:nvSpPr>
        <p:spPr>
          <a:xfrm>
            <a:off x="457200" y="2331720"/>
            <a:ext cx="640080" cy="640080"/>
          </a:xfrm>
          <a:prstGeom prst="ellipse">
            <a:avLst/>
          </a:prstGeom>
          <a:solidFill>
            <a:srgbClr val="1B1F24"/>
          </a:solidFill>
          <a:ln w="12700">
            <a:solidFill>
              <a:srgbClr val="1B1F24"/>
            </a:solidFill>
            <a:prstDash val="solid"/>
          </a:ln>
        </p:spPr>
      </p:sp>
      <p:pic>
        <p:nvPicPr>
          <p:cNvPr id="7" name="Image 1" descr="preencoded.png">    </p:cNvPr>
          <p:cNvPicPr>
            <a:picLocks noChangeAspect="1"/>
          </p:cNvPicPr>
          <p:nvPr/>
        </p:nvPicPr>
        <p:blipFill>
          <a:blip r:embed="rId2"/>
          <a:stretch>
            <a:fillRect/>
          </a:stretch>
        </p:blipFill>
        <p:spPr>
          <a:xfrm>
            <a:off x="598018" y="2472538"/>
            <a:ext cx="358445" cy="358445"/>
          </a:xfrm>
          <a:prstGeom prst="rect">
            <a:avLst/>
          </a:prstGeom>
        </p:spPr>
      </p:pic>
      <p:sp>
        <p:nvSpPr>
          <p:cNvPr id="8" name="Text 4"/>
          <p:cNvSpPr txBox="1"/>
          <p:nvPr/>
        </p:nvSpPr>
        <p:spPr>
          <a:xfrm>
            <a:off x="1325880" y="2240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Red until built</a:t>
            </a:r>
            <a:endParaRPr lang="en-US" sz="1800" dirty="0"/>
          </a:p>
          <a:p>
            <a:pPr indent="0" marL="0">
              <a:buNone/>
            </a:pPr>
            <a:r>
              <a:rPr lang="en-US" sz="1400" dirty="0">
                <a:solidFill>
                  <a:srgbClr val="2B3440"/>
                </a:solidFill>
              </a:rPr>
              <a:t>Every lab check fails on the starter, because its feature is not there yet. It turns green when your agent has built it, and stays green after.</a:t>
            </a:r>
            <a:endParaRPr lang="en-US" sz="1800" dirty="0"/>
          </a:p>
        </p:txBody>
      </p:sp>
      <p:sp>
        <p:nvSpPr>
          <p:cNvPr id="9" name="Shape 5"/>
          <p:cNvSpPr/>
          <p:nvPr/>
        </p:nvSpPr>
        <p:spPr>
          <a:xfrm>
            <a:off x="457200" y="3474720"/>
            <a:ext cx="640080" cy="640080"/>
          </a:xfrm>
          <a:prstGeom prst="ellipse">
            <a:avLst/>
          </a:prstGeom>
          <a:solidFill>
            <a:srgbClr val="1B1F24"/>
          </a:solidFill>
          <a:ln w="12700">
            <a:solidFill>
              <a:srgbClr val="1B1F24"/>
            </a:solidFill>
            <a:prstDash val="solid"/>
          </a:ln>
        </p:spPr>
      </p:sp>
      <p:pic>
        <p:nvPicPr>
          <p:cNvPr id="10" name="Image 2" descr="preencoded.png">    </p:cNvPr>
          <p:cNvPicPr>
            <a:picLocks noChangeAspect="1"/>
          </p:cNvPicPr>
          <p:nvPr/>
        </p:nvPicPr>
        <p:blipFill>
          <a:blip r:embed="rId3"/>
          <a:stretch>
            <a:fillRect/>
          </a:stretch>
        </p:blipFill>
        <p:spPr>
          <a:xfrm>
            <a:off x="598018" y="3615538"/>
            <a:ext cx="358445" cy="358445"/>
          </a:xfrm>
          <a:prstGeom prst="rect">
            <a:avLst/>
          </a:prstGeom>
        </p:spPr>
      </p:pic>
      <p:sp>
        <p:nvSpPr>
          <p:cNvPr id="11" name="Text 6"/>
          <p:cNvSpPr txBox="1"/>
          <p:nvPr/>
        </p:nvSpPr>
        <p:spPr>
          <a:xfrm>
            <a:off x="1325880" y="3383280"/>
            <a:ext cx="7360920" cy="960120"/>
          </a:xfrm>
          <a:prstGeom prst="rect">
            <a:avLst/>
          </a:prstGeom>
          <a:noFill/>
          <a:ln/>
        </p:spPr>
        <p:txBody>
          <a:bodyPr wrap="square" lIns="0" tIns="0" rIns="0" bIns="0" rtlCol="0" anchor="t"/>
          <a:lstStyle/>
          <a:p>
            <a:pPr indent="0" marL="0">
              <a:buNone/>
            </a:pPr>
            <a:r>
              <a:rPr lang="en-US" sz="1800" b="1" dirty="0">
                <a:solidFill>
                  <a:srgbClr val="1B1F24"/>
                </a:solidFill>
              </a:rPr>
              <a:t>Fell behind?</a:t>
            </a:r>
            <a:endParaRPr lang="en-US" sz="1800" dirty="0"/>
          </a:p>
          <a:p>
            <a:pPr indent="0" marL="0">
              <a:buNone/>
            </a:pPr>
            <a:r>
              <a:rPr lang="en-US" sz="1400" dirty="0">
                <a:solidFill>
                  <a:srgbClr val="2B3440"/>
                </a:solidFill>
              </a:rPr>
              <a:t>Start the next module from its checkpoint (docs/ai-agent-training/checkpoints/), not by patching your own copy.</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The track (draft lab times)</a:t>
            </a:r>
            <a:endParaRPr lang="en-US" sz="3200" dirty="0"/>
          </a:p>
        </p:txBody>
      </p:sp>
      <p:sp>
        <p:nvSpPr>
          <p:cNvPr id="3" name="Shape 1"/>
          <p:cNvSpPr/>
          <p:nvPr/>
        </p:nvSpPr>
        <p:spPr>
          <a:xfrm>
            <a:off x="457200" y="1143000"/>
            <a:ext cx="4023360" cy="475488"/>
          </a:xfrm>
          <a:prstGeom prst="roundRect">
            <a:avLst>
              <a:gd name="adj" fmla="val 11538"/>
            </a:avLst>
          </a:prstGeom>
          <a:solidFill>
            <a:srgbClr val="F1F5F9"/>
          </a:solidFill>
          <a:ln w="12700">
            <a:solidFill>
              <a:srgbClr val="F1F5F9"/>
            </a:solidFill>
            <a:prstDash val="solid"/>
          </a:ln>
        </p:spPr>
      </p:sp>
      <p:sp>
        <p:nvSpPr>
          <p:cNvPr id="4" name="Text 2"/>
          <p:cNvSpPr txBox="1"/>
          <p:nvPr/>
        </p:nvSpPr>
        <p:spPr>
          <a:xfrm>
            <a:off x="59436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1  </a:t>
            </a:r>
            <a:pPr indent="0" marL="0">
              <a:buNone/>
            </a:pPr>
            <a:r>
              <a:rPr lang="en-US" sz="1400" dirty="0">
                <a:solidFill>
                  <a:srgbClr val="1B1F24"/>
                </a:solidFill>
              </a:rPr>
              <a:t>Users and notes</a:t>
            </a:r>
            <a:endParaRPr lang="en-US" sz="1400" dirty="0"/>
          </a:p>
        </p:txBody>
      </p:sp>
      <p:sp>
        <p:nvSpPr>
          <p:cNvPr id="5" name="Text 3"/>
          <p:cNvSpPr txBox="1"/>
          <p:nvPr/>
        </p:nvSpPr>
        <p:spPr>
          <a:xfrm>
            <a:off x="356616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60'</a:t>
            </a:r>
            <a:endParaRPr lang="en-US" sz="1400" dirty="0"/>
          </a:p>
        </p:txBody>
      </p:sp>
      <p:sp>
        <p:nvSpPr>
          <p:cNvPr id="6" name="Shape 4"/>
          <p:cNvSpPr/>
          <p:nvPr/>
        </p:nvSpPr>
        <p:spPr>
          <a:xfrm>
            <a:off x="4663440" y="1143000"/>
            <a:ext cx="4023360" cy="475488"/>
          </a:xfrm>
          <a:prstGeom prst="roundRect">
            <a:avLst>
              <a:gd name="adj" fmla="val 11538"/>
            </a:avLst>
          </a:prstGeom>
          <a:solidFill>
            <a:srgbClr val="F1F5F9"/>
          </a:solidFill>
          <a:ln w="12700">
            <a:solidFill>
              <a:srgbClr val="F1F5F9"/>
            </a:solidFill>
            <a:prstDash val="solid"/>
          </a:ln>
        </p:spPr>
      </p:sp>
      <p:sp>
        <p:nvSpPr>
          <p:cNvPr id="7" name="Text 5"/>
          <p:cNvSpPr txBox="1"/>
          <p:nvPr/>
        </p:nvSpPr>
        <p:spPr>
          <a:xfrm>
            <a:off x="4800600" y="1143000"/>
            <a:ext cx="3017520" cy="475488"/>
          </a:xfrm>
          <a:prstGeom prst="rect">
            <a:avLst/>
          </a:prstGeom>
          <a:noFill/>
          <a:ln/>
        </p:spPr>
        <p:txBody>
          <a:bodyPr wrap="square" lIns="0" tIns="0" rIns="0" bIns="0" rtlCol="0" anchor="ctr"/>
          <a:lstStyle/>
          <a:p>
            <a:pPr indent="0" marL="0">
              <a:buNone/>
            </a:pPr>
            <a:r>
              <a:rPr lang="en-US" sz="1400" b="1" dirty="0">
                <a:solidFill>
                  <a:srgbClr val="1FB68A"/>
                </a:solidFill>
                <a:latin typeface="Courier New" pitchFamily="34" charset="0"/>
                <a:ea typeface="Courier New" pitchFamily="34" charset="-122"/>
                <a:cs typeface="Courier New" pitchFamily="34" charset="-120"/>
              </a:rPr>
              <a:t>2  </a:t>
            </a:r>
            <a:pPr indent="0" marL="0">
              <a:buNone/>
            </a:pPr>
            <a:r>
              <a:rPr lang="en-US" sz="1400" dirty="0">
                <a:solidFill>
                  <a:srgbClr val="1B1F24"/>
                </a:solidFill>
              </a:rPr>
              <a:t>An MCP server on your data</a:t>
            </a:r>
            <a:endParaRPr lang="en-US" sz="1400" dirty="0"/>
          </a:p>
        </p:txBody>
      </p:sp>
      <p:sp>
        <p:nvSpPr>
          <p:cNvPr id="8" name="Text 6"/>
          <p:cNvSpPr txBox="1"/>
          <p:nvPr/>
        </p:nvSpPr>
        <p:spPr>
          <a:xfrm>
            <a:off x="7772400" y="1143000"/>
            <a:ext cx="777240" cy="475488"/>
          </a:xfrm>
          <a:prstGeom prst="rect">
            <a:avLst/>
          </a:prstGeom>
          <a:noFill/>
          <a:ln/>
        </p:spPr>
        <p:txBody>
          <a:bodyPr wrap="square" lIns="0" tIns="0" rIns="0" bIns="0" rtlCol="0" anchor="ctr"/>
          <a:lstStyle/>
          <a:p>
            <a:pPr algn="r" indent="0" marL="0">
              <a:buNone/>
            </a:pPr>
            <a:r>
              <a:rPr lang="en-US" sz="1400" dirty="0">
                <a:solidFill>
                  <a:srgbClr val="64748B"/>
                </a:solidFill>
              </a:rPr>
              <a:t>45'</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1</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Users and notes</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sets the project up, then builds the users and notes resources (notes shareable between users) on the seeded tables.</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60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1/3: set the project up</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data is already there. Have your agent set the project up, prove it works, and show you what is in the database.</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Set this project up on this machine and prove it works:</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counts, not "it works". Then show me what is in the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database.</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CLAUDE.md before running anything</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counts: 20 unit, 5 e2e, a red lab 01</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data: 25 users, 200 notes, 120 shares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switches to corepack pnpm if pnpm is missing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2/3: the users resource</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Do not tell your agent how. The repo says how resources are built; watch whether it finds that out.</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100" dirty="0">
                <a:solidFill>
                  <a:srgbClr val="E6EDF3"/>
                </a:solidFill>
                <a:latin typeface="Courier New" pitchFamily="34" charset="0"/>
                <a:ea typeface="Courier New" pitchFamily="34" charset="-122"/>
                <a:cs typeface="Courier New" pitchFamily="34" charset="-120"/>
              </a:rPr>
              <a:t>Build the users resource on the provided users table:</a:t>
            </a:r>
            <a:endParaRPr lang="en-US" sz="1100" dirty="0"/>
          </a:p>
          <a:p>
            <a:pPr indent="0" marL="0">
              <a:buNone/>
            </a:pPr>
            <a:r>
              <a:rPr lang="en-US" sz="1100" dirty="0">
                <a:solidFill>
                  <a:srgbClr val="E6EDF3"/>
                </a:solidFill>
                <a:latin typeface="Courier New" pitchFamily="34" charset="0"/>
                <a:ea typeface="Courier New" pitchFamily="34" charset="-122"/>
                <a:cs typeface="Courier New" pitchFamily="34" charset="-120"/>
              </a:rPr>
              <a:t>specs/users.md. Done when pnpm verify is green.</a:t>
            </a:r>
            <a:endParaRPr lang="en-US" sz="11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finds the steps: generate, template, fill</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keeps the provided table, 14 markers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no migration for a provided table</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409s left to the database, not re-coded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3/3: notes, with sharing</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A user owns many notes; a note can be shared with many users. The rules decide where each piece goes.</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Now the notes resource, with sharing: specs/notes.md. Done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when pnpm lab 01 and pnpm verify are green.</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stored-state rules in the service (422)</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filters and /shares routes, with e2e tests</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a bad dueAt is 400, not 500</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every rule broken once to see red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1</a:t>
            </a:r>
            <a:endParaRPr lang="en-US" sz="3200" dirty="0"/>
          </a:p>
        </p:txBody>
      </p:sp>
      <p:sp>
        <p:nvSpPr>
          <p:cNvPr id="3" name="terminal"/>
          <p:cNvSpPr/>
          <p:nvPr/>
        </p:nvSpPr>
        <p:spPr>
          <a:xfrm>
            <a:off x="457200" y="1097280"/>
            <a:ext cx="521208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1 · run this</a:t>
            </a:r>
            <a:endParaRPr lang="en-US" sz="1000" dirty="0"/>
          </a:p>
        </p:txBody>
      </p:sp>
      <p:sp>
        <p:nvSpPr>
          <p:cNvPr id="8" name="terminal-text"/>
          <p:cNvSpPr txBox="1"/>
          <p:nvPr/>
        </p:nvSpPr>
        <p:spPr>
          <a:xfrm>
            <a:off x="685800" y="1481328"/>
            <a:ext cx="4754880" cy="3017520"/>
          </a:xfrm>
          <a:prstGeom prst="rect">
            <a:avLst/>
          </a:prstGeom>
          <a:noFill/>
          <a:ln/>
        </p:spPr>
        <p:txBody>
          <a:bodyPr wrap="square" lIns="0" tIns="0" rIns="0" bIns="0" rtlCol="0" anchor="t"/>
          <a:lstStyle/>
          <a:p>
            <a:pPr indent="0" marL="0">
              <a:buNone/>
            </a:pPr>
            <a:r>
              <a:rPr lang="en-US" sz="1200" dirty="0">
                <a:solidFill>
                  <a:srgbClr val="E6EDF3"/>
                </a:solidFill>
                <a:latin typeface="Courier New" pitchFamily="34" charset="0"/>
                <a:ea typeface="Courier New" pitchFamily="34" charset="-122"/>
                <a:cs typeface="Courier New" pitchFamily="34" charset="-120"/>
              </a:rPr>
              <a:t>pnpm verify       # read both Tests lines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build</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start</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second terminal: the seeded rows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curl.exe "localhost:3000/api/v1/notes?status=done"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pnpm lab 01   # the lab check: all green?</a:t>
            </a:r>
            <a:endParaRPr lang="en-US" sz="1200" dirty="0"/>
          </a:p>
        </p:txBody>
      </p:sp>
      <p:sp>
        <p:nvSpPr>
          <p:cNvPr id="9" name="playground"/>
          <p:cNvSpPr/>
          <p:nvPr/>
        </p:nvSpPr>
        <p:spPr>
          <a:xfrm>
            <a:off x="5852160" y="1097280"/>
            <a:ext cx="2834640" cy="3520440"/>
          </a:xfrm>
          <a:prstGeom prst="roundRect">
            <a:avLst>
              <a:gd name="adj" fmla="val 2581"/>
            </a:avLst>
          </a:prstGeom>
          <a:solidFill>
            <a:srgbClr val="0E7490"/>
          </a:solidFill>
          <a:ln w="12700">
            <a:solidFill>
              <a:srgbClr val="0E7490"/>
            </a:solidFill>
            <a:prstDash val="solid"/>
          </a:ln>
        </p:spPr>
      </p:sp>
      <p:pic>
        <p:nvPicPr>
          <p:cNvPr id="10" name="Image 0" descr="preencoded.png">    </p:cNvPr>
          <p:cNvPicPr>
            <a:picLocks noChangeAspect="1"/>
          </p:cNvPicPr>
          <p:nvPr/>
        </p:nvPicPr>
        <p:blipFill>
          <a:blip r:embed="rId1"/>
          <a:stretch>
            <a:fillRect/>
          </a:stretch>
        </p:blipFill>
        <p:spPr>
          <a:xfrm>
            <a:off x="6035040" y="1252728"/>
            <a:ext cx="237744" cy="237744"/>
          </a:xfrm>
          <a:prstGeom prst="rect">
            <a:avLst/>
          </a:prstGeom>
        </p:spPr>
      </p:pic>
      <p:sp>
        <p:nvSpPr>
          <p:cNvPr id="11" name="Text 8"/>
          <p:cNvSpPr txBox="1"/>
          <p:nvPr/>
        </p:nvSpPr>
        <p:spPr>
          <a:xfrm>
            <a:off x="6355080" y="1207008"/>
            <a:ext cx="2148840" cy="329184"/>
          </a:xfrm>
          <a:prstGeom prst="rect">
            <a:avLst/>
          </a:prstGeom>
          <a:noFill/>
          <a:ln/>
        </p:spPr>
        <p:txBody>
          <a:bodyPr wrap="square" lIns="0" tIns="0" rIns="0" bIns="0" rtlCol="0" anchor="ctr"/>
          <a:lstStyle/>
          <a:p>
            <a:pPr indent="0" marL="0">
              <a:buNone/>
            </a:pPr>
            <a:r>
              <a:rPr lang="en-US" sz="1600" b="1" dirty="0">
                <a:solidFill>
                  <a:srgbClr val="FFFFFF"/>
                </a:solidFill>
              </a:rPr>
              <a:t>In the playground</a:t>
            </a:r>
            <a:endParaRPr lang="en-US" sz="1600" dirty="0"/>
          </a:p>
        </p:txBody>
      </p:sp>
      <p:sp>
        <p:nvSpPr>
          <p:cNvPr id="12" name="panel-steps"/>
          <p:cNvSpPr txBox="1"/>
          <p:nvPr/>
        </p:nvSpPr>
        <p:spPr>
          <a:xfrm>
            <a:off x="6035040" y="1645920"/>
            <a:ext cx="2468880" cy="2834640"/>
          </a:xfrm>
          <a:prstGeom prst="rect">
            <a:avLst/>
          </a:prstGeom>
          <a:noFill/>
          <a:ln/>
        </p:spPr>
        <p:txBody>
          <a:bodyPr wrap="square" lIns="0" tIns="0" rIns="0" bIns="0" rtlCol="0" anchor="t"/>
          <a:lstStyle/>
          <a:p>
            <a:pPr indent="0" marL="0">
              <a:buNone/>
            </a:pPr>
            <a:r>
              <a:rPr lang="en-US" sz="1300" b="1" dirty="0">
                <a:solidFill>
                  <a:srgbClr val="FFFFFF"/>
                </a:solidFill>
              </a:rPr>
              <a:t>localhost:3000/playground</a:t>
            </a:r>
            <a:endParaRPr lang="en-US" sz="1300" dirty="0"/>
          </a:p>
          <a:p>
            <a:pPr indent="0" marL="0">
              <a:buNone/>
            </a:pPr>
            <a:r>
              <a:rPr lang="en-US" sz="1300" dirty="0">
                <a:solidFill>
                  <a:srgbClr val="FFFFFF"/>
                </a:solidFill>
              </a:rPr>
              <a:t>1. Health</a:t>
            </a:r>
            <a:endParaRPr lang="en-US" sz="1300" dirty="0"/>
          </a:p>
          <a:p>
            <a:pPr indent="0" marL="0">
              <a:buNone/>
            </a:pPr>
            <a:r>
              <a:rPr lang="en-US" sz="1300" dirty="0">
                <a:solidFill>
                  <a:srgbClr val="FFFFFF"/>
                </a:solidFill>
              </a:rPr>
              <a:t>2. List users (seeded)</a:t>
            </a:r>
            <a:endParaRPr lang="en-US" sz="1300" dirty="0"/>
          </a:p>
          <a:p>
            <a:pPr indent="0" marL="0">
              <a:buNone/>
            </a:pPr>
            <a:r>
              <a:rPr lang="en-US" sz="1300" dirty="0">
                <a:solidFill>
                  <a:srgbClr val="FFFFFF"/>
                </a:solidFill>
              </a:rPr>
              <a:t>3. Create user</a:t>
            </a:r>
            <a:endParaRPr lang="en-US" sz="1300" dirty="0"/>
          </a:p>
          <a:p>
            <a:pPr indent="0" marL="0">
              <a:buNone/>
            </a:pPr>
            <a:r>
              <a:rPr lang="en-US" sz="1300" dirty="0">
                <a:solidFill>
                  <a:srgbClr val="FFFFFF"/>
                </a:solidFill>
              </a:rPr>
              <a:t>4. Create note</a:t>
            </a:r>
            <a:endParaRPr lang="en-US" sz="1300" dirty="0"/>
          </a:p>
          <a:p>
            <a:pPr indent="0" marL="0">
              <a:buNone/>
            </a:pPr>
            <a:r>
              <a:rPr lang="en-US" sz="1300" dirty="0">
                <a:solidFill>
                  <a:srgbClr val="FFFFFF"/>
                </a:solidFill>
              </a:rPr>
              <a:t>5. Edit a done note → 422 (R2)</a:t>
            </a:r>
            <a:endParaRPr lang="en-US" sz="1300" dirty="0"/>
          </a:p>
          <a:p>
            <a:pPr indent="0" marL="0">
              <a:buNone/>
            </a:pPr>
            <a:r>
              <a:rPr lang="en-US" sz="1300" dirty="0">
                <a:solidFill>
                  <a:srgbClr val="FFFFFF"/>
                </a:solidFill>
              </a:rPr>
              <a:t>6. Share with a friend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two MVCs on real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 (base: 20 unit, 5 e2e)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43 passed (43)</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49 passed (49)</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pnpm lab 01</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15 passed (15)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the app on the seeded file</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total=25  notes total=200</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notes?status=done total=85</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01</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deleting a rule turns a test red</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the app lists the seeded rows</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1</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runs db:generate for users</a:t>
            </a:r>
            <a:endParaRPr lang="en-US" sz="1600" dirty="0"/>
          </a:p>
          <a:p>
            <a:pPr indent="0" marL="0">
              <a:buNone/>
            </a:pPr>
            <a:r>
              <a:rPr lang="en-US" sz="1400" dirty="0">
                <a:solidFill>
                  <a:srgbClr val="2B3440"/>
                </a:solidFill>
              </a:rPr>
              <a:t>The table is provided: there is nothing to generate. pnpm verify (check:migrations) proves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A bad dueAt answers 500</a:t>
            </a:r>
            <a:endParaRPr lang="en-US" sz="1600" dirty="0"/>
          </a:p>
          <a:p>
            <a:pPr indent="0" marL="0">
              <a:buNone/>
            </a:pPr>
            <a:r>
              <a:rPr lang="en-US" sz="1400" dirty="0">
                <a:solidFill>
                  <a:srgbClr val="2B3440"/>
                </a:solidFill>
              </a:rPr>
              <a:t>Zod 4 runs the transform after a failed datetime check. Guard it; the scaffold skill lists the trap.</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counts notes before deleting a user</a:t>
            </a:r>
            <a:endParaRPr lang="en-US" sz="1600" dirty="0"/>
          </a:p>
          <a:p>
            <a:pPr indent="0" marL="0">
              <a:buNone/>
            </a:pPr>
            <a:r>
              <a:rPr lang="en-US" sz="1400" dirty="0">
                <a:solidFill>
                  <a:srgbClr val="2B3440"/>
                </a:solidFill>
              </a:rPr>
              <a:t>A second copy of a rule the foreign key already enforces. Let the database refuse; map the error.</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1097280"/>
            <a:ext cx="5486400" cy="365760"/>
          </a:xfrm>
          <a:prstGeom prst="rect">
            <a:avLst/>
          </a:prstGeom>
          <a:noFill/>
          <a:ln/>
        </p:spPr>
        <p:txBody>
          <a:bodyPr wrap="square" lIns="0" tIns="0" rIns="0" bIns="0" rtlCol="0"/>
          <a:lstStyle/>
          <a:p>
            <a:pPr indent="0" marL="0">
              <a:buNone/>
            </a:pPr>
            <a:r>
              <a:rPr lang="en-US" sz="1400" b="1" spc="300" kern="0" dirty="0">
                <a:solidFill>
                  <a:srgbClr val="1FB68A"/>
                </a:solidFill>
              </a:rPr>
              <a:t>MODULE 2</a:t>
            </a:r>
            <a:endParaRPr lang="en-US" sz="1400" dirty="0"/>
          </a:p>
        </p:txBody>
      </p:sp>
      <p:sp>
        <p:nvSpPr>
          <p:cNvPr id="3" name="Text 0"/>
          <p:cNvSpPr/>
          <p:nvPr>
            <p:ph idx="101" type="title" hasCustomPrompt="1"/>
          </p:nvPr>
        </p:nvSpPr>
        <p:spPr>
          <a:xfrm>
            <a:off x="548640" y="1508760"/>
            <a:ext cx="8046720" cy="914400"/>
          </a:xfrm>
          <a:prstGeom prst="rect">
            <a:avLst/>
          </a:prstGeom>
          <a:noFill/>
          <a:ln/>
        </p:spPr>
        <p:txBody>
          <a:bodyPr wrap="square" lIns="0" tIns="0" rIns="0" bIns="0" rtlCol="0" anchor="t"/>
          <a:lstStyle/>
          <a:p>
            <a:pPr algn="l" indent="0" marL="0">
              <a:buNone/>
            </a:pPr>
            <a:r>
              <a:rPr lang="en-US" sz="4000" b="1" dirty="0">
                <a:solidFill>
                  <a:srgbClr val="FFFFFF"/>
                </a:solidFill>
              </a:rPr>
              <a:t>An MCP server on your data</a:t>
            </a:r>
            <a:endParaRPr lang="en-US" sz="4000" dirty="0"/>
          </a:p>
        </p:txBody>
      </p:sp>
      <p:sp>
        <p:nvSpPr>
          <p:cNvPr id="4" name="Text 0"/>
          <p:cNvSpPr/>
          <p:nvPr>
            <p:ph idx="102" type="body" hasCustomPrompt="1"/>
          </p:nvPr>
        </p:nvSpPr>
        <p:spPr>
          <a:xfrm>
            <a:off x="548640" y="2560320"/>
            <a:ext cx="5669280" cy="1097280"/>
          </a:xfrm>
          <a:prstGeom prst="rect">
            <a:avLst/>
          </a:prstGeom>
          <a:noFill/>
          <a:ln/>
        </p:spPr>
        <p:txBody>
          <a:bodyPr wrap="square" lIns="0" tIns="0" rIns="0" bIns="0" rtlCol="0" anchor="t"/>
          <a:lstStyle/>
          <a:p>
            <a:pPr indent="0" marL="0">
              <a:buNone/>
            </a:pPr>
            <a:r>
              <a:rPr lang="en-US" sz="1800" dirty="0">
                <a:solidFill>
                  <a:srgbClr val="CBD5E1"/>
                </a:solidFill>
              </a:rPr>
              <a:t>Your agent builds an MCP server that reads and writes the database; you connect it to Claude Desktop and ask Claude about the data.</a:t>
            </a:r>
            <a:endParaRPr lang="en-US" sz="1800" dirty="0"/>
          </a:p>
        </p:txBody>
      </p:sp>
      <p:sp>
        <p:nvSpPr>
          <p:cNvPr id="5" name="Shape 3"/>
          <p:cNvSpPr/>
          <p:nvPr/>
        </p:nvSpPr>
        <p:spPr>
          <a:xfrm>
            <a:off x="6675120" y="2560320"/>
            <a:ext cx="2011680" cy="1097280"/>
          </a:xfrm>
          <a:prstGeom prst="roundRect">
            <a:avLst>
              <a:gd name="adj" fmla="val 8333"/>
            </a:avLst>
          </a:prstGeom>
          <a:solidFill>
            <a:srgbClr val="2B3440"/>
          </a:solidFill>
          <a:ln w="12700">
            <a:solidFill>
              <a:srgbClr val="2B3440"/>
            </a:solidFill>
            <a:prstDash val="solid"/>
          </a:ln>
        </p:spPr>
      </p:sp>
      <p:sp>
        <p:nvSpPr>
          <p:cNvPr id="6" name="Shape 4"/>
          <p:cNvSpPr/>
          <p:nvPr/>
        </p:nvSpPr>
        <p:spPr>
          <a:xfrm>
            <a:off x="6858000" y="2788920"/>
            <a:ext cx="640080" cy="640080"/>
          </a:xfrm>
          <a:prstGeom prst="ellipse">
            <a:avLst/>
          </a:prstGeom>
          <a:solidFill>
            <a:srgbClr val="1FB68A"/>
          </a:solidFill>
          <a:ln w="12700">
            <a:solidFill>
              <a:srgbClr val="1FB68A"/>
            </a:solidFill>
            <a:prstDash val="solid"/>
          </a:ln>
        </p:spPr>
      </p:sp>
      <p:pic>
        <p:nvPicPr>
          <p:cNvPr id="7" name="Image 0" descr="preencoded.png">    </p:cNvPr>
          <p:cNvPicPr>
            <a:picLocks noChangeAspect="1"/>
          </p:cNvPicPr>
          <p:nvPr/>
        </p:nvPicPr>
        <p:blipFill>
          <a:blip r:embed="rId1"/>
          <a:stretch>
            <a:fillRect/>
          </a:stretch>
        </p:blipFill>
        <p:spPr>
          <a:xfrm>
            <a:off x="6998818" y="2929738"/>
            <a:ext cx="358445" cy="358445"/>
          </a:xfrm>
          <a:prstGeom prst="rect">
            <a:avLst/>
          </a:prstGeom>
        </p:spPr>
      </p:pic>
      <p:sp>
        <p:nvSpPr>
          <p:cNvPr id="8" name="Text 5"/>
          <p:cNvSpPr txBox="1"/>
          <p:nvPr/>
        </p:nvSpPr>
        <p:spPr>
          <a:xfrm>
            <a:off x="7589520" y="2697480"/>
            <a:ext cx="1051560" cy="822960"/>
          </a:xfrm>
          <a:prstGeom prst="rect">
            <a:avLst/>
          </a:prstGeom>
          <a:noFill/>
          <a:ln/>
        </p:spPr>
        <p:txBody>
          <a:bodyPr wrap="square" lIns="0" tIns="0" rIns="0" bIns="0" rtlCol="0" anchor="ctr"/>
          <a:lstStyle/>
          <a:p>
            <a:pPr indent="0" marL="0">
              <a:buNone/>
            </a:pPr>
            <a:r>
              <a:rPr lang="en-US" sz="2200" b="1" dirty="0">
                <a:solidFill>
                  <a:srgbClr val="FFFFFF"/>
                </a:solidFill>
              </a:rPr>
              <a:t>45 min</a:t>
            </a:r>
            <a:endParaRPr lang="en-US" sz="2200" dirty="0"/>
          </a:p>
          <a:p>
            <a:pPr indent="0" marL="0">
              <a:buNone/>
            </a:pPr>
            <a:r>
              <a:rPr lang="en-US" sz="1100" dirty="0">
                <a:solidFill>
                  <a:srgbClr val="CBD5E1"/>
                </a:solidFill>
              </a:rPr>
              <a:t>lab (draft)</a:t>
            </a:r>
            <a:endParaRPr lang="en-US" sz="2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4A3B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Instruction: an MCP server on your data</a:t>
            </a:r>
            <a:endParaRPr lang="en-US" sz="3200" dirty="0"/>
          </a:p>
        </p:txBody>
      </p:sp>
      <p:sp>
        <p:nvSpPr>
          <p:cNvPr id="3" name="Shape 1"/>
          <p:cNvSpPr/>
          <p:nvPr/>
        </p:nvSpPr>
        <p:spPr>
          <a:xfrm>
            <a:off x="457200" y="1051560"/>
            <a:ext cx="73152" cy="548640"/>
          </a:xfrm>
          <a:prstGeom prst="rect">
            <a:avLst/>
          </a:prstGeom>
          <a:solidFill>
            <a:srgbClr val="1FB68A"/>
          </a:solidFill>
          <a:ln w="12700">
            <a:solidFill>
              <a:srgbClr val="1FB68A"/>
            </a:solidFill>
            <a:prstDash val="solid"/>
          </a:ln>
        </p:spPr>
      </p:sp>
      <p:sp>
        <p:nvSpPr>
          <p:cNvPr id="4" name="proctor"/>
          <p:cNvSpPr txBox="1"/>
          <p:nvPr/>
        </p:nvSpPr>
        <p:spPr>
          <a:xfrm>
            <a:off x="640080" y="1024128"/>
            <a:ext cx="8046720" cy="603504"/>
          </a:xfrm>
          <a:prstGeom prst="rect">
            <a:avLst/>
          </a:prstGeom>
          <a:noFill/>
          <a:ln/>
        </p:spPr>
        <p:txBody>
          <a:bodyPr wrap="square" lIns="0" tIns="0" rIns="0" bIns="0" rtlCol="0" anchor="ctr"/>
          <a:lstStyle/>
          <a:p>
            <a:pPr indent="0" marL="0">
              <a:buNone/>
            </a:pPr>
            <a:r>
              <a:rPr lang="en-US" sz="1400" b="1" i="1" dirty="0">
                <a:solidFill>
                  <a:srgbClr val="1B1F24"/>
                </a:solidFill>
              </a:rPr>
              <a:t>Proctor: </a:t>
            </a:r>
            <a:pPr indent="0" marL="0">
              <a:buNone/>
            </a:pPr>
            <a:r>
              <a:rPr lang="en-US" sz="1400" i="1" dirty="0">
                <a:solidFill>
                  <a:srgbClr val="2B3440"/>
                </a:solidFill>
              </a:rPr>
              <a:t>The goal: your Claude Desktop app answers questions from this database. The model writes the SQL, so the server decides what may run.</a:t>
            </a:r>
            <a:endParaRPr lang="en-US" sz="1400" dirty="0"/>
          </a:p>
        </p:txBody>
      </p:sp>
      <p:sp>
        <p:nvSpPr>
          <p:cNvPr id="5" name="terminal"/>
          <p:cNvSpPr/>
          <p:nvPr/>
        </p:nvSpPr>
        <p:spPr>
          <a:xfrm>
            <a:off x="457200" y="1737360"/>
            <a:ext cx="5212080" cy="2880360"/>
          </a:xfrm>
          <a:prstGeom prst="roundRect">
            <a:avLst>
              <a:gd name="adj" fmla="val 2540"/>
            </a:avLst>
          </a:prstGeom>
          <a:solidFill>
            <a:srgbClr val="1B1F24"/>
          </a:solidFill>
          <a:ln w="12700">
            <a:solidFill>
              <a:srgbClr val="1B1F24"/>
            </a:solidFill>
            <a:prstDash val="solid"/>
          </a:ln>
        </p:spPr>
      </p:sp>
      <p:sp>
        <p:nvSpPr>
          <p:cNvPr id="6" name="Shape 4"/>
          <p:cNvSpPr/>
          <p:nvPr/>
        </p:nvSpPr>
        <p:spPr>
          <a:xfrm>
            <a:off x="640080" y="1865376"/>
            <a:ext cx="109728" cy="109728"/>
          </a:xfrm>
          <a:prstGeom prst="ellipse">
            <a:avLst/>
          </a:prstGeom>
          <a:solidFill>
            <a:srgbClr val="E5484D"/>
          </a:solidFill>
          <a:ln w="12700">
            <a:solidFill>
              <a:srgbClr val="E5484D"/>
            </a:solidFill>
            <a:prstDash val="solid"/>
          </a:ln>
        </p:spPr>
      </p:sp>
      <p:sp>
        <p:nvSpPr>
          <p:cNvPr id="7" name="Shape 5"/>
          <p:cNvSpPr/>
          <p:nvPr/>
        </p:nvSpPr>
        <p:spPr>
          <a:xfrm>
            <a:off x="822960" y="1865376"/>
            <a:ext cx="109728" cy="109728"/>
          </a:xfrm>
          <a:prstGeom prst="ellipse">
            <a:avLst/>
          </a:prstGeom>
          <a:solidFill>
            <a:srgbClr val="E69A28"/>
          </a:solidFill>
          <a:ln w="12700">
            <a:solidFill>
              <a:srgbClr val="E69A28"/>
            </a:solidFill>
            <a:prstDash val="solid"/>
          </a:ln>
        </p:spPr>
      </p:sp>
      <p:sp>
        <p:nvSpPr>
          <p:cNvPr id="8" name="Shape 6"/>
          <p:cNvSpPr/>
          <p:nvPr/>
        </p:nvSpPr>
        <p:spPr>
          <a:xfrm>
            <a:off x="1005840" y="1865376"/>
            <a:ext cx="109728" cy="109728"/>
          </a:xfrm>
          <a:prstGeom prst="ellipse">
            <a:avLst/>
          </a:prstGeom>
          <a:solidFill>
            <a:srgbClr val="1FB68A"/>
          </a:solidFill>
          <a:ln w="12700">
            <a:solidFill>
              <a:srgbClr val="1FB68A"/>
            </a:solidFill>
            <a:prstDash val="solid"/>
          </a:ln>
        </p:spPr>
      </p:sp>
      <p:sp>
        <p:nvSpPr>
          <p:cNvPr id="9" name="Text 7"/>
          <p:cNvSpPr txBox="1"/>
          <p:nvPr/>
        </p:nvSpPr>
        <p:spPr>
          <a:xfrm>
            <a:off x="1280160" y="1792224"/>
            <a:ext cx="420624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instruction · give it to your agent</a:t>
            </a:r>
            <a:endParaRPr lang="en-US" sz="1000" dirty="0"/>
          </a:p>
        </p:txBody>
      </p:sp>
      <p:sp>
        <p:nvSpPr>
          <p:cNvPr id="10" name="terminal-text"/>
          <p:cNvSpPr txBox="1"/>
          <p:nvPr/>
        </p:nvSpPr>
        <p:spPr>
          <a:xfrm>
            <a:off x="685800" y="2121408"/>
            <a:ext cx="4754880" cy="2377440"/>
          </a:xfrm>
          <a:prstGeom prst="rect">
            <a:avLst/>
          </a:prstGeom>
          <a:noFill/>
          <a:ln/>
        </p:spPr>
        <p:txBody>
          <a:bodyPr wrap="square" lIns="0" tIns="0" rIns="0" bIns="0" rtlCol="0" anchor="t"/>
          <a:lstStyle/>
          <a:p>
            <a:pPr indent="0" marL="0">
              <a:buNone/>
            </a:pPr>
            <a:r>
              <a:rPr lang="en-US" sz="1000" dirty="0">
                <a:solidFill>
                  <a:srgbClr val="E6EDF3"/>
                </a:solidFill>
                <a:latin typeface="Courier New" pitchFamily="34" charset="0"/>
                <a:ea typeface="Courier New" pitchFamily="34" charset="-122"/>
                <a:cs typeface="Courier New" pitchFamily="34" charset="-120"/>
              </a:rPr>
              <a:t>I want to use this data from Claude Desktop. Build the MCP</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server in specs/mcp.md. Done when pnpm lab 02 and pnpm</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verify are green; then show me how to connect it to Claude</a:t>
            </a:r>
            <a:endParaRPr lang="en-US" sz="1000" dirty="0"/>
          </a:p>
          <a:p>
            <a:pPr indent="0" marL="0">
              <a:buNone/>
            </a:pPr>
            <a:r>
              <a:rPr lang="en-US" sz="1000" dirty="0">
                <a:solidFill>
                  <a:srgbClr val="E6EDF3"/>
                </a:solidFill>
                <a:latin typeface="Courier New" pitchFamily="34" charset="0"/>
                <a:ea typeface="Courier New" pitchFamily="34" charset="-122"/>
                <a:cs typeface="Courier New" pitchFamily="34" charset="-120"/>
              </a:rPr>
              <a:t>Desktop, and two questions I could ask it.</a:t>
            </a:r>
            <a:endParaRPr lang="en-US" sz="1000" dirty="0"/>
          </a:p>
        </p:txBody>
      </p:sp>
      <p:sp>
        <p:nvSpPr>
          <p:cNvPr id="11" name="Text 9"/>
          <p:cNvSpPr txBox="1"/>
          <p:nvPr/>
        </p:nvSpPr>
        <p:spPr>
          <a:xfrm>
            <a:off x="5897880" y="1737360"/>
            <a:ext cx="2788920" cy="365760"/>
          </a:xfrm>
          <a:prstGeom prst="rect">
            <a:avLst/>
          </a:prstGeom>
          <a:noFill/>
          <a:ln/>
        </p:spPr>
        <p:txBody>
          <a:bodyPr wrap="square" lIns="0" tIns="0" rIns="0" bIns="0" rtlCol="0" anchor="ctr"/>
          <a:lstStyle/>
          <a:p>
            <a:pPr indent="0" marL="0">
              <a:buNone/>
            </a:pPr>
            <a:r>
              <a:rPr lang="en-US" sz="1600" b="1" dirty="0">
                <a:solidFill>
                  <a:srgbClr val="1B1F24"/>
                </a:solidFill>
              </a:rPr>
              <a:t>Watch its approach</a:t>
            </a:r>
            <a:endParaRPr lang="en-US" sz="1600" dirty="0"/>
          </a:p>
        </p:txBody>
      </p:sp>
      <p:sp>
        <p:nvSpPr>
          <p:cNvPr id="12" name="Shape 10"/>
          <p:cNvSpPr/>
          <p:nvPr/>
        </p:nvSpPr>
        <p:spPr>
          <a:xfrm>
            <a:off x="5897880" y="2231136"/>
            <a:ext cx="292608" cy="292608"/>
          </a:xfrm>
          <a:prstGeom prst="ellipse">
            <a:avLst/>
          </a:prstGeom>
          <a:solidFill>
            <a:srgbClr val="1FB68A"/>
          </a:solidFill>
          <a:ln w="12700">
            <a:solidFill>
              <a:srgbClr val="1FB68A"/>
            </a:solidFill>
            <a:prstDash val="solid"/>
          </a:ln>
        </p:spPr>
      </p:sp>
      <p:pic>
        <p:nvPicPr>
          <p:cNvPr id="13" name="Image 0" descr="preencoded.png">    </p:cNvPr>
          <p:cNvPicPr>
            <a:picLocks noChangeAspect="1"/>
          </p:cNvPicPr>
          <p:nvPr/>
        </p:nvPicPr>
        <p:blipFill>
          <a:blip r:embed="rId1"/>
          <a:stretch>
            <a:fillRect/>
          </a:stretch>
        </p:blipFill>
        <p:spPr>
          <a:xfrm>
            <a:off x="5962254" y="2295510"/>
            <a:ext cx="163860" cy="163860"/>
          </a:xfrm>
          <a:prstGeom prst="rect">
            <a:avLst/>
          </a:prstGeom>
        </p:spPr>
      </p:pic>
      <p:sp>
        <p:nvSpPr>
          <p:cNvPr id="14" name="Text 11"/>
          <p:cNvSpPr txBox="1"/>
          <p:nvPr/>
        </p:nvSpPr>
        <p:spPr>
          <a:xfrm>
            <a:off x="6309360" y="2194560"/>
            <a:ext cx="2377440" cy="566928"/>
          </a:xfrm>
          <a:prstGeom prst="rect">
            <a:avLst/>
          </a:prstGeom>
          <a:noFill/>
          <a:ln/>
        </p:spPr>
        <p:txBody>
          <a:bodyPr wrap="square" lIns="0" tIns="0" rIns="0" bIns="0" rtlCol="0" anchor="t"/>
          <a:lstStyle/>
          <a:p>
            <a:pPr indent="0" marL="0">
              <a:buNone/>
            </a:pPr>
            <a:r>
              <a:rPr lang="en-US" sz="1200" dirty="0">
                <a:solidFill>
                  <a:srgbClr val="1B1F24"/>
                </a:solidFill>
              </a:rPr>
              <a:t>reads the installed SDK, not its memory</a:t>
            </a:r>
            <a:endParaRPr lang="en-US" sz="1200" dirty="0"/>
          </a:p>
        </p:txBody>
      </p:sp>
      <p:sp>
        <p:nvSpPr>
          <p:cNvPr id="15" name="Shape 12"/>
          <p:cNvSpPr/>
          <p:nvPr/>
        </p:nvSpPr>
        <p:spPr>
          <a:xfrm>
            <a:off x="5897880" y="2834640"/>
            <a:ext cx="292608" cy="292608"/>
          </a:xfrm>
          <a:prstGeom prst="ellipse">
            <a:avLst/>
          </a:prstGeom>
          <a:solidFill>
            <a:srgbClr val="1FB68A"/>
          </a:solidFill>
          <a:ln w="12700">
            <a:solidFill>
              <a:srgbClr val="1FB68A"/>
            </a:solidFill>
            <a:prstDash val="solid"/>
          </a:ln>
        </p:spPr>
      </p:sp>
      <p:pic>
        <p:nvPicPr>
          <p:cNvPr id="16" name="Image 1" descr="preencoded.png">    </p:cNvPr>
          <p:cNvPicPr>
            <a:picLocks noChangeAspect="1"/>
          </p:cNvPicPr>
          <p:nvPr/>
        </p:nvPicPr>
        <p:blipFill>
          <a:blip r:embed="rId2"/>
          <a:stretch>
            <a:fillRect/>
          </a:stretch>
        </p:blipFill>
        <p:spPr>
          <a:xfrm>
            <a:off x="5962254" y="2899014"/>
            <a:ext cx="163860" cy="163860"/>
          </a:xfrm>
          <a:prstGeom prst="rect">
            <a:avLst/>
          </a:prstGeom>
        </p:spPr>
      </p:pic>
      <p:sp>
        <p:nvSpPr>
          <p:cNvPr id="17" name="Text 13"/>
          <p:cNvSpPr txBox="1"/>
          <p:nvPr/>
        </p:nvSpPr>
        <p:spPr>
          <a:xfrm>
            <a:off x="6309360" y="2798064"/>
            <a:ext cx="2377440" cy="566928"/>
          </a:xfrm>
          <a:prstGeom prst="rect">
            <a:avLst/>
          </a:prstGeom>
          <a:noFill/>
          <a:ln/>
        </p:spPr>
        <p:txBody>
          <a:bodyPr wrap="square" lIns="0" tIns="0" rIns="0" bIns="0" rtlCol="0" anchor="t"/>
          <a:lstStyle/>
          <a:p>
            <a:pPr indent="0" marL="0">
              <a:buNone/>
            </a:pPr>
            <a:r>
              <a:rPr lang="en-US" sz="1200" dirty="0">
                <a:solidFill>
                  <a:srgbClr val="1B1F24"/>
                </a:solidFill>
              </a:rPr>
              <a:t>write tools call NotesService: no rule copied</a:t>
            </a:r>
            <a:endParaRPr lang="en-US" sz="1200" dirty="0"/>
          </a:p>
        </p:txBody>
      </p:sp>
      <p:sp>
        <p:nvSpPr>
          <p:cNvPr id="18" name="Shape 14"/>
          <p:cNvSpPr/>
          <p:nvPr/>
        </p:nvSpPr>
        <p:spPr>
          <a:xfrm>
            <a:off x="5897880" y="3438144"/>
            <a:ext cx="292608" cy="292608"/>
          </a:xfrm>
          <a:prstGeom prst="ellipse">
            <a:avLst/>
          </a:prstGeom>
          <a:solidFill>
            <a:srgbClr val="1FB68A"/>
          </a:solidFill>
          <a:ln w="12700">
            <a:solidFill>
              <a:srgbClr val="1FB68A"/>
            </a:solidFill>
            <a:prstDash val="solid"/>
          </a:ln>
        </p:spPr>
      </p:sp>
      <p:pic>
        <p:nvPicPr>
          <p:cNvPr id="19" name="Image 2" descr="preencoded.png">    </p:cNvPr>
          <p:cNvPicPr>
            <a:picLocks noChangeAspect="1"/>
          </p:cNvPicPr>
          <p:nvPr/>
        </p:nvPicPr>
        <p:blipFill>
          <a:blip r:embed="rId3"/>
          <a:stretch>
            <a:fillRect/>
          </a:stretch>
        </p:blipFill>
        <p:spPr>
          <a:xfrm>
            <a:off x="5962254" y="3502518"/>
            <a:ext cx="163860" cy="163860"/>
          </a:xfrm>
          <a:prstGeom prst="rect">
            <a:avLst/>
          </a:prstGeom>
        </p:spPr>
      </p:pic>
      <p:sp>
        <p:nvSpPr>
          <p:cNvPr id="20" name="Text 15"/>
          <p:cNvSpPr txBox="1"/>
          <p:nvPr/>
        </p:nvSpPr>
        <p:spPr>
          <a:xfrm>
            <a:off x="6309360" y="3401568"/>
            <a:ext cx="2377440" cy="566928"/>
          </a:xfrm>
          <a:prstGeom prst="rect">
            <a:avLst/>
          </a:prstGeom>
          <a:noFill/>
          <a:ln/>
        </p:spPr>
        <p:txBody>
          <a:bodyPr wrap="square" lIns="0" tIns="0" rIns="0" bIns="0" rtlCol="0" anchor="t"/>
          <a:lstStyle/>
          <a:p>
            <a:pPr indent="0" marL="0">
              <a:buNone/>
            </a:pPr>
            <a:r>
              <a:rPr lang="en-US" sz="1200" dirty="0">
                <a:solidFill>
                  <a:srgbClr val="1B1F24"/>
                </a:solidFill>
              </a:rPr>
              <a:t>query read-only in two layers</a:t>
            </a:r>
            <a:endParaRPr lang="en-US" sz="1200" dirty="0"/>
          </a:p>
        </p:txBody>
      </p:sp>
      <p:sp>
        <p:nvSpPr>
          <p:cNvPr id="21" name="Shape 16"/>
          <p:cNvSpPr/>
          <p:nvPr/>
        </p:nvSpPr>
        <p:spPr>
          <a:xfrm>
            <a:off x="5897880" y="4041648"/>
            <a:ext cx="292608" cy="292608"/>
          </a:xfrm>
          <a:prstGeom prst="ellipse">
            <a:avLst/>
          </a:prstGeom>
          <a:solidFill>
            <a:srgbClr val="1FB68A"/>
          </a:solidFill>
          <a:ln w="12700">
            <a:solidFill>
              <a:srgbClr val="1FB68A"/>
            </a:solidFill>
            <a:prstDash val="solid"/>
          </a:ln>
        </p:spPr>
      </p:sp>
      <p:pic>
        <p:nvPicPr>
          <p:cNvPr id="22" name="Image 3" descr="preencoded.png">    </p:cNvPr>
          <p:cNvPicPr>
            <a:picLocks noChangeAspect="1"/>
          </p:cNvPicPr>
          <p:nvPr/>
        </p:nvPicPr>
        <p:blipFill>
          <a:blip r:embed="rId4"/>
          <a:stretch>
            <a:fillRect/>
          </a:stretch>
        </p:blipFill>
        <p:spPr>
          <a:xfrm>
            <a:off x="5962254" y="4106022"/>
            <a:ext cx="163860" cy="163860"/>
          </a:xfrm>
          <a:prstGeom prst="rect">
            <a:avLst/>
          </a:prstGeom>
        </p:spPr>
      </p:pic>
      <p:sp>
        <p:nvSpPr>
          <p:cNvPr id="23" name="Text 17"/>
          <p:cNvSpPr txBox="1"/>
          <p:nvPr/>
        </p:nvSpPr>
        <p:spPr>
          <a:xfrm>
            <a:off x="6309360" y="4005072"/>
            <a:ext cx="2377440" cy="566928"/>
          </a:xfrm>
          <a:prstGeom prst="rect">
            <a:avLst/>
          </a:prstGeom>
          <a:noFill/>
          <a:ln/>
        </p:spPr>
        <p:txBody>
          <a:bodyPr wrap="square" lIns="0" tIns="0" rIns="0" bIns="0" rtlCol="0" anchor="t"/>
          <a:lstStyle/>
          <a:p>
            <a:pPr indent="0" marL="0">
              <a:buNone/>
            </a:pPr>
            <a:r>
              <a:rPr lang="en-US" sz="1200" dirty="0">
                <a:solidFill>
                  <a:srgbClr val="1B1F24"/>
                </a:solidFill>
              </a:rPr>
              <a:t>gives the Claude Desktop entry with absolute paths</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 it: module 2</a:t>
            </a:r>
            <a:endParaRPr lang="en-US" sz="3200" dirty="0"/>
          </a:p>
        </p:txBody>
      </p:sp>
      <p:sp>
        <p:nvSpPr>
          <p:cNvPr id="3" name="terminal"/>
          <p:cNvSpPr/>
          <p:nvPr/>
        </p:nvSpPr>
        <p:spPr>
          <a:xfrm>
            <a:off x="457200" y="1097280"/>
            <a:ext cx="82296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72237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module 2 · run this</a:t>
            </a:r>
            <a:endParaRPr lang="en-US" sz="1000" dirty="0"/>
          </a:p>
        </p:txBody>
      </p:sp>
      <p:sp>
        <p:nvSpPr>
          <p:cNvPr id="8" name="terminal-text"/>
          <p:cNvSpPr txBox="1"/>
          <p:nvPr/>
        </p:nvSpPr>
        <p:spPr>
          <a:xfrm>
            <a:off x="685800" y="1481328"/>
            <a:ext cx="7772400" cy="3017520"/>
          </a:xfrm>
          <a:prstGeom prst="rect">
            <a:avLst/>
          </a:prstGeom>
          <a:noFill/>
          <a:ln/>
        </p:spPr>
        <p:txBody>
          <a:bodyPr wrap="square" lIns="0" tIns="0" rIns="0" bIns="0" rtlCol="0" anchor="t"/>
          <a:lstStyle/>
          <a:p>
            <a:pPr indent="0" marL="0">
              <a:buNone/>
            </a:pPr>
            <a:r>
              <a:rPr lang="en-US" sz="1400" dirty="0">
                <a:solidFill>
                  <a:srgbClr val="E6EDF3"/>
                </a:solidFill>
                <a:latin typeface="Courier New" pitchFamily="34" charset="0"/>
                <a:ea typeface="Courier New" pitchFamily="34" charset="-122"/>
                <a:cs typeface="Courier New" pitchFamily="34" charset="-120"/>
              </a:rPr>
              <a:t>pnpm verify</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build</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node scripts\claude-desktop-config.mjs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paste the entry into the config file it names,</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quit and reopen Claude Desktop, then ask:</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"Which open notes are shared with more</a:t>
            </a:r>
            <a:endParaRPr lang="en-US" sz="1400" dirty="0"/>
          </a:p>
          <a:p>
            <a:pPr indent="0" marL="0">
              <a:buNone/>
            </a:pPr>
            <a:r>
              <a:rPr lang="en-US" sz="1400" dirty="0">
                <a:solidFill>
                  <a:srgbClr val="8B98A5"/>
                </a:solidFill>
                <a:latin typeface="Courier New" pitchFamily="34" charset="0"/>
                <a:ea typeface="Courier New" pitchFamily="34" charset="-122"/>
                <a:cs typeface="Courier New" pitchFamily="34" charset="-120"/>
              </a:rPr>
              <a:t>#   than one person?"</a:t>
            </a:r>
            <a:endParaRPr lang="en-US" sz="1400" dirty="0"/>
          </a:p>
          <a:p>
            <a:pPr indent="0" marL="0">
              <a:buNone/>
            </a:pPr>
            <a:r>
              <a:rPr lang="en-US" sz="1400" dirty="0">
                <a:solidFill>
                  <a:srgbClr val="E6EDF3"/>
                </a:solidFill>
                <a:latin typeface="Courier New" pitchFamily="34" charset="0"/>
                <a:ea typeface="Courier New" pitchFamily="34" charset="-122"/>
                <a:cs typeface="Courier New" pitchFamily="34" charset="-120"/>
              </a:rPr>
              <a:t>pnpm lab 02   # the lab check: all green?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Checkpoint: Claude Desktop, your data</a:t>
            </a:r>
            <a:endParaRPr lang="en-US" sz="3200" dirty="0"/>
          </a:p>
        </p:txBody>
      </p:sp>
      <p:sp>
        <p:nvSpPr>
          <p:cNvPr id="3" name="terminal"/>
          <p:cNvSpPr/>
          <p:nvPr/>
        </p:nvSpPr>
        <p:spPr>
          <a:xfrm>
            <a:off x="457200" y="1097280"/>
            <a:ext cx="5029200" cy="3520440"/>
          </a:xfrm>
          <a:prstGeom prst="roundRect">
            <a:avLst>
              <a:gd name="adj" fmla="val 2078"/>
            </a:avLst>
          </a:prstGeom>
          <a:solidFill>
            <a:srgbClr val="1B1F24"/>
          </a:solidFill>
          <a:ln w="12700">
            <a:solidFill>
              <a:srgbClr val="1B1F24"/>
            </a:solidFill>
            <a:prstDash val="solid"/>
          </a:ln>
        </p:spPr>
      </p:sp>
      <p:sp>
        <p:nvSpPr>
          <p:cNvPr id="4" name="Shape 2"/>
          <p:cNvSpPr/>
          <p:nvPr/>
        </p:nvSpPr>
        <p:spPr>
          <a:xfrm>
            <a:off x="640080" y="1225296"/>
            <a:ext cx="109728" cy="109728"/>
          </a:xfrm>
          <a:prstGeom prst="ellipse">
            <a:avLst/>
          </a:prstGeom>
          <a:solidFill>
            <a:srgbClr val="E5484D"/>
          </a:solidFill>
          <a:ln w="12700">
            <a:solidFill>
              <a:srgbClr val="E5484D"/>
            </a:solidFill>
            <a:prstDash val="solid"/>
          </a:ln>
        </p:spPr>
      </p:sp>
      <p:sp>
        <p:nvSpPr>
          <p:cNvPr id="5" name="Shape 3"/>
          <p:cNvSpPr/>
          <p:nvPr/>
        </p:nvSpPr>
        <p:spPr>
          <a:xfrm>
            <a:off x="822960" y="1225296"/>
            <a:ext cx="109728" cy="109728"/>
          </a:xfrm>
          <a:prstGeom prst="ellipse">
            <a:avLst/>
          </a:prstGeom>
          <a:solidFill>
            <a:srgbClr val="E69A28"/>
          </a:solidFill>
          <a:ln w="12700">
            <a:solidFill>
              <a:srgbClr val="E69A28"/>
            </a:solidFill>
            <a:prstDash val="solid"/>
          </a:ln>
        </p:spPr>
      </p:sp>
      <p:sp>
        <p:nvSpPr>
          <p:cNvPr id="6" name="Shape 4"/>
          <p:cNvSpPr/>
          <p:nvPr/>
        </p:nvSpPr>
        <p:spPr>
          <a:xfrm>
            <a:off x="1005840" y="1225296"/>
            <a:ext cx="109728" cy="109728"/>
          </a:xfrm>
          <a:prstGeom prst="ellipse">
            <a:avLst/>
          </a:prstGeom>
          <a:solidFill>
            <a:srgbClr val="1FB68A"/>
          </a:solidFill>
          <a:ln w="12700">
            <a:solidFill>
              <a:srgbClr val="1FB68A"/>
            </a:solidFill>
            <a:prstDash val="solid"/>
          </a:ln>
        </p:spPr>
      </p:sp>
      <p:sp>
        <p:nvSpPr>
          <p:cNvPr id="7" name="Text 5"/>
          <p:cNvSpPr txBox="1"/>
          <p:nvPr/>
        </p:nvSpPr>
        <p:spPr>
          <a:xfrm>
            <a:off x="1280160" y="1152144"/>
            <a:ext cx="4023360" cy="256032"/>
          </a:xfrm>
          <a:prstGeom prst="rect">
            <a:avLst/>
          </a:prstGeom>
          <a:noFill/>
          <a:ln/>
        </p:spPr>
        <p:txBody>
          <a:bodyPr wrap="square" lIns="0" tIns="0" rIns="0" bIns="0" rtlCol="0" anchor="ctr"/>
          <a:lstStyle/>
          <a:p>
            <a:pPr algn="r" indent="0" marL="0">
              <a:buNone/>
            </a:pPr>
            <a:r>
              <a:rPr lang="en-US" sz="1000" dirty="0">
                <a:solidFill>
                  <a:srgbClr val="8B98A5"/>
                </a:solidFill>
                <a:latin typeface="Calibri" pitchFamily="34" charset="0"/>
                <a:ea typeface="Calibri" pitchFamily="34" charset="-122"/>
                <a:cs typeface="Calibri" pitchFamily="34" charset="-120"/>
              </a:rPr>
              <a:t>output: captured</a:t>
            </a:r>
            <a:endParaRPr lang="en-US" sz="1000" dirty="0"/>
          </a:p>
        </p:txBody>
      </p:sp>
      <p:sp>
        <p:nvSpPr>
          <p:cNvPr id="8" name="terminal-text"/>
          <p:cNvSpPr txBox="1"/>
          <p:nvPr/>
        </p:nvSpPr>
        <p:spPr>
          <a:xfrm>
            <a:off x="685800" y="1481328"/>
            <a:ext cx="4572000" cy="3017520"/>
          </a:xfrm>
          <a:prstGeom prst="rect">
            <a:avLst/>
          </a:prstGeom>
          <a:noFill/>
          <a:ln/>
        </p:spPr>
        <p:txBody>
          <a:bodyPr wrap="square" lIns="0" tIns="0" rIns="0" bIns="0" rtlCol="0" anchor="t"/>
          <a:lstStyle/>
          <a:p>
            <a:pPr indent="0" marL="0">
              <a:buNone/>
            </a:pPr>
            <a:r>
              <a:rPr lang="en-US" sz="1200" dirty="0">
                <a:solidFill>
                  <a:srgbClr val="8B98A5"/>
                </a:solidFill>
                <a:latin typeface="Courier New" pitchFamily="34" charset="0"/>
                <a:ea typeface="Courier New" pitchFamily="34" charset="-122"/>
                <a:cs typeface="Courier New" pitchFamily="34" charset="-120"/>
              </a:rPr>
              <a:t># pnpm verify; pnpm lab 01 02</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60 passed (60) · 58 passed (58)</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Tests  25 passed (25)</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started as Claude Desktop does it</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server: notes-db</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users 25 · notes 200 · note_shares 120</a:t>
            </a:r>
            <a:endParaRPr lang="en-US" sz="1200" dirty="0"/>
          </a:p>
          <a:p>
            <a:pPr indent="0" marL="0">
              <a:buNone/>
            </a:pPr>
            <a:r>
              <a:rPr lang="en-US" sz="1200" dirty="0">
                <a:solidFill>
                  <a:srgbClr val="8B98A5"/>
                </a:solidFill>
                <a:latin typeface="Courier New" pitchFamily="34" charset="0"/>
                <a:ea typeface="Courier New" pitchFamily="34" charset="-122"/>
                <a:cs typeface="Courier New" pitchFamily="34" charset="-120"/>
              </a:rPr>
              <a:t># query: delete from notes</a:t>
            </a:r>
            <a:endParaRPr lang="en-US" sz="1200" dirty="0"/>
          </a:p>
          <a:p>
            <a:pPr indent="0" marL="0">
              <a:buNone/>
            </a:pPr>
            <a:r>
              <a:rPr lang="en-US" sz="1200" dirty="0">
                <a:solidFill>
                  <a:srgbClr val="E6EDF3"/>
                </a:solidFill>
                <a:latin typeface="Courier New" pitchFamily="34" charset="0"/>
                <a:ea typeface="Courier New" pitchFamily="34" charset="-122"/>
                <a:cs typeface="Courier New" pitchFamily="34" charset="-120"/>
              </a:rPr>
              <a:t>READ_ONLY: only a single SELECT …</a:t>
            </a:r>
            <a:endParaRPr lang="en-US" sz="1200" dirty="0"/>
          </a:p>
        </p:txBody>
      </p:sp>
      <p:sp>
        <p:nvSpPr>
          <p:cNvPr id="9" name="Text 7"/>
          <p:cNvSpPr txBox="1"/>
          <p:nvPr/>
        </p:nvSpPr>
        <p:spPr>
          <a:xfrm>
            <a:off x="5852160" y="1097280"/>
            <a:ext cx="2834640" cy="411480"/>
          </a:xfrm>
          <a:prstGeom prst="rect">
            <a:avLst/>
          </a:prstGeom>
          <a:noFill/>
          <a:ln/>
        </p:spPr>
        <p:txBody>
          <a:bodyPr wrap="square" lIns="0" tIns="0" rIns="0" bIns="0" rtlCol="0" anchor="ctr"/>
          <a:lstStyle/>
          <a:p>
            <a:pPr indent="0" marL="0">
              <a:buNone/>
            </a:pPr>
            <a:r>
              <a:rPr lang="en-US" sz="2000" b="1" dirty="0">
                <a:solidFill>
                  <a:srgbClr val="1B1F24"/>
                </a:solidFill>
              </a:rPr>
              <a:t>Done when</a:t>
            </a:r>
            <a:endParaRPr lang="en-US" sz="2000" dirty="0"/>
          </a:p>
        </p:txBody>
      </p:sp>
      <p:sp>
        <p:nvSpPr>
          <p:cNvPr id="10" name="Shape 8"/>
          <p:cNvSpPr/>
          <p:nvPr/>
        </p:nvSpPr>
        <p:spPr>
          <a:xfrm>
            <a:off x="5852160" y="1645920"/>
            <a:ext cx="384048" cy="384048"/>
          </a:xfrm>
          <a:prstGeom prst="ellipse">
            <a:avLst/>
          </a:prstGeom>
          <a:solidFill>
            <a:srgbClr val="1FB68A"/>
          </a:solidFill>
          <a:ln w="12700">
            <a:solidFill>
              <a:srgbClr val="1FB68A"/>
            </a:solidFill>
            <a:prstDash val="solid"/>
          </a:ln>
        </p:spPr>
      </p:sp>
      <p:pic>
        <p:nvPicPr>
          <p:cNvPr id="11" name="Image 0" descr="preencoded.png">    </p:cNvPr>
          <p:cNvPicPr>
            <a:picLocks noChangeAspect="1"/>
          </p:cNvPicPr>
          <p:nvPr/>
        </p:nvPicPr>
        <p:blipFill>
          <a:blip r:embed="rId1"/>
          <a:stretch>
            <a:fillRect/>
          </a:stretch>
        </p:blipFill>
        <p:spPr>
          <a:xfrm>
            <a:off x="5936651" y="1730411"/>
            <a:ext cx="215067" cy="215067"/>
          </a:xfrm>
          <a:prstGeom prst="rect">
            <a:avLst/>
          </a:prstGeom>
        </p:spPr>
      </p:pic>
      <p:sp>
        <p:nvSpPr>
          <p:cNvPr id="12" name="Text 9"/>
          <p:cNvSpPr txBox="1"/>
          <p:nvPr/>
        </p:nvSpPr>
        <p:spPr>
          <a:xfrm>
            <a:off x="6355080" y="1609344"/>
            <a:ext cx="2331720" cy="868680"/>
          </a:xfrm>
          <a:prstGeom prst="rect">
            <a:avLst/>
          </a:prstGeom>
          <a:noFill/>
          <a:ln/>
        </p:spPr>
        <p:txBody>
          <a:bodyPr wrap="square" lIns="0" tIns="0" rIns="0" bIns="0" rtlCol="0" anchor="t"/>
          <a:lstStyle/>
          <a:p>
            <a:pPr indent="0" marL="0">
              <a:buNone/>
            </a:pPr>
            <a:pPr indent="0" marL="0">
              <a:buNone/>
            </a:pPr>
            <a:r>
              <a:rPr lang="en-US" sz="1400" dirty="0">
                <a:solidFill>
                  <a:srgbClr val="1B1F24"/>
                </a:solidFill>
                <a:latin typeface="Courier New" pitchFamily="34" charset="0"/>
                <a:ea typeface="Courier New" pitchFamily="34" charset="-122"/>
                <a:cs typeface="Courier New" pitchFamily="34" charset="-120"/>
              </a:rPr>
              <a:t>pnpm lab 02</a:t>
            </a:r>
            <a:pPr indent="0" marL="0">
              <a:buNone/>
            </a:pPr>
            <a:r>
              <a:rPr lang="en-US" sz="1400" dirty="0">
                <a:solidFill>
                  <a:srgbClr val="1B1F24"/>
                </a:solidFill>
              </a:rPr>
              <a:t>: every test passes</a:t>
            </a:r>
            <a:endParaRPr lang="en-US" sz="1400" dirty="0"/>
          </a:p>
        </p:txBody>
      </p:sp>
      <p:sp>
        <p:nvSpPr>
          <p:cNvPr id="13" name="Shape 10"/>
          <p:cNvSpPr/>
          <p:nvPr/>
        </p:nvSpPr>
        <p:spPr>
          <a:xfrm>
            <a:off x="5852160" y="2606040"/>
            <a:ext cx="384048" cy="384048"/>
          </a:xfrm>
          <a:prstGeom prst="ellipse">
            <a:avLst/>
          </a:prstGeom>
          <a:solidFill>
            <a:srgbClr val="1FB68A"/>
          </a:solidFill>
          <a:ln w="12700">
            <a:solidFill>
              <a:srgbClr val="1FB68A"/>
            </a:solidFill>
            <a:prstDash val="solid"/>
          </a:ln>
        </p:spPr>
      </p:sp>
      <p:pic>
        <p:nvPicPr>
          <p:cNvPr id="14" name="Image 1" descr="preencoded.png">    </p:cNvPr>
          <p:cNvPicPr>
            <a:picLocks noChangeAspect="1"/>
          </p:cNvPicPr>
          <p:nvPr/>
        </p:nvPicPr>
        <p:blipFill>
          <a:blip r:embed="rId2"/>
          <a:stretch>
            <a:fillRect/>
          </a:stretch>
        </p:blipFill>
        <p:spPr>
          <a:xfrm>
            <a:off x="5936651" y="2690531"/>
            <a:ext cx="215067" cy="215067"/>
          </a:xfrm>
          <a:prstGeom prst="rect">
            <a:avLst/>
          </a:prstGeom>
        </p:spPr>
      </p:pic>
      <p:sp>
        <p:nvSpPr>
          <p:cNvPr id="15" name="Text 11"/>
          <p:cNvSpPr txBox="1"/>
          <p:nvPr/>
        </p:nvSpPr>
        <p:spPr>
          <a:xfrm>
            <a:off x="6355080" y="2569464"/>
            <a:ext cx="2331720" cy="868680"/>
          </a:xfrm>
          <a:prstGeom prst="rect">
            <a:avLst/>
          </a:prstGeom>
          <a:noFill/>
          <a:ln/>
        </p:spPr>
        <p:txBody>
          <a:bodyPr wrap="square" lIns="0" tIns="0" rIns="0" bIns="0" rtlCol="0" anchor="t"/>
          <a:lstStyle/>
          <a:p>
            <a:pPr indent="0" marL="0">
              <a:buNone/>
            </a:pPr>
            <a:r>
              <a:rPr lang="en-US" sz="1400" dirty="0">
                <a:solidFill>
                  <a:srgbClr val="1B1F24"/>
                </a:solidFill>
              </a:rPr>
              <a:t>a write sent to query is READ_ONLY</a:t>
            </a:r>
            <a:endParaRPr lang="en-US" sz="1400" dirty="0"/>
          </a:p>
        </p:txBody>
      </p:sp>
      <p:sp>
        <p:nvSpPr>
          <p:cNvPr id="16" name="Shape 12"/>
          <p:cNvSpPr/>
          <p:nvPr/>
        </p:nvSpPr>
        <p:spPr>
          <a:xfrm>
            <a:off x="5852160" y="3566160"/>
            <a:ext cx="384048" cy="384048"/>
          </a:xfrm>
          <a:prstGeom prst="ellipse">
            <a:avLst/>
          </a:prstGeom>
          <a:solidFill>
            <a:srgbClr val="1FB68A"/>
          </a:solidFill>
          <a:ln w="12700">
            <a:solidFill>
              <a:srgbClr val="1FB68A"/>
            </a:solidFill>
            <a:prstDash val="solid"/>
          </a:ln>
        </p:spPr>
      </p:sp>
      <p:pic>
        <p:nvPicPr>
          <p:cNvPr id="17" name="Image 2" descr="preencoded.png">    </p:cNvPr>
          <p:cNvPicPr>
            <a:picLocks noChangeAspect="1"/>
          </p:cNvPicPr>
          <p:nvPr/>
        </p:nvPicPr>
        <p:blipFill>
          <a:blip r:embed="rId3"/>
          <a:stretch>
            <a:fillRect/>
          </a:stretch>
        </p:blipFill>
        <p:spPr>
          <a:xfrm>
            <a:off x="5936651" y="3650651"/>
            <a:ext cx="215067" cy="215067"/>
          </a:xfrm>
          <a:prstGeom prst="rect">
            <a:avLst/>
          </a:prstGeom>
        </p:spPr>
      </p:pic>
      <p:sp>
        <p:nvSpPr>
          <p:cNvPr id="18" name="Text 13"/>
          <p:cNvSpPr txBox="1"/>
          <p:nvPr/>
        </p:nvSpPr>
        <p:spPr>
          <a:xfrm>
            <a:off x="6355080" y="3529584"/>
            <a:ext cx="2331720" cy="868680"/>
          </a:xfrm>
          <a:prstGeom prst="rect">
            <a:avLst/>
          </a:prstGeom>
          <a:noFill/>
          <a:ln/>
        </p:spPr>
        <p:txBody>
          <a:bodyPr wrap="square" lIns="0" tIns="0" rIns="0" bIns="0" rtlCol="0" anchor="t"/>
          <a:lstStyle/>
          <a:p>
            <a:pPr indent="0" marL="0">
              <a:buNone/>
            </a:pPr>
            <a:r>
              <a:rPr lang="en-US" sz="1400" dirty="0">
                <a:solidFill>
                  <a:srgbClr val="1B1F24"/>
                </a:solidFill>
              </a:rPr>
              <a:t>Claude Desktop answers a question about the data</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200" b="1" dirty="0">
                <a:solidFill>
                  <a:srgbClr val="1B1F24"/>
                </a:solidFill>
              </a:rPr>
              <a:t>When the agent goes wrong: module 2</a:t>
            </a:r>
            <a:endParaRPr lang="en-US" sz="3200" dirty="0"/>
          </a:p>
        </p:txBody>
      </p:sp>
      <p:sp>
        <p:nvSpPr>
          <p:cNvPr id="3" name="snag-1"/>
          <p:cNvSpPr/>
          <p:nvPr/>
        </p:nvSpPr>
        <p:spPr>
          <a:xfrm>
            <a:off x="457200" y="1097280"/>
            <a:ext cx="8229600" cy="1051560"/>
          </a:xfrm>
          <a:prstGeom prst="roundRect">
            <a:avLst>
              <a:gd name="adj" fmla="val 6957"/>
            </a:avLst>
          </a:prstGeom>
          <a:solidFill>
            <a:srgbClr val="F1F5F9"/>
          </a:solidFill>
          <a:ln w="12700">
            <a:solidFill>
              <a:srgbClr val="F1F5F9"/>
            </a:solidFill>
            <a:prstDash val="solid"/>
          </a:ln>
        </p:spPr>
      </p:sp>
      <p:sp>
        <p:nvSpPr>
          <p:cNvPr id="4" name="Shape 2"/>
          <p:cNvSpPr/>
          <p:nvPr/>
        </p:nvSpPr>
        <p:spPr>
          <a:xfrm>
            <a:off x="685800" y="1371600"/>
            <a:ext cx="502920" cy="502920"/>
          </a:xfrm>
          <a:prstGeom prst="ellipse">
            <a:avLst/>
          </a:prstGeom>
          <a:solidFill>
            <a:srgbClr val="E69A28"/>
          </a:solidFill>
          <a:ln w="12700">
            <a:solidFill>
              <a:srgbClr val="E69A28"/>
            </a:solidFill>
            <a:prstDash val="solid"/>
          </a:ln>
        </p:spPr>
      </p:sp>
      <p:pic>
        <p:nvPicPr>
          <p:cNvPr id="5" name="Image 0" descr="preencoded.png">    </p:cNvPr>
          <p:cNvPicPr>
            <a:picLocks noChangeAspect="1"/>
          </p:cNvPicPr>
          <p:nvPr/>
        </p:nvPicPr>
        <p:blipFill>
          <a:blip r:embed="rId1"/>
          <a:stretch>
            <a:fillRect/>
          </a:stretch>
        </p:blipFill>
        <p:spPr>
          <a:xfrm>
            <a:off x="796442" y="1482242"/>
            <a:ext cx="281635" cy="281635"/>
          </a:xfrm>
          <a:prstGeom prst="rect">
            <a:avLst/>
          </a:prstGeom>
        </p:spPr>
      </p:pic>
      <p:sp>
        <p:nvSpPr>
          <p:cNvPr id="6" name="Text 3"/>
          <p:cNvSpPr txBox="1"/>
          <p:nvPr/>
        </p:nvSpPr>
        <p:spPr>
          <a:xfrm>
            <a:off x="1417320" y="118872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query checks the SQL string only</a:t>
            </a:r>
            <a:endParaRPr lang="en-US" sz="1600" dirty="0"/>
          </a:p>
          <a:p>
            <a:pPr indent="0" marL="0">
              <a:buNone/>
            </a:pPr>
            <a:r>
              <a:rPr lang="en-US" sz="1400" dirty="0">
                <a:solidFill>
                  <a:srgbClr val="2B3440"/>
                </a:solidFill>
              </a:rPr>
              <a:t>A write can hide inside a WITH. Ask for a query_only connection too, and a test that tries it.</a:t>
            </a:r>
            <a:endParaRPr lang="en-US" sz="1600" dirty="0"/>
          </a:p>
        </p:txBody>
      </p:sp>
      <p:sp>
        <p:nvSpPr>
          <p:cNvPr id="7" name="snag-2"/>
          <p:cNvSpPr/>
          <p:nvPr/>
        </p:nvSpPr>
        <p:spPr>
          <a:xfrm>
            <a:off x="457200" y="2286000"/>
            <a:ext cx="8229600" cy="1051560"/>
          </a:xfrm>
          <a:prstGeom prst="roundRect">
            <a:avLst>
              <a:gd name="adj" fmla="val 6957"/>
            </a:avLst>
          </a:prstGeom>
          <a:solidFill>
            <a:srgbClr val="F1F5F9"/>
          </a:solidFill>
          <a:ln w="12700">
            <a:solidFill>
              <a:srgbClr val="F1F5F9"/>
            </a:solidFill>
            <a:prstDash val="solid"/>
          </a:ln>
        </p:spPr>
      </p:sp>
      <p:sp>
        <p:nvSpPr>
          <p:cNvPr id="8" name="Shape 5"/>
          <p:cNvSpPr/>
          <p:nvPr/>
        </p:nvSpPr>
        <p:spPr>
          <a:xfrm>
            <a:off x="685800" y="2560320"/>
            <a:ext cx="502920" cy="502920"/>
          </a:xfrm>
          <a:prstGeom prst="ellipse">
            <a:avLst/>
          </a:prstGeom>
          <a:solidFill>
            <a:srgbClr val="E69A28"/>
          </a:solidFill>
          <a:ln w="12700">
            <a:solidFill>
              <a:srgbClr val="E69A28"/>
            </a:solidFill>
            <a:prstDash val="solid"/>
          </a:ln>
        </p:spPr>
      </p:sp>
      <p:pic>
        <p:nvPicPr>
          <p:cNvPr id="9" name="Image 1" descr="preencoded.png">    </p:cNvPr>
          <p:cNvPicPr>
            <a:picLocks noChangeAspect="1"/>
          </p:cNvPicPr>
          <p:nvPr/>
        </p:nvPicPr>
        <p:blipFill>
          <a:blip r:embed="rId2"/>
          <a:stretch>
            <a:fillRect/>
          </a:stretch>
        </p:blipFill>
        <p:spPr>
          <a:xfrm>
            <a:off x="796442" y="2670962"/>
            <a:ext cx="281635" cy="281635"/>
          </a:xfrm>
          <a:prstGeom prst="rect">
            <a:avLst/>
          </a:prstGeom>
        </p:spPr>
      </p:pic>
      <p:sp>
        <p:nvSpPr>
          <p:cNvPr id="10" name="Text 6"/>
          <p:cNvSpPr txBox="1"/>
          <p:nvPr/>
        </p:nvSpPr>
        <p:spPr>
          <a:xfrm>
            <a:off x="1417320" y="237744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sees no tables</a:t>
            </a:r>
            <a:endParaRPr lang="en-US" sz="1600" dirty="0"/>
          </a:p>
          <a:p>
            <a:pPr indent="0" marL="0">
              <a:buNone/>
            </a:pPr>
            <a:r>
              <a:rPr lang="en-US" sz="1400" dirty="0">
                <a:solidFill>
                  <a:srgbClr val="2B3440"/>
                </a:solidFill>
              </a:rPr>
              <a:t>The server started in another folder and got an empty database. Use absolute paths; the server should exit when the file is missing.</a:t>
            </a:r>
            <a:endParaRPr lang="en-US" sz="1600" dirty="0"/>
          </a:p>
        </p:txBody>
      </p:sp>
      <p:sp>
        <p:nvSpPr>
          <p:cNvPr id="11" name="snag-3"/>
          <p:cNvSpPr/>
          <p:nvPr/>
        </p:nvSpPr>
        <p:spPr>
          <a:xfrm>
            <a:off x="457200" y="3474720"/>
            <a:ext cx="8229600" cy="1051560"/>
          </a:xfrm>
          <a:prstGeom prst="roundRect">
            <a:avLst>
              <a:gd name="adj" fmla="val 6957"/>
            </a:avLst>
          </a:prstGeom>
          <a:solidFill>
            <a:srgbClr val="F1F5F9"/>
          </a:solidFill>
          <a:ln w="12700">
            <a:solidFill>
              <a:srgbClr val="F1F5F9"/>
            </a:solidFill>
            <a:prstDash val="solid"/>
          </a:ln>
        </p:spPr>
      </p:sp>
      <p:sp>
        <p:nvSpPr>
          <p:cNvPr id="12" name="Shape 8"/>
          <p:cNvSpPr/>
          <p:nvPr/>
        </p:nvSpPr>
        <p:spPr>
          <a:xfrm>
            <a:off x="685800" y="3749040"/>
            <a:ext cx="502920" cy="502920"/>
          </a:xfrm>
          <a:prstGeom prst="ellipse">
            <a:avLst/>
          </a:prstGeom>
          <a:solidFill>
            <a:srgbClr val="E69A28"/>
          </a:solidFill>
          <a:ln w="12700">
            <a:solidFill>
              <a:srgbClr val="E69A28"/>
            </a:solidFill>
            <a:prstDash val="solid"/>
          </a:ln>
        </p:spPr>
      </p:sp>
      <p:pic>
        <p:nvPicPr>
          <p:cNvPr id="13" name="Image 2" descr="preencoded.png">    </p:cNvPr>
          <p:cNvPicPr>
            <a:picLocks noChangeAspect="1"/>
          </p:cNvPicPr>
          <p:nvPr/>
        </p:nvPicPr>
        <p:blipFill>
          <a:blip r:embed="rId3"/>
          <a:stretch>
            <a:fillRect/>
          </a:stretch>
        </p:blipFill>
        <p:spPr>
          <a:xfrm>
            <a:off x="796442" y="3859682"/>
            <a:ext cx="281635" cy="281635"/>
          </a:xfrm>
          <a:prstGeom prst="rect">
            <a:avLst/>
          </a:prstGeom>
        </p:spPr>
      </p:pic>
      <p:sp>
        <p:nvSpPr>
          <p:cNvPr id="14" name="Text 9"/>
          <p:cNvSpPr txBox="1"/>
          <p:nvPr/>
        </p:nvSpPr>
        <p:spPr>
          <a:xfrm>
            <a:off x="1417320" y="356616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It copies the notes rules into the tools</a:t>
            </a:r>
            <a:endParaRPr lang="en-US" sz="1600" dirty="0"/>
          </a:p>
          <a:p>
            <a:pPr indent="0" marL="0">
              <a:buNone/>
            </a:pPr>
            <a:r>
              <a:rPr lang="en-US" sz="1400" dirty="0">
                <a:solidFill>
                  <a:srgbClr val="2B3440"/>
                </a:solidFill>
              </a:rPr>
              <a:t>One rule, two copies, one will drift. The tools should call NotesService.</a:t>
            </a:r>
            <a:endParaRPr lang="en-US" sz="1600" dirty="0"/>
          </a:p>
        </p:txBody>
      </p:sp>
      <p:sp>
        <p:nvSpPr>
          <p:cNvPr id="15" name="snag-4"/>
          <p:cNvSpPr/>
          <p:nvPr/>
        </p:nvSpPr>
        <p:spPr>
          <a:xfrm>
            <a:off x="457200" y="4663440"/>
            <a:ext cx="8229600" cy="1051560"/>
          </a:xfrm>
          <a:prstGeom prst="roundRect">
            <a:avLst>
              <a:gd name="adj" fmla="val 6957"/>
            </a:avLst>
          </a:prstGeom>
          <a:solidFill>
            <a:srgbClr val="F1F5F9"/>
          </a:solidFill>
          <a:ln w="12700">
            <a:solidFill>
              <a:srgbClr val="F1F5F9"/>
            </a:solidFill>
            <a:prstDash val="solid"/>
          </a:ln>
        </p:spPr>
      </p:sp>
      <p:sp>
        <p:nvSpPr>
          <p:cNvPr id="16" name="Shape 11"/>
          <p:cNvSpPr/>
          <p:nvPr/>
        </p:nvSpPr>
        <p:spPr>
          <a:xfrm>
            <a:off x="685800" y="4937760"/>
            <a:ext cx="502920" cy="502920"/>
          </a:xfrm>
          <a:prstGeom prst="ellipse">
            <a:avLst/>
          </a:prstGeom>
          <a:solidFill>
            <a:srgbClr val="E69A28"/>
          </a:solidFill>
          <a:ln w="12700">
            <a:solidFill>
              <a:srgbClr val="E69A28"/>
            </a:solidFill>
            <a:prstDash val="solid"/>
          </a:ln>
        </p:spPr>
      </p:sp>
      <p:pic>
        <p:nvPicPr>
          <p:cNvPr id="17" name="Image 3" descr="preencoded.png">    </p:cNvPr>
          <p:cNvPicPr>
            <a:picLocks noChangeAspect="1"/>
          </p:cNvPicPr>
          <p:nvPr/>
        </p:nvPicPr>
        <p:blipFill>
          <a:blip r:embed="rId4"/>
          <a:stretch>
            <a:fillRect/>
          </a:stretch>
        </p:blipFill>
        <p:spPr>
          <a:xfrm>
            <a:off x="796442" y="5048402"/>
            <a:ext cx="281635" cy="281635"/>
          </a:xfrm>
          <a:prstGeom prst="rect">
            <a:avLst/>
          </a:prstGeom>
        </p:spPr>
      </p:pic>
      <p:sp>
        <p:nvSpPr>
          <p:cNvPr id="18" name="Text 12"/>
          <p:cNvSpPr txBox="1"/>
          <p:nvPr/>
        </p:nvSpPr>
        <p:spPr>
          <a:xfrm>
            <a:off x="1417320" y="4754880"/>
            <a:ext cx="7086600" cy="868680"/>
          </a:xfrm>
          <a:prstGeom prst="rect">
            <a:avLst/>
          </a:prstGeom>
          <a:noFill/>
          <a:ln/>
        </p:spPr>
        <p:txBody>
          <a:bodyPr wrap="square" lIns="0" tIns="0" rIns="0" bIns="0" rtlCol="0" anchor="ctr"/>
          <a:lstStyle/>
          <a:p>
            <a:pPr indent="0" marL="0">
              <a:buNone/>
            </a:pPr>
            <a:r>
              <a:rPr lang="en-US" sz="1600" b="1" dirty="0">
                <a:solidFill>
                  <a:srgbClr val="1B1F24"/>
                </a:solidFill>
              </a:rPr>
              <a:t>Claude Desktop shows no notes-db tools</a:t>
            </a:r>
            <a:endParaRPr lang="en-US" sz="1600" dirty="0"/>
          </a:p>
          <a:p>
            <a:pPr indent="0" marL="0">
              <a:buNone/>
            </a:pPr>
            <a:r>
              <a:rPr lang="en-US" sz="1400" dirty="0">
                <a:solidFill>
                  <a:srgbClr val="2B3440"/>
                </a:solidFill>
              </a:rPr>
              <a:t>A relative path or a bare node in the entry. Use the script's absolute paths, then quit Claude Desktop fully and reopen.</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4748B"/>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8046720" cy="1188720"/>
          </a:xfrm>
          <a:prstGeom prst="rect">
            <a:avLst/>
          </a:prstGeom>
          <a:noFill/>
          <a:ln/>
        </p:spPr>
        <p:txBody>
          <a:bodyPr wrap="square" lIns="0" tIns="0" rIns="0" bIns="0" rtlCol="0" anchor="b"/>
          <a:lstStyle/>
          <a:p>
            <a:pPr algn="l" indent="0" marL="0">
              <a:buNone/>
            </a:pPr>
            <a:r>
              <a:rPr lang="en-US" sz="4400" b="1" dirty="0">
                <a:solidFill>
                  <a:srgbClr val="FFFFFF"/>
                </a:solidFill>
              </a:rPr>
              <a:t>What you built</a:t>
            </a:r>
            <a:endParaRPr lang="en-US" sz="4400" dirty="0"/>
          </a:p>
        </p:txBody>
      </p:sp>
      <p:sp>
        <p:nvSpPr>
          <p:cNvPr id="3" name="Shape 1"/>
          <p:cNvSpPr/>
          <p:nvPr/>
        </p:nvSpPr>
        <p:spPr>
          <a:xfrm>
            <a:off x="548640" y="2743200"/>
            <a:ext cx="1481328" cy="685800"/>
          </a:xfrm>
          <a:prstGeom prst="roundRect">
            <a:avLst>
              <a:gd name="adj" fmla="val 10667"/>
            </a:avLst>
          </a:prstGeom>
          <a:solidFill>
            <a:srgbClr val="2B3440"/>
          </a:solidFill>
          <a:ln w="12700">
            <a:solidFill>
              <a:srgbClr val="2B3440"/>
            </a:solidFill>
            <a:prstDash val="solid"/>
          </a:ln>
        </p:spPr>
      </p:sp>
      <p:sp>
        <p:nvSpPr>
          <p:cNvPr id="4" name="Text 2"/>
          <p:cNvSpPr txBox="1"/>
          <p:nvPr/>
        </p:nvSpPr>
        <p:spPr>
          <a:xfrm>
            <a:off x="548640"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Seeded SQLite</a:t>
            </a:r>
            <a:endParaRPr lang="en-US" sz="1400" dirty="0"/>
          </a:p>
        </p:txBody>
      </p:sp>
      <p:sp>
        <p:nvSpPr>
          <p:cNvPr id="5" name="Shape 3"/>
          <p:cNvSpPr/>
          <p:nvPr/>
        </p:nvSpPr>
        <p:spPr>
          <a:xfrm>
            <a:off x="2185416" y="2743200"/>
            <a:ext cx="1481328" cy="685800"/>
          </a:xfrm>
          <a:prstGeom prst="roundRect">
            <a:avLst>
              <a:gd name="adj" fmla="val 10667"/>
            </a:avLst>
          </a:prstGeom>
          <a:solidFill>
            <a:srgbClr val="2B3440"/>
          </a:solidFill>
          <a:ln w="12700">
            <a:solidFill>
              <a:srgbClr val="2B3440"/>
            </a:solidFill>
            <a:prstDash val="solid"/>
          </a:ln>
        </p:spPr>
      </p:sp>
      <p:sp>
        <p:nvSpPr>
          <p:cNvPr id="6" name="Text 4"/>
          <p:cNvSpPr txBox="1"/>
          <p:nvPr/>
        </p:nvSpPr>
        <p:spPr>
          <a:xfrm>
            <a:off x="2185416"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Users</a:t>
            </a:r>
            <a:endParaRPr lang="en-US" sz="1400" dirty="0"/>
          </a:p>
        </p:txBody>
      </p:sp>
      <p:sp>
        <p:nvSpPr>
          <p:cNvPr id="7" name="Shape 5"/>
          <p:cNvSpPr/>
          <p:nvPr/>
        </p:nvSpPr>
        <p:spPr>
          <a:xfrm>
            <a:off x="3822192" y="2743200"/>
            <a:ext cx="1481328" cy="685800"/>
          </a:xfrm>
          <a:prstGeom prst="roundRect">
            <a:avLst>
              <a:gd name="adj" fmla="val 10667"/>
            </a:avLst>
          </a:prstGeom>
          <a:solidFill>
            <a:srgbClr val="2B3440"/>
          </a:solidFill>
          <a:ln w="12700">
            <a:solidFill>
              <a:srgbClr val="2B3440"/>
            </a:solidFill>
            <a:prstDash val="solid"/>
          </a:ln>
        </p:spPr>
      </p:sp>
      <p:sp>
        <p:nvSpPr>
          <p:cNvPr id="8" name="Text 6"/>
          <p:cNvSpPr txBox="1"/>
          <p:nvPr/>
        </p:nvSpPr>
        <p:spPr>
          <a:xfrm>
            <a:off x="3822192"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Notes + sharing</a:t>
            </a:r>
            <a:endParaRPr lang="en-US" sz="1400" dirty="0"/>
          </a:p>
        </p:txBody>
      </p:sp>
      <p:sp>
        <p:nvSpPr>
          <p:cNvPr id="9" name="Shape 7"/>
          <p:cNvSpPr/>
          <p:nvPr/>
        </p:nvSpPr>
        <p:spPr>
          <a:xfrm>
            <a:off x="5458968" y="2743200"/>
            <a:ext cx="1481328" cy="685800"/>
          </a:xfrm>
          <a:prstGeom prst="roundRect">
            <a:avLst>
              <a:gd name="adj" fmla="val 10667"/>
            </a:avLst>
          </a:prstGeom>
          <a:solidFill>
            <a:srgbClr val="2B3440"/>
          </a:solidFill>
          <a:ln w="12700">
            <a:solidFill>
              <a:srgbClr val="2B3440"/>
            </a:solidFill>
            <a:prstDash val="solid"/>
          </a:ln>
        </p:spPr>
      </p:sp>
      <p:sp>
        <p:nvSpPr>
          <p:cNvPr id="10" name="Text 8"/>
          <p:cNvSpPr txBox="1"/>
          <p:nvPr/>
        </p:nvSpPr>
        <p:spPr>
          <a:xfrm>
            <a:off x="5458968"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MCP server</a:t>
            </a:r>
            <a:endParaRPr lang="en-US" sz="1400" dirty="0"/>
          </a:p>
        </p:txBody>
      </p:sp>
      <p:sp>
        <p:nvSpPr>
          <p:cNvPr id="11" name="Shape 9"/>
          <p:cNvSpPr/>
          <p:nvPr/>
        </p:nvSpPr>
        <p:spPr>
          <a:xfrm>
            <a:off x="7095744" y="2743200"/>
            <a:ext cx="1481328" cy="685800"/>
          </a:xfrm>
          <a:prstGeom prst="roundRect">
            <a:avLst>
              <a:gd name="adj" fmla="val 10667"/>
            </a:avLst>
          </a:prstGeom>
          <a:solidFill>
            <a:srgbClr val="1FB68A"/>
          </a:solidFill>
          <a:ln w="12700">
            <a:solidFill>
              <a:srgbClr val="2B3440"/>
            </a:solidFill>
            <a:prstDash val="solid"/>
          </a:ln>
        </p:spPr>
      </p:sp>
      <p:sp>
        <p:nvSpPr>
          <p:cNvPr id="12" name="Text 10"/>
          <p:cNvSpPr txBox="1"/>
          <p:nvPr/>
        </p:nvSpPr>
        <p:spPr>
          <a:xfrm>
            <a:off x="7095744" y="2743200"/>
            <a:ext cx="1481328" cy="685800"/>
          </a:xfrm>
          <a:prstGeom prst="rect">
            <a:avLst/>
          </a:prstGeom>
          <a:noFill/>
          <a:ln/>
        </p:spPr>
        <p:txBody>
          <a:bodyPr wrap="square" lIns="0" tIns="0" rIns="0" bIns="0" rtlCol="0" anchor="ctr"/>
          <a:lstStyle/>
          <a:p>
            <a:pPr algn="ctr" indent="0" marL="0">
              <a:buNone/>
            </a:pPr>
            <a:r>
              <a:rPr lang="en-US" sz="1400" b="1" dirty="0">
                <a:solidFill>
                  <a:srgbClr val="FFFFFF"/>
                </a:solidFill>
              </a:rPr>
              <a:t>Claude Desktop</a:t>
            </a:r>
            <a:endParaRPr lang="en-US" sz="1400" dirty="0"/>
          </a:p>
        </p:txBody>
      </p:sp>
      <p:sp>
        <p:nvSpPr>
          <p:cNvPr id="13" name="Text 11"/>
          <p:cNvSpPr txBox="1"/>
          <p:nvPr/>
        </p:nvSpPr>
        <p:spPr>
          <a:xfrm>
            <a:off x="548640" y="3703320"/>
            <a:ext cx="8046720" cy="731520"/>
          </a:xfrm>
          <a:prstGeom prst="rect">
            <a:avLst/>
          </a:prstGeom>
          <a:noFill/>
          <a:ln/>
        </p:spPr>
        <p:txBody>
          <a:bodyPr wrap="square" lIns="0" tIns="0" rIns="0" bIns="0" rtlCol="0" anchor="t"/>
          <a:lstStyle/>
          <a:p>
            <a:pPr indent="0" marL="0">
              <a:buNone/>
            </a:pPr>
            <a:r>
              <a:rPr lang="en-US" sz="1400" dirty="0">
                <a:solidFill>
                  <a:srgbClr val="CBD5E1"/>
                </a:solidFill>
              </a:rPr>
              <a:t>Next: authentication before anyone else can reach it · an HTTP transport for a shared server · your own tables and tools</a:t>
            </a:r>
            <a:endParaRPr lang="en-US" sz="1400" dirty="0"/>
          </a:p>
        </p:txBody>
      </p:sp>
      <p:sp>
        <p:nvSpPr>
          <p:cNvPr id="15" name="Text 0"/>
          <p:cNvSpPr/>
          <p:nvPr>
            <p:ph idx="101" type="body" hasCustomPrompt="1"/>
          </p:nvPr>
        </p:nvSpPr>
        <p:spPr>
          <a:xfrm>
            <a:off x="548640" y="2697480"/>
            <a:ext cx="8046720" cy="822960"/>
          </a:xfrm>
          <a:prstGeom prst="rect">
            <a:avLst/>
          </a:prstGeom>
          <a:noFill/>
          <a:ln/>
        </p:spPr>
        <p:txBody>
          <a:bodyPr wrap="square" lIns="0" tIns="0" rIns="0" bIns="0"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Lab Companion">
  <a:themeElements>
    <a:clrScheme name="Lab Companion">
      <a:dk1>
        <a:srgbClr val="1B1F24"/>
      </a:dk1>
      <a:lt1>
        <a:srgbClr val="FFFFFF"/>
      </a:lt1>
      <a:dk2>
        <a:srgbClr val="2B3440"/>
      </a:dk2>
      <a:lt2>
        <a:srgbClr val="F1F5F9"/>
      </a:lt2>
      <a:accent1>
        <a:srgbClr val="1FB68A"/>
      </a:accent1>
      <a:accent2>
        <a:srgbClr val="E69A28"/>
      </a:accent2>
      <a:accent3>
        <a:srgbClr val="7C5CFF"/>
      </a:accent3>
      <a:accent4>
        <a:srgbClr val="E5484D"/>
      </a:accent4>
      <a:accent5>
        <a:srgbClr val="0F766E"/>
      </a:accent5>
      <a:accent6>
        <a:srgbClr val="94A3B8"/>
      </a:accent6>
      <a:hlink>
        <a:srgbClr val="0F766E"/>
      </a:hlink>
      <a:folHlink>
        <a:srgbClr val="7C5CFF"/>
      </a:folHlink>
    </a:clrScheme>
    <a:fontScheme name="Lab Companion">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Lab companion: Building Apps with AI Agents</dc:title>
  <dc:subject>PptxGenJS Presentation</dc:subject>
  <dc:creator>edu-training</dc:creator>
  <cp:lastModifiedBy>edu-training</cp:lastModifiedBy>
  <cp:revision>1</cp:revision>
  <dcterms:created xsi:type="dcterms:W3CDTF">2026-10-27T04:08:51Z</dcterms:created>
  <dcterms:modified xsi:type="dcterms:W3CDTF">2026-10-27T04:08:51Z</dcterms:modified>
</cp:coreProperties>
</file>