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Nobody needs curl: the playground page sends the requests.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15 minutes each for Claude Code to build, so about 30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(zod 4 runs a transform after a failed format check);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first: verify and the lab check run on an empty in-memory database, so a green result there is the proof the code works. Only then start the app and open the playground: it sends every module 1 request to the running app with one click and shows each answer, proving the resources also serve the seeded rows. Nobody needs curl. The playground writes to data/app.db; npm run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Captured in a dry run of the previous slide, in Chromium at 1280x720: base plus the module 1 checkpoint and no .env, verify 44 unit / 49 e2e, lab 01 15/15, then Run all in order: 19 of 19 cards green, no page errors, List users showing the 25 seeded users. With DevTools open the two 409 and three 422 requests show in red as failed loads; that is expected, they are the rule checks. If port 3000 is taken, npm start prints "successfully started" and THEN fails: the last line says the port is in use. Set PORT in .env and use that port in the URL. A missing .env does not matter: in development the app uses data/app.db by default. npm run db:seed puts the data back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built the REST front door: an HTTP request reaches a controller, the controller calls a service, the service holds the rules. Module 2 adds a second front door for an AI client. The MCP server takes the controller's place: each tool parses its input and calls the SAME UsersService and NotesService, so the rules exist once. Measured: removing the never-shared-with-the-owner rule from NotesService turns both the REST tests and the MCP checks red. Two tools are the exception: query and execute run SQL a model wrote, straight on the database, so the server guards them itself. On the wire, MCP is JSON-RPC messages, not REST routes. They travel over a transport: stdio when Claude Desktop starts the server on your machine (what we build), or Streamable HTTP for a server you reach over the network. So MCP can ride on HTTP, but it is not built on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labs 31/31 and verify 46 unit / 58 e2e. Five SQL guards, each removed once and caught by lab 02: query is one SELECT/WITH statement (libSQL silently drops a second) run under PRAGMA query_only (a WITH can hide a delete); execute is one statement, only INSERT/UPDATE/DELETE, and UPDATE/DELETE need a WHERE. Its own e2e test missed two of the five: the lab checks come from the spec, not the code. The typed write tools call UsersService and NotesService, so removing a rule there turns the MCP checks red too. execute keeps foreign keys on but does not apply the service rules; its description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npm run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npm run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then builds it</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npm run verify + npm run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npm ships with Node; scripts run as </a:t>
            </a:r>
            <a:pPr indent="0" marL="0">
              <a:buNone/>
            </a:pPr>
            <a:r>
              <a:rPr lang="en-US" sz="1400" dirty="0">
                <a:solidFill>
                  <a:srgbClr val="2B3440"/>
                </a:solidFill>
                <a:latin typeface="Courier New" pitchFamily="34" charset="0"/>
                <a:ea typeface="Courier New" pitchFamily="34" charset="-122"/>
                <a:cs typeface="Courier New" pitchFamily="34" charset="-120"/>
              </a:rPr>
              <a:t>npm run &lt;name&gt;</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npm run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npm run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npm run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15'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20 unit, 5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passes script flags after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npm run verify is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npm run lab 01 and npm run verify 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100" dirty="0">
                <a:solidFill>
                  <a:srgbClr val="8B98A5"/>
                </a:solidFill>
                <a:latin typeface="Courier New" pitchFamily="34" charset="0"/>
                <a:ea typeface="Courier New" pitchFamily="34" charset="-122"/>
                <a:cs typeface="Courier New" pitchFamily="34" charset="-120"/>
              </a:rPr>
              <a:t># 1. the tests first</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verify       # read both Tests lines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lab 01       # the lab check: all green?</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2. then the app on the seeded data</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(port taken? the last line says so: PORT= in .env)</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run build</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npm start</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3. open localhost:3000/playground (or your PORT)</a:t>
            </a:r>
            <a:endParaRPr lang="en-US" sz="1100" dirty="0"/>
          </a:p>
          <a:p>
            <a:pPr indent="0" marL="0">
              <a:buNone/>
            </a:pPr>
            <a:r>
              <a:rPr lang="en-US" sz="1100" dirty="0">
                <a:solidFill>
                  <a:srgbClr val="8B98A5"/>
                </a:solidFill>
                <a:latin typeface="Courier New" pitchFamily="34" charset="0"/>
                <a:ea typeface="Courier New" pitchFamily="34" charset="-122"/>
                <a:cs typeface="Courier New" pitchFamily="34" charset="-120"/>
              </a:rPr>
              <a:t>#    and click Run all in order</a:t>
            </a:r>
            <a:endParaRPr lang="en-US" sz="11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List users (seeded)</a:t>
            </a:r>
            <a:endParaRPr lang="en-US" sz="1300" dirty="0"/>
          </a:p>
          <a:p>
            <a:pPr indent="0" marL="0">
              <a:buNone/>
            </a:pPr>
            <a:r>
              <a:rPr lang="en-US" sz="1300" dirty="0">
                <a:solidFill>
                  <a:srgbClr val="FFFFFF"/>
                </a:solidFill>
              </a:rPr>
              <a:t>3. Create user</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Mark done</a:t>
            </a:r>
            <a:endParaRPr lang="en-US" sz="1300" dirty="0"/>
          </a:p>
          <a:p>
            <a:pPr indent="0" marL="0">
              <a:buNone/>
            </a:pPr>
            <a:r>
              <a:rPr lang="en-US" sz="1300" dirty="0">
                <a:solidFill>
                  <a:srgbClr val="FFFFFF"/>
                </a:solidFill>
              </a:rPr>
              <a:t>6. Edit a done note → 422 (R2)</a:t>
            </a:r>
            <a:endParaRPr lang="en-US" sz="1300" dirty="0"/>
          </a:p>
          <a:p>
            <a:pPr indent="0" marL="0">
              <a:buNone/>
            </a:pPr>
            <a:r>
              <a:rPr lang="en-US" sz="1300" dirty="0">
                <a:solidFill>
                  <a:srgbClr val="FFFFFF"/>
                </a:solidFill>
              </a:rPr>
              <a:t>7.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What to expect: the playground after Run all</a:t>
            </a:r>
            <a:endParaRPr lang="en-US" sz="3200" dirty="0"/>
          </a:p>
        </p:txBody>
      </p:sp>
      <p:sp>
        <p:nvSpPr>
          <p:cNvPr id="3" name="Shape 1"/>
          <p:cNvSpPr/>
          <p:nvPr/>
        </p:nvSpPr>
        <p:spPr>
          <a:xfrm>
            <a:off x="429768" y="1069848"/>
            <a:ext cx="6150864" cy="3483864"/>
          </a:xfrm>
          <a:prstGeom prst="rect">
            <a:avLst/>
          </a:prstGeom>
          <a:solidFill>
            <a:srgbClr val="CBD5E1"/>
          </a:solidFill>
          <a:ln w="12700">
            <a:solidFill>
              <a:srgbClr val="CBD5E1"/>
            </a:solidFill>
            <a:prstDash val="solid"/>
          </a:ln>
        </p:spPr>
      </p:sp>
      <p:pic>
        <p:nvPicPr>
          <p:cNvPr id="4" name="Image 0" descr="The playground after Run all in order: the four variables filled, Health and List users answered 200 with a check mark.">    </p:cNvPr>
          <p:cNvPicPr>
            <a:picLocks noChangeAspect="1"/>
          </p:cNvPicPr>
          <p:nvPr/>
        </p:nvPicPr>
        <p:blipFill>
          <a:blip r:embed="rId1"/>
          <a:stretch>
            <a:fillRect/>
          </a:stretch>
        </p:blipFill>
        <p:spPr>
          <a:xfrm>
            <a:off x="457200" y="1097280"/>
            <a:ext cx="6096000" cy="3429000"/>
          </a:xfrm>
          <a:prstGeom prst="rect">
            <a:avLst/>
          </a:prstGeom>
        </p:spPr>
      </p:pic>
      <p:sp>
        <p:nvSpPr>
          <p:cNvPr id="5" name="Text 2"/>
          <p:cNvSpPr txBox="1"/>
          <p:nvPr/>
        </p:nvSpPr>
        <p:spPr>
          <a:xfrm>
            <a:off x="6827520" y="1097280"/>
            <a:ext cx="1859280" cy="365760"/>
          </a:xfrm>
          <a:prstGeom prst="rect">
            <a:avLst/>
          </a:prstGeom>
          <a:noFill/>
          <a:ln/>
        </p:spPr>
        <p:txBody>
          <a:bodyPr wrap="square" lIns="0" tIns="0" rIns="0" bIns="0" rtlCol="0" anchor="ctr"/>
          <a:lstStyle/>
          <a:p>
            <a:pPr indent="0" marL="0">
              <a:buNone/>
            </a:pPr>
            <a:r>
              <a:rPr lang="en-US" sz="1600" b="1" dirty="0">
                <a:solidFill>
                  <a:srgbClr val="1B1F24"/>
                </a:solidFill>
              </a:rPr>
              <a:t>Look for</a:t>
            </a:r>
            <a:endParaRPr lang="en-US" sz="1600" dirty="0"/>
          </a:p>
        </p:txBody>
      </p:sp>
      <p:sp>
        <p:nvSpPr>
          <p:cNvPr id="6" name="Shape 3"/>
          <p:cNvSpPr/>
          <p:nvPr/>
        </p:nvSpPr>
        <p:spPr>
          <a:xfrm>
            <a:off x="6827520" y="1572768"/>
            <a:ext cx="274320" cy="274320"/>
          </a:xfrm>
          <a:prstGeom prst="ellipse">
            <a:avLst/>
          </a:prstGeom>
          <a:solidFill>
            <a:srgbClr val="1FB68A"/>
          </a:solidFill>
          <a:ln w="12700">
            <a:solidFill>
              <a:srgbClr val="1FB68A"/>
            </a:solidFill>
            <a:prstDash val="solid"/>
          </a:ln>
        </p:spPr>
      </p:sp>
      <p:pic>
        <p:nvPicPr>
          <p:cNvPr id="7" name="Image 1" descr="preencoded.png">    </p:cNvPr>
          <p:cNvPicPr>
            <a:picLocks noChangeAspect="1"/>
          </p:cNvPicPr>
          <p:nvPr/>
        </p:nvPicPr>
        <p:blipFill>
          <a:blip r:embed="rId2"/>
          <a:stretch>
            <a:fillRect/>
          </a:stretch>
        </p:blipFill>
        <p:spPr>
          <a:xfrm>
            <a:off x="6887870" y="1633118"/>
            <a:ext cx="153619" cy="153619"/>
          </a:xfrm>
          <a:prstGeom prst="rect">
            <a:avLst/>
          </a:prstGeom>
        </p:spPr>
      </p:pic>
      <p:sp>
        <p:nvSpPr>
          <p:cNvPr id="8" name="Text 4"/>
          <p:cNvSpPr txBox="1"/>
          <p:nvPr/>
        </p:nvSpPr>
        <p:spPr>
          <a:xfrm>
            <a:off x="7193280" y="1508760"/>
            <a:ext cx="1493520" cy="685800"/>
          </a:xfrm>
          <a:prstGeom prst="rect">
            <a:avLst/>
          </a:prstGeom>
          <a:noFill/>
          <a:ln/>
        </p:spPr>
        <p:txBody>
          <a:bodyPr wrap="square" lIns="0" tIns="0" rIns="0" bIns="0" rtlCol="0" anchor="t"/>
          <a:lstStyle/>
          <a:p>
            <a:pPr indent="0" marL="0">
              <a:buNone/>
            </a:pPr>
            <a:r>
              <a:rPr lang="en-US" sz="1200" dirty="0">
                <a:solidFill>
                  <a:srgbClr val="2B3440"/>
                </a:solidFill>
              </a:rPr>
              <a:t>19 of 19 cards ✓ in our dry run</a:t>
            </a:r>
            <a:endParaRPr lang="en-US" sz="1200" dirty="0"/>
          </a:p>
        </p:txBody>
      </p:sp>
      <p:sp>
        <p:nvSpPr>
          <p:cNvPr id="9" name="Shape 5"/>
          <p:cNvSpPr/>
          <p:nvPr/>
        </p:nvSpPr>
        <p:spPr>
          <a:xfrm>
            <a:off x="6827520" y="2176272"/>
            <a:ext cx="274320" cy="274320"/>
          </a:xfrm>
          <a:prstGeom prst="ellipse">
            <a:avLst/>
          </a:prstGeom>
          <a:solidFill>
            <a:srgbClr val="1FB68A"/>
          </a:solidFill>
          <a:ln w="12700">
            <a:solidFill>
              <a:srgbClr val="1FB68A"/>
            </a:solidFill>
            <a:prstDash val="solid"/>
          </a:ln>
        </p:spPr>
      </p:sp>
      <p:pic>
        <p:nvPicPr>
          <p:cNvPr id="10" name="Image 2" descr="preencoded.png">    </p:cNvPr>
          <p:cNvPicPr>
            <a:picLocks noChangeAspect="1"/>
          </p:cNvPicPr>
          <p:nvPr/>
        </p:nvPicPr>
        <p:blipFill>
          <a:blip r:embed="rId3"/>
          <a:stretch>
            <a:fillRect/>
          </a:stretch>
        </p:blipFill>
        <p:spPr>
          <a:xfrm>
            <a:off x="6887870" y="2236622"/>
            <a:ext cx="153619" cy="153619"/>
          </a:xfrm>
          <a:prstGeom prst="rect">
            <a:avLst/>
          </a:prstGeom>
        </p:spPr>
      </p:pic>
      <p:sp>
        <p:nvSpPr>
          <p:cNvPr id="11" name="Text 6"/>
          <p:cNvSpPr txBox="1"/>
          <p:nvPr/>
        </p:nvSpPr>
        <p:spPr>
          <a:xfrm>
            <a:off x="7193280" y="2112264"/>
            <a:ext cx="1493520" cy="685800"/>
          </a:xfrm>
          <a:prstGeom prst="rect">
            <a:avLst/>
          </a:prstGeom>
          <a:noFill/>
          <a:ln/>
        </p:spPr>
        <p:txBody>
          <a:bodyPr wrap="square" lIns="0" tIns="0" rIns="0" bIns="0" rtlCol="0" anchor="t"/>
          <a:lstStyle/>
          <a:p>
            <a:pPr indent="0" marL="0">
              <a:buNone/>
            </a:pPr>
            <a:r>
              <a:rPr lang="en-US" sz="1200" dirty="0">
                <a:solidFill>
                  <a:srgbClr val="2B3440"/>
                </a:solidFill>
              </a:rPr>
              <a:t>Variables filled: the ids carry over</a:t>
            </a:r>
            <a:endParaRPr lang="en-US" sz="1200" dirty="0"/>
          </a:p>
        </p:txBody>
      </p:sp>
      <p:sp>
        <p:nvSpPr>
          <p:cNvPr id="12" name="Shape 7"/>
          <p:cNvSpPr/>
          <p:nvPr/>
        </p:nvSpPr>
        <p:spPr>
          <a:xfrm>
            <a:off x="6827520" y="2779776"/>
            <a:ext cx="274320" cy="274320"/>
          </a:xfrm>
          <a:prstGeom prst="ellipse">
            <a:avLst/>
          </a:prstGeom>
          <a:solidFill>
            <a:srgbClr val="1FB68A"/>
          </a:solidFill>
          <a:ln w="12700">
            <a:solidFill>
              <a:srgbClr val="1FB68A"/>
            </a:solidFill>
            <a:prstDash val="solid"/>
          </a:ln>
        </p:spPr>
      </p:sp>
      <p:pic>
        <p:nvPicPr>
          <p:cNvPr id="13" name="Image 3" descr="preencoded.png">    </p:cNvPr>
          <p:cNvPicPr>
            <a:picLocks noChangeAspect="1"/>
          </p:cNvPicPr>
          <p:nvPr/>
        </p:nvPicPr>
        <p:blipFill>
          <a:blip r:embed="rId4"/>
          <a:stretch>
            <a:fillRect/>
          </a:stretch>
        </p:blipFill>
        <p:spPr>
          <a:xfrm>
            <a:off x="6887870" y="2840126"/>
            <a:ext cx="153619" cy="153619"/>
          </a:xfrm>
          <a:prstGeom prst="rect">
            <a:avLst/>
          </a:prstGeom>
        </p:spPr>
      </p:pic>
      <p:sp>
        <p:nvSpPr>
          <p:cNvPr id="14" name="Text 8"/>
          <p:cNvSpPr txBox="1"/>
          <p:nvPr/>
        </p:nvSpPr>
        <p:spPr>
          <a:xfrm>
            <a:off x="7193280" y="2715768"/>
            <a:ext cx="1493520" cy="685800"/>
          </a:xfrm>
          <a:prstGeom prst="rect">
            <a:avLst/>
          </a:prstGeom>
          <a:noFill/>
          <a:ln/>
        </p:spPr>
        <p:txBody>
          <a:bodyPr wrap="square" lIns="0" tIns="0" rIns="0" bIns="0" rtlCol="0" anchor="t"/>
          <a:lstStyle/>
          <a:p>
            <a:pPr indent="0" marL="0">
              <a:buNone/>
            </a:pPr>
            <a:r>
              <a:rPr lang="en-US" sz="1200" dirty="0">
                <a:solidFill>
                  <a:srgbClr val="2B3440"/>
                </a:solidFill>
              </a:rPr>
              <a:t>409 and 422 cards ✓ too: the rule said no</a:t>
            </a:r>
            <a:endParaRPr lang="en-US" sz="1200" dirty="0"/>
          </a:p>
        </p:txBody>
      </p:sp>
      <p:sp>
        <p:nvSpPr>
          <p:cNvPr id="15" name="Shape 9"/>
          <p:cNvSpPr/>
          <p:nvPr/>
        </p:nvSpPr>
        <p:spPr>
          <a:xfrm>
            <a:off x="6827520" y="3383280"/>
            <a:ext cx="274320" cy="274320"/>
          </a:xfrm>
          <a:prstGeom prst="ellipse">
            <a:avLst/>
          </a:prstGeom>
          <a:solidFill>
            <a:srgbClr val="1FB68A"/>
          </a:solidFill>
          <a:ln w="12700">
            <a:solidFill>
              <a:srgbClr val="1FB68A"/>
            </a:solidFill>
            <a:prstDash val="solid"/>
          </a:ln>
        </p:spPr>
      </p:sp>
      <p:pic>
        <p:nvPicPr>
          <p:cNvPr id="16" name="Image 4" descr="preencoded.png">    </p:cNvPr>
          <p:cNvPicPr>
            <a:picLocks noChangeAspect="1"/>
          </p:cNvPicPr>
          <p:nvPr/>
        </p:nvPicPr>
        <p:blipFill>
          <a:blip r:embed="rId5"/>
          <a:stretch>
            <a:fillRect/>
          </a:stretch>
        </p:blipFill>
        <p:spPr>
          <a:xfrm>
            <a:off x="6887870" y="3443630"/>
            <a:ext cx="153619" cy="153619"/>
          </a:xfrm>
          <a:prstGeom prst="rect">
            <a:avLst/>
          </a:prstGeom>
        </p:spPr>
      </p:pic>
      <p:sp>
        <p:nvSpPr>
          <p:cNvPr id="17" name="Text 10"/>
          <p:cNvSpPr txBox="1"/>
          <p:nvPr/>
        </p:nvSpPr>
        <p:spPr>
          <a:xfrm>
            <a:off x="7193280" y="3319272"/>
            <a:ext cx="1493520" cy="685800"/>
          </a:xfrm>
          <a:prstGeom prst="rect">
            <a:avLst/>
          </a:prstGeom>
          <a:noFill/>
          <a:ln/>
        </p:spPr>
        <p:txBody>
          <a:bodyPr wrap="square" lIns="0" tIns="0" rIns="0" bIns="0" rtlCol="0" anchor="t"/>
          <a:lstStyle/>
          <a:p>
            <a:pPr indent="0" marL="0">
              <a:buNone/>
            </a:pPr>
            <a:r>
              <a:rPr lang="en-US" sz="1200" dirty="0">
                <a:solidFill>
                  <a:srgbClr val="2B3440"/>
                </a:solidFill>
              </a:rPr>
              <a:t>Red in DevTools for those: expected</a:t>
            </a:r>
            <a:endParaRPr lang="en-US" sz="1200" dirty="0"/>
          </a:p>
        </p:txBody>
      </p:sp>
      <p:sp>
        <p:nvSpPr>
          <p:cNvPr id="18" name="Shape 11"/>
          <p:cNvSpPr/>
          <p:nvPr/>
        </p:nvSpPr>
        <p:spPr>
          <a:xfrm>
            <a:off x="6827520" y="3986784"/>
            <a:ext cx="274320" cy="274320"/>
          </a:xfrm>
          <a:prstGeom prst="ellipse">
            <a:avLst/>
          </a:prstGeom>
          <a:solidFill>
            <a:srgbClr val="1FB68A"/>
          </a:solidFill>
          <a:ln w="12700">
            <a:solidFill>
              <a:srgbClr val="1FB68A"/>
            </a:solidFill>
            <a:prstDash val="solid"/>
          </a:ln>
        </p:spPr>
      </p:sp>
      <p:pic>
        <p:nvPicPr>
          <p:cNvPr id="19" name="Image 5" descr="preencoded.png">    </p:cNvPr>
          <p:cNvPicPr>
            <a:picLocks noChangeAspect="1"/>
          </p:cNvPicPr>
          <p:nvPr/>
        </p:nvPicPr>
        <p:blipFill>
          <a:blip r:embed="rId6"/>
          <a:stretch>
            <a:fillRect/>
          </a:stretch>
        </p:blipFill>
        <p:spPr>
          <a:xfrm>
            <a:off x="6887870" y="4047134"/>
            <a:ext cx="153619" cy="153619"/>
          </a:xfrm>
          <a:prstGeom prst="rect">
            <a:avLst/>
          </a:prstGeom>
        </p:spPr>
      </p:pic>
      <p:sp>
        <p:nvSpPr>
          <p:cNvPr id="20" name="Text 12"/>
          <p:cNvSpPr txBox="1"/>
          <p:nvPr/>
        </p:nvSpPr>
        <p:spPr>
          <a:xfrm>
            <a:off x="7193280" y="3922776"/>
            <a:ext cx="1493520" cy="685800"/>
          </a:xfrm>
          <a:prstGeom prst="rect">
            <a:avLst/>
          </a:prstGeom>
          <a:noFill/>
          <a:ln/>
        </p:spPr>
        <p:txBody>
          <a:bodyPr wrap="square" lIns="0" tIns="0" rIns="0" bIns="0" rtlCol="0" anchor="t"/>
          <a:lstStyle/>
          <a:p>
            <a:pPr indent="0" marL="0">
              <a:buNone/>
            </a:pPr>
            <a:r>
              <a:rPr lang="en-US" sz="1200" dirty="0">
                <a:solidFill>
                  <a:srgbClr val="2B3440"/>
                </a:solidFill>
              </a:rPr>
              <a:t>List users shows the 25 seeded users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(base: 20 unit, 5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43 passed (43)</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49 passed (49)</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npm run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/playground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npm run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Zod 4 runs the transform after a failed datetime check. Guard it; the scaffold skill lists the trap.</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queries and changes the database; you connect it to Claude Desktop and have Claude read and write your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15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MCP next to REST: a second front door</a:t>
            </a:r>
            <a:endParaRPr lang="en-US" sz="3200" dirty="0"/>
          </a:p>
        </p:txBody>
      </p:sp>
      <p:sp>
        <p:nvSpPr>
          <p:cNvPr id="3" name="Text 1"/>
          <p:cNvSpPr txBox="1"/>
          <p:nvPr/>
        </p:nvSpPr>
        <p:spPr>
          <a:xfrm>
            <a:off x="457200" y="914400"/>
            <a:ext cx="2743200" cy="274320"/>
          </a:xfrm>
          <a:prstGeom prst="rect">
            <a:avLst/>
          </a:prstGeom>
          <a:noFill/>
          <a:ln/>
        </p:spPr>
        <p:txBody>
          <a:bodyPr wrap="square" lIns="0" tIns="0" rIns="0" bIns="0" rtlCol="0" anchor="ctr"/>
          <a:lstStyle/>
          <a:p>
            <a:pPr indent="0" marL="0">
              <a:buNone/>
            </a:pPr>
            <a:r>
              <a:rPr lang="en-US" sz="1200" b="1" dirty="0">
                <a:solidFill>
                  <a:srgbClr val="1B1F24"/>
                </a:solidFill>
              </a:rPr>
              <a:t>REST · module 1</a:t>
            </a:r>
            <a:endParaRPr lang="en-US" sz="1200" dirty="0"/>
          </a:p>
        </p:txBody>
      </p:sp>
      <p:sp>
        <p:nvSpPr>
          <p:cNvPr id="4" name="Text 2"/>
          <p:cNvSpPr txBox="1"/>
          <p:nvPr/>
        </p:nvSpPr>
        <p:spPr>
          <a:xfrm>
            <a:off x="5943600" y="914400"/>
            <a:ext cx="2743200" cy="274320"/>
          </a:xfrm>
          <a:prstGeom prst="rect">
            <a:avLst/>
          </a:prstGeom>
          <a:noFill/>
          <a:ln/>
        </p:spPr>
        <p:txBody>
          <a:bodyPr wrap="square" lIns="0" tIns="0" rIns="0" bIns="0" rtlCol="0" anchor="ctr"/>
          <a:lstStyle/>
          <a:p>
            <a:pPr algn="r" indent="0" marL="0">
              <a:buNone/>
            </a:pPr>
            <a:r>
              <a:rPr lang="en-US" sz="1200" b="1" dirty="0">
                <a:solidFill>
                  <a:srgbClr val="1B1F24"/>
                </a:solidFill>
              </a:rPr>
              <a:t>MCP · module 2</a:t>
            </a:r>
            <a:endParaRPr lang="en-US" sz="1200" dirty="0"/>
          </a:p>
        </p:txBody>
      </p:sp>
      <p:sp>
        <p:nvSpPr>
          <p:cNvPr id="5" name="rest-client"/>
          <p:cNvSpPr/>
          <p:nvPr/>
        </p:nvSpPr>
        <p:spPr>
          <a:xfrm>
            <a:off x="457200" y="1234440"/>
            <a:ext cx="2743200" cy="502920"/>
          </a:xfrm>
          <a:prstGeom prst="roundRect">
            <a:avLst>
              <a:gd name="adj" fmla="val 18182"/>
            </a:avLst>
          </a:prstGeom>
          <a:solidFill>
            <a:srgbClr val="1B1F24"/>
          </a:solidFill>
          <a:ln w="12700">
            <a:solidFill>
              <a:srgbClr val="1B1F24"/>
            </a:solidFill>
            <a:prstDash val="solid"/>
          </a:ln>
        </p:spPr>
      </p:sp>
      <p:sp>
        <p:nvSpPr>
          <p:cNvPr id="6" name="Text 4"/>
          <p:cNvSpPr txBox="1"/>
          <p:nvPr/>
        </p:nvSpPr>
        <p:spPr>
          <a:xfrm>
            <a:off x="4572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Browser · /playground</a:t>
            </a:r>
            <a:endParaRPr lang="en-US" sz="1400" dirty="0"/>
          </a:p>
        </p:txBody>
      </p:sp>
      <p:sp>
        <p:nvSpPr>
          <p:cNvPr id="7" name="mcp-client"/>
          <p:cNvSpPr/>
          <p:nvPr/>
        </p:nvSpPr>
        <p:spPr>
          <a:xfrm>
            <a:off x="5943600" y="1234440"/>
            <a:ext cx="2743200" cy="502920"/>
          </a:xfrm>
          <a:prstGeom prst="roundRect">
            <a:avLst>
              <a:gd name="adj" fmla="val 18182"/>
            </a:avLst>
          </a:prstGeom>
          <a:solidFill>
            <a:srgbClr val="1B1F24"/>
          </a:solidFill>
          <a:ln w="12700">
            <a:solidFill>
              <a:srgbClr val="1B1F24"/>
            </a:solidFill>
            <a:prstDash val="solid"/>
          </a:ln>
        </p:spPr>
      </p:sp>
      <p:sp>
        <p:nvSpPr>
          <p:cNvPr id="8" name="Text 6"/>
          <p:cNvSpPr txBox="1"/>
          <p:nvPr/>
        </p:nvSpPr>
        <p:spPr>
          <a:xfrm>
            <a:off x="5943600" y="1234440"/>
            <a:ext cx="2743200" cy="50292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Claude Desktop</a:t>
            </a:r>
            <a:endParaRPr lang="en-US" sz="1400" dirty="0"/>
          </a:p>
        </p:txBody>
      </p:sp>
      <p:sp>
        <p:nvSpPr>
          <p:cNvPr id="9" name="Shape 7"/>
          <p:cNvSpPr/>
          <p:nvPr/>
        </p:nvSpPr>
        <p:spPr>
          <a:xfrm>
            <a:off x="1828800" y="1764792"/>
            <a:ext cx="0" cy="475488"/>
          </a:xfrm>
          <a:prstGeom prst="line">
            <a:avLst/>
          </a:prstGeom>
          <a:noFill/>
          <a:ln w="25400">
            <a:solidFill>
              <a:srgbClr val="64748B"/>
            </a:solidFill>
            <a:prstDash val="solid"/>
            <a:tailEnd type="triangle"/>
          </a:ln>
        </p:spPr>
      </p:sp>
      <p:sp>
        <p:nvSpPr>
          <p:cNvPr id="10" name="Text 8"/>
          <p:cNvSpPr txBox="1"/>
          <p:nvPr/>
        </p:nvSpPr>
        <p:spPr>
          <a:xfrm>
            <a:off x="1965960" y="1810512"/>
            <a:ext cx="1463040" cy="411480"/>
          </a:xfrm>
          <a:prstGeom prst="rect">
            <a:avLst/>
          </a:prstGeom>
          <a:noFill/>
          <a:ln/>
        </p:spPr>
        <p:txBody>
          <a:bodyPr wrap="square" lIns="0" tIns="0" rIns="0" bIns="0" rtlCol="0" anchor="ctr"/>
          <a:lstStyle/>
          <a:p>
            <a:pPr indent="0" marL="0">
              <a:buNone/>
            </a:pPr>
            <a:r>
              <a:rPr lang="en-US" sz="1000" dirty="0">
                <a:solidFill>
                  <a:srgbClr val="2B3440"/>
                </a:solidFill>
              </a:rPr>
              <a:t>HTTP: GET /api/v1/notes</a:t>
            </a:r>
            <a:endParaRPr lang="en-US" sz="1000" dirty="0"/>
          </a:p>
        </p:txBody>
      </p:sp>
      <p:sp>
        <p:nvSpPr>
          <p:cNvPr id="11" name="Shape 9"/>
          <p:cNvSpPr/>
          <p:nvPr/>
        </p:nvSpPr>
        <p:spPr>
          <a:xfrm>
            <a:off x="7315200" y="1764792"/>
            <a:ext cx="0" cy="475488"/>
          </a:xfrm>
          <a:prstGeom prst="line">
            <a:avLst/>
          </a:prstGeom>
          <a:noFill/>
          <a:ln w="25400">
            <a:solidFill>
              <a:srgbClr val="64748B"/>
            </a:solidFill>
            <a:prstDash val="solid"/>
            <a:tailEnd type="triangle"/>
          </a:ln>
        </p:spPr>
      </p:sp>
      <p:sp>
        <p:nvSpPr>
          <p:cNvPr id="12" name="Text 10"/>
          <p:cNvSpPr txBox="1"/>
          <p:nvPr/>
        </p:nvSpPr>
        <p:spPr>
          <a:xfrm>
            <a:off x="5394960" y="1810512"/>
            <a:ext cx="1783080" cy="411480"/>
          </a:xfrm>
          <a:prstGeom prst="rect">
            <a:avLst/>
          </a:prstGeom>
          <a:noFill/>
          <a:ln/>
        </p:spPr>
        <p:txBody>
          <a:bodyPr wrap="square" lIns="0" tIns="0" rIns="0" bIns="0" rtlCol="0" anchor="ctr"/>
          <a:lstStyle/>
          <a:p>
            <a:pPr algn="r" indent="0" marL="0">
              <a:buNone/>
            </a:pPr>
            <a:r>
              <a:rPr lang="en-US" sz="1000" dirty="0">
                <a:solidFill>
                  <a:srgbClr val="2B3440"/>
                </a:solidFill>
              </a:rPr>
              <a:t>JSON-RPC over stdio: tools/call</a:t>
            </a:r>
            <a:endParaRPr lang="en-US" sz="1000" dirty="0"/>
          </a:p>
        </p:txBody>
      </p:sp>
      <p:sp>
        <p:nvSpPr>
          <p:cNvPr id="13" name="controller"/>
          <p:cNvSpPr/>
          <p:nvPr/>
        </p:nvSpPr>
        <p:spPr>
          <a:xfrm>
            <a:off x="457200" y="2286000"/>
            <a:ext cx="2743200" cy="594360"/>
          </a:xfrm>
          <a:prstGeom prst="roundRect">
            <a:avLst>
              <a:gd name="adj" fmla="val 15385"/>
            </a:avLst>
          </a:prstGeom>
          <a:solidFill>
            <a:srgbClr val="1FB68A"/>
          </a:solidFill>
          <a:ln w="12700">
            <a:solidFill>
              <a:srgbClr val="1FB68A"/>
            </a:solidFill>
            <a:prstDash val="solid"/>
          </a:ln>
        </p:spPr>
      </p:sp>
      <p:sp>
        <p:nvSpPr>
          <p:cNvPr id="14" name="Text 12"/>
          <p:cNvSpPr txBox="1"/>
          <p:nvPr/>
        </p:nvSpPr>
        <p:spPr>
          <a:xfrm>
            <a:off x="4572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Controller (routes)</a:t>
            </a:r>
            <a:endParaRPr lang="en-US" sz="1500" dirty="0"/>
          </a:p>
        </p:txBody>
      </p:sp>
      <p:sp>
        <p:nvSpPr>
          <p:cNvPr id="15" name="mcp-tools"/>
          <p:cNvSpPr/>
          <p:nvPr/>
        </p:nvSpPr>
        <p:spPr>
          <a:xfrm>
            <a:off x="5943600" y="2286000"/>
            <a:ext cx="2743200" cy="594360"/>
          </a:xfrm>
          <a:prstGeom prst="roundRect">
            <a:avLst>
              <a:gd name="adj" fmla="val 15385"/>
            </a:avLst>
          </a:prstGeom>
          <a:solidFill>
            <a:srgbClr val="E69A28"/>
          </a:solidFill>
          <a:ln w="12700">
            <a:solidFill>
              <a:srgbClr val="E69A28"/>
            </a:solidFill>
            <a:prstDash val="solid"/>
          </a:ln>
        </p:spPr>
      </p:sp>
      <p:sp>
        <p:nvSpPr>
          <p:cNvPr id="16" name="Text 14"/>
          <p:cNvSpPr txBox="1"/>
          <p:nvPr/>
        </p:nvSpPr>
        <p:spPr>
          <a:xfrm>
            <a:off x="5943600" y="2286000"/>
            <a:ext cx="2743200" cy="59436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MCP server (tools)</a:t>
            </a:r>
            <a:endParaRPr lang="en-US" sz="1500" dirty="0"/>
          </a:p>
        </p:txBody>
      </p:sp>
      <p:sp>
        <p:nvSpPr>
          <p:cNvPr id="17" name="Shape 15"/>
          <p:cNvSpPr/>
          <p:nvPr/>
        </p:nvSpPr>
        <p:spPr>
          <a:xfrm>
            <a:off x="1828800" y="2907792"/>
            <a:ext cx="1828800" cy="338328"/>
          </a:xfrm>
          <a:prstGeom prst="line">
            <a:avLst/>
          </a:prstGeom>
          <a:noFill/>
          <a:ln w="25400">
            <a:solidFill>
              <a:srgbClr val="64748B"/>
            </a:solidFill>
            <a:prstDash val="solid"/>
            <a:tailEnd type="triangle"/>
          </a:ln>
        </p:spPr>
      </p:sp>
      <p:sp>
        <p:nvSpPr>
          <p:cNvPr id="18" name="Shape 16"/>
          <p:cNvSpPr/>
          <p:nvPr/>
        </p:nvSpPr>
        <p:spPr>
          <a:xfrm flipH="1">
            <a:off x="5486400" y="2907792"/>
            <a:ext cx="1828800" cy="338328"/>
          </a:xfrm>
          <a:prstGeom prst="line">
            <a:avLst/>
          </a:prstGeom>
          <a:noFill/>
          <a:ln w="25400">
            <a:solidFill>
              <a:srgbClr val="64748B"/>
            </a:solidFill>
            <a:prstDash val="solid"/>
            <a:tailEnd type="triangle"/>
          </a:ln>
        </p:spPr>
      </p:sp>
      <p:sp>
        <p:nvSpPr>
          <p:cNvPr id="19" name="services"/>
          <p:cNvSpPr/>
          <p:nvPr/>
        </p:nvSpPr>
        <p:spPr>
          <a:xfrm>
            <a:off x="2743200" y="3246120"/>
            <a:ext cx="3657600" cy="548640"/>
          </a:xfrm>
          <a:prstGeom prst="roundRect">
            <a:avLst>
              <a:gd name="adj" fmla="val 16667"/>
            </a:avLst>
          </a:prstGeom>
          <a:solidFill>
            <a:srgbClr val="1FB68A"/>
          </a:solidFill>
          <a:ln w="12700">
            <a:solidFill>
              <a:srgbClr val="1FB68A"/>
            </a:solidFill>
            <a:prstDash val="solid"/>
          </a:ln>
        </p:spPr>
      </p:sp>
      <p:sp>
        <p:nvSpPr>
          <p:cNvPr id="20" name="Text 18"/>
          <p:cNvSpPr txBox="1"/>
          <p:nvPr/>
        </p:nvSpPr>
        <p:spPr>
          <a:xfrm>
            <a:off x="2743200" y="3246120"/>
            <a:ext cx="3657600" cy="5486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Services: the rules (module 1)</a:t>
            </a:r>
            <a:endParaRPr lang="en-US" sz="1500" dirty="0"/>
          </a:p>
        </p:txBody>
      </p:sp>
      <p:sp>
        <p:nvSpPr>
          <p:cNvPr id="21" name="Shape 19"/>
          <p:cNvSpPr/>
          <p:nvPr/>
        </p:nvSpPr>
        <p:spPr>
          <a:xfrm>
            <a:off x="4572000" y="3813048"/>
            <a:ext cx="0" cy="274320"/>
          </a:xfrm>
          <a:prstGeom prst="line">
            <a:avLst/>
          </a:prstGeom>
          <a:noFill/>
          <a:ln w="25400">
            <a:solidFill>
              <a:srgbClr val="64748B"/>
            </a:solidFill>
            <a:prstDash val="solid"/>
            <a:tailEnd type="triangle"/>
          </a:ln>
        </p:spPr>
      </p:sp>
      <p:sp>
        <p:nvSpPr>
          <p:cNvPr id="22" name="database"/>
          <p:cNvSpPr/>
          <p:nvPr/>
        </p:nvSpPr>
        <p:spPr>
          <a:xfrm>
            <a:off x="2743200" y="4114800"/>
            <a:ext cx="3657600" cy="457200"/>
          </a:xfrm>
          <a:prstGeom prst="roundRect">
            <a:avLst>
              <a:gd name="adj" fmla="val 20000"/>
            </a:avLst>
          </a:prstGeom>
          <a:solidFill>
            <a:srgbClr val="1B1F24"/>
          </a:solidFill>
          <a:ln w="12700">
            <a:solidFill>
              <a:srgbClr val="1B1F24"/>
            </a:solidFill>
            <a:prstDash val="solid"/>
          </a:ln>
        </p:spPr>
      </p:sp>
      <p:sp>
        <p:nvSpPr>
          <p:cNvPr id="23" name="Text 21"/>
          <p:cNvSpPr txBox="1"/>
          <p:nvPr/>
        </p:nvSpPr>
        <p:spPr>
          <a:xfrm>
            <a:off x="2743200" y="4114800"/>
            <a:ext cx="3657600" cy="457200"/>
          </a:xfrm>
          <a:prstGeom prst="rect">
            <a:avLst/>
          </a:prstGeom>
          <a:noFill/>
          <a:ln/>
        </p:spPr>
        <p:txBody>
          <a:bodyPr wrap="square" lIns="25400" tIns="25400" rIns="25400" bIns="25400" rtlCol="0" anchor="ctr"/>
          <a:lstStyle/>
          <a:p>
            <a:pPr algn="ctr" indent="0" marL="0">
              <a:buNone/>
            </a:pPr>
            <a:r>
              <a:rPr lang="en-US" sz="1400" b="1" dirty="0">
                <a:solidFill>
                  <a:srgbClr val="FFFFFF"/>
                </a:solidFill>
              </a:rPr>
              <a:t>Repository → data/app.db</a:t>
            </a:r>
            <a:endParaRPr lang="en-US" sz="1400" dirty="0"/>
          </a:p>
        </p:txBody>
      </p:sp>
      <p:sp>
        <p:nvSpPr>
          <p:cNvPr id="24" name="Shape 22"/>
          <p:cNvSpPr/>
          <p:nvPr/>
        </p:nvSpPr>
        <p:spPr>
          <a:xfrm>
            <a:off x="8412480" y="2907792"/>
            <a:ext cx="0" cy="1435608"/>
          </a:xfrm>
          <a:prstGeom prst="line">
            <a:avLst/>
          </a:prstGeom>
          <a:noFill/>
          <a:ln w="19050">
            <a:solidFill>
              <a:srgbClr val="E69A28"/>
            </a:solidFill>
            <a:prstDash val="dash"/>
          </a:ln>
        </p:spPr>
      </p:sp>
      <p:sp>
        <p:nvSpPr>
          <p:cNvPr id="25" name="Shape 23"/>
          <p:cNvSpPr/>
          <p:nvPr/>
        </p:nvSpPr>
        <p:spPr>
          <a:xfrm flipH="1">
            <a:off x="6428232" y="4343400"/>
            <a:ext cx="1984248" cy="0"/>
          </a:xfrm>
          <a:prstGeom prst="line">
            <a:avLst/>
          </a:prstGeom>
          <a:noFill/>
          <a:ln w="19050">
            <a:solidFill>
              <a:srgbClr val="E69A28"/>
            </a:solidFill>
            <a:prstDash val="dash"/>
            <a:tailEnd type="triangle"/>
          </a:ln>
        </p:spPr>
      </p:sp>
      <p:sp>
        <p:nvSpPr>
          <p:cNvPr id="26" name="Text 24"/>
          <p:cNvSpPr txBox="1"/>
          <p:nvPr/>
        </p:nvSpPr>
        <p:spPr>
          <a:xfrm>
            <a:off x="6583680" y="3246120"/>
            <a:ext cx="1737360" cy="548640"/>
          </a:xfrm>
          <a:prstGeom prst="rect">
            <a:avLst/>
          </a:prstGeom>
          <a:noFill/>
          <a:ln/>
        </p:spPr>
        <p:txBody>
          <a:bodyPr wrap="square" lIns="0" tIns="0" rIns="0" bIns="0" rtlCol="0" anchor="ctr"/>
          <a:lstStyle/>
          <a:p>
            <a:pPr indent="0" marL="0">
              <a:buNone/>
            </a:pPr>
            <a:r>
              <a:rPr lang="en-US" sz="1000" dirty="0">
                <a:solidFill>
                  <a:srgbClr val="2B3440"/>
                </a:solidFill>
              </a:rPr>
              <a:t>query · execute: SQL straight to the database, guarded by the server</a:t>
            </a:r>
            <a:endParaRPr lang="en-US" sz="1000" dirty="0"/>
          </a:p>
        </p:txBody>
      </p:sp>
      <p:sp>
        <p:nvSpPr>
          <p:cNvPr id="27" name="Text 25"/>
          <p:cNvSpPr txBox="1"/>
          <p:nvPr/>
        </p:nvSpPr>
        <p:spPr>
          <a:xfrm>
            <a:off x="457200" y="3291840"/>
            <a:ext cx="2148840" cy="1280160"/>
          </a:xfrm>
          <a:prstGeom prst="rect">
            <a:avLst/>
          </a:prstGeom>
          <a:noFill/>
          <a:ln/>
        </p:spPr>
        <p:txBody>
          <a:bodyPr wrap="square" lIns="0" tIns="0" rIns="0" bIns="0" rtlCol="0" anchor="ctr"/>
          <a:lstStyle/>
          <a:p>
            <a:pPr indent="0" marL="0">
              <a:buNone/>
            </a:pPr>
            <a:r>
              <a:rPr lang="en-US" sz="1000" dirty="0">
                <a:solidFill>
                  <a:srgbClr val="2B3440"/>
                </a:solidFill>
              </a:rPr>
              <a:t>Same services, same rules: MCP replaces the controller, not the app. MCP messages are JSON-RPC; the transport is stdio here (Claude Desktop starts the server) or Streamable HTTP for a remote server.</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queries and changes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npm run lab 02 and 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run verify are green; then show me how to connect it to</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Claude Desktop, one question I could ask it and one change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I could ask it to make.</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typed write tools call the module 1 services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and execute each guarded in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npm run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lab 02       # the lab check: all green?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npm run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"Add a user Ada, ada@example.com, with</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a note due next Friday"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npm run verify; npm run lab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46 passed (46) · 58 passed (58)</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31 passed (31)</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create-user · create-note · share-note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execute update … where id = … → 1 row</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execute: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NOT_ALLOWED: DELETE without a WHERE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npm run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query refuses a write, execute an unbounded one</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and makes a change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PRAGMA query_only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execute runs any SQL it is given</a:t>
            </a:r>
            <a:endParaRPr lang="en-US" sz="1600" dirty="0"/>
          </a:p>
          <a:p>
            <a:pPr indent="0" marL="0">
              <a:buNone/>
            </a:pPr>
            <a:r>
              <a:rPr lang="en-US" sz="1400" dirty="0">
                <a:solidFill>
                  <a:srgbClr val="2B3440"/>
                </a:solidFill>
              </a:rPr>
              <a:t>One statement, INSERT/UPDATE/DELETE only, a WHERE on UPDATE and DELETE. Ask for a test per refusal.</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2026-10-27T06:46:37Z</dcterms:created>
  <dcterms:modified xsi:type="dcterms:W3CDTF">2026-10-27T06:46:37Z</dcterms:modified>
</cp:coreProperties>
</file>