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Nobody needs curl: the playground page sends the requests.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ships .env.example: the variable names and safe defaults, never a secret. Each learner copies it to .env, which git ignores, so local changes such as a different PORT never get committed. Do it before starting Claude Code, so the agent finds it already in place: npm start, npm run db:migrate and the module 2 server (npm run mcp) read .env, whichever of you runs them. The tests and lab checks deliberately never read it: they use an empty in-memory database, so they cannot touch data/app.db. Without .env the app still serves data/app.db in development, but a changed port has nowhere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first: verify and the lab check run on an empty in-memory database, so a green result there is the proof the code works. Only then start the app and open the playground: it sends every module 1 request to the running app with one click and shows each answer, proving the resources also serve the seeded rows. Nobody needs curl. The playground writes to data/app.db;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in a dry run of the previous slide, in Chromium at 1280x720: base plus the module 1 checkpoint and no .env, verify 44 unit / 49 e2e, lab 01 15/15, then Run all in order: 19 of 19 cards green, no page errors, List users showing the 25 seeded users. With DevTools open the two 409 and three 422 requests show in red as failed loads; that is expected, they are the rule checks. If port 3000 is taken, npm start prints "successfully started" and THEN fails: the last line says the port is in use. Set PORT in .env and use that port in the URL. A missing .env does not matter: in development the app uses data/app.db by default. npm run db:seed puts the data back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Before you start: your local .env</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8B98A5"/>
                </a:solidFill>
                <a:latin typeface="Courier New" pitchFamily="34" charset="0"/>
                <a:ea typeface="Courier New" pitchFamily="34" charset="-122"/>
                <a:cs typeface="Courier New" pitchFamily="34" charset="-120"/>
              </a:rPr>
              <a:t># in boilerplate\nest-ai-starter, BEFORE you start Claude Code</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Copy-Item .env.example .env</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.env = your local settings: PORT, DATABASE_URL</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git ignores it, so it stays on your machine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the app reads it on start: you and your agent</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run it with the same settings (tests never do)</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port 3000 taken? change PORT in .env</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21 unit, 5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passes script flags after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100" dirty="0">
                <a:solidFill>
                  <a:srgbClr val="8B98A5"/>
                </a:solidFill>
                <a:latin typeface="Courier New" pitchFamily="34" charset="0"/>
                <a:ea typeface="Courier New" pitchFamily="34" charset="-122"/>
                <a:cs typeface="Courier New" pitchFamily="34" charset="-120"/>
              </a:rPr>
              <a:t># 1. the tests first</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verify       # read both Tests lines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lab 01       # the lab check: all green?</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2. then the app on the seeded data</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(port taken? the last line says so: PORT= in .env)</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build</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start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3. open localhost:3000/playground (or your PORT)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and click Run all in order</a:t>
            </a:r>
            <a:endParaRPr lang="en-US" sz="11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Mark done</a:t>
            </a:r>
            <a:endParaRPr lang="en-US" sz="1300" dirty="0"/>
          </a:p>
          <a:p>
            <a:pPr indent="0" marL="0">
              <a:buNone/>
            </a:pPr>
            <a:r>
              <a:rPr lang="en-US" sz="1300" dirty="0">
                <a:solidFill>
                  <a:srgbClr val="FFFFFF"/>
                </a:solidFill>
              </a:rPr>
              <a:t>6. Edit a done note → 422 (R2)</a:t>
            </a:r>
            <a:endParaRPr lang="en-US" sz="1300" dirty="0"/>
          </a:p>
          <a:p>
            <a:pPr indent="0" marL="0">
              <a:buNone/>
            </a:pPr>
            <a:r>
              <a:rPr lang="en-US" sz="1300" dirty="0">
                <a:solidFill>
                  <a:srgbClr val="FFFFFF"/>
                </a:solidFill>
              </a:rPr>
              <a:t>7.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What to expect: the playground after Run all</a:t>
            </a:r>
            <a:endParaRPr lang="en-US" sz="3200" dirty="0"/>
          </a:p>
        </p:txBody>
      </p:sp>
      <p:sp>
        <p:nvSpPr>
          <p:cNvPr id="3" name="Shape 1"/>
          <p:cNvSpPr/>
          <p:nvPr/>
        </p:nvSpPr>
        <p:spPr>
          <a:xfrm>
            <a:off x="429768" y="1069848"/>
            <a:ext cx="6150864" cy="3483864"/>
          </a:xfrm>
          <a:prstGeom prst="rect">
            <a:avLst/>
          </a:prstGeom>
          <a:solidFill>
            <a:srgbClr val="CBD5E1"/>
          </a:solidFill>
          <a:ln w="12700">
            <a:solidFill>
              <a:srgbClr val="CBD5E1"/>
            </a:solidFill>
            <a:prstDash val="solid"/>
          </a:ln>
        </p:spPr>
      </p:sp>
      <p:pic>
        <p:nvPicPr>
          <p:cNvPr id="4" name="Image 0" descr="The playground after Run all in order: the four variables filled, Health and List users answered 200 with a check mark.">    </p:cNvPr>
          <p:cNvPicPr>
            <a:picLocks noChangeAspect="1"/>
          </p:cNvPicPr>
          <p:nvPr/>
        </p:nvPicPr>
        <p:blipFill>
          <a:blip r:embed="rId1"/>
          <a:stretch>
            <a:fillRect/>
          </a:stretch>
        </p:blipFill>
        <p:spPr>
          <a:xfrm>
            <a:off x="457200" y="1097280"/>
            <a:ext cx="6096000" cy="3429000"/>
          </a:xfrm>
          <a:prstGeom prst="rect">
            <a:avLst/>
          </a:prstGeom>
        </p:spPr>
      </p:pic>
      <p:sp>
        <p:nvSpPr>
          <p:cNvPr id="5" name="Text 2"/>
          <p:cNvSpPr txBox="1"/>
          <p:nvPr/>
        </p:nvSpPr>
        <p:spPr>
          <a:xfrm>
            <a:off x="6827520" y="1097280"/>
            <a:ext cx="1859280" cy="365760"/>
          </a:xfrm>
          <a:prstGeom prst="rect">
            <a:avLst/>
          </a:prstGeom>
          <a:noFill/>
          <a:ln/>
        </p:spPr>
        <p:txBody>
          <a:bodyPr wrap="square" lIns="0" tIns="0" rIns="0" bIns="0" rtlCol="0" anchor="ctr"/>
          <a:lstStyle/>
          <a:p>
            <a:pPr indent="0" marL="0">
              <a:buNone/>
            </a:pPr>
            <a:r>
              <a:rPr lang="en-US" sz="1600" b="1" dirty="0">
                <a:solidFill>
                  <a:srgbClr val="1B1F24"/>
                </a:solidFill>
              </a:rPr>
              <a:t>Look for</a:t>
            </a:r>
            <a:endParaRPr lang="en-US" sz="1600" dirty="0"/>
          </a:p>
        </p:txBody>
      </p:sp>
      <p:sp>
        <p:nvSpPr>
          <p:cNvPr id="6" name="Shape 3"/>
          <p:cNvSpPr/>
          <p:nvPr/>
        </p:nvSpPr>
        <p:spPr>
          <a:xfrm>
            <a:off x="6827520" y="1572768"/>
            <a:ext cx="274320" cy="274320"/>
          </a:xfrm>
          <a:prstGeom prst="ellipse">
            <a:avLst/>
          </a:prstGeom>
          <a:solidFill>
            <a:srgbClr val="1FB68A"/>
          </a:solidFill>
          <a:ln w="12700">
            <a:solidFill>
              <a:srgbClr val="1FB68A"/>
            </a:solidFill>
            <a:prstDash val="solid"/>
          </a:ln>
        </p:spPr>
      </p:sp>
      <p:pic>
        <p:nvPicPr>
          <p:cNvPr id="7" name="Image 1" descr="preencoded.png">    </p:cNvPr>
          <p:cNvPicPr>
            <a:picLocks noChangeAspect="1"/>
          </p:cNvPicPr>
          <p:nvPr/>
        </p:nvPicPr>
        <p:blipFill>
          <a:blip r:embed="rId2"/>
          <a:stretch>
            <a:fillRect/>
          </a:stretch>
        </p:blipFill>
        <p:spPr>
          <a:xfrm>
            <a:off x="6887870" y="1633118"/>
            <a:ext cx="153619" cy="153619"/>
          </a:xfrm>
          <a:prstGeom prst="rect">
            <a:avLst/>
          </a:prstGeom>
        </p:spPr>
      </p:pic>
      <p:sp>
        <p:nvSpPr>
          <p:cNvPr id="8" name="Text 4"/>
          <p:cNvSpPr txBox="1"/>
          <p:nvPr/>
        </p:nvSpPr>
        <p:spPr>
          <a:xfrm>
            <a:off x="7193280" y="1508760"/>
            <a:ext cx="1493520" cy="685800"/>
          </a:xfrm>
          <a:prstGeom prst="rect">
            <a:avLst/>
          </a:prstGeom>
          <a:noFill/>
          <a:ln/>
        </p:spPr>
        <p:txBody>
          <a:bodyPr wrap="square" lIns="0" tIns="0" rIns="0" bIns="0" rtlCol="0" anchor="t"/>
          <a:lstStyle/>
          <a:p>
            <a:pPr indent="0" marL="0">
              <a:buNone/>
            </a:pPr>
            <a:r>
              <a:rPr lang="en-US" sz="1200" dirty="0">
                <a:solidFill>
                  <a:srgbClr val="2B3440"/>
                </a:solidFill>
              </a:rPr>
              <a:t>19 of 19 cards ✓ in our dry run</a:t>
            </a:r>
            <a:endParaRPr lang="en-US" sz="1200" dirty="0"/>
          </a:p>
        </p:txBody>
      </p:sp>
      <p:sp>
        <p:nvSpPr>
          <p:cNvPr id="9" name="Shape 5"/>
          <p:cNvSpPr/>
          <p:nvPr/>
        </p:nvSpPr>
        <p:spPr>
          <a:xfrm>
            <a:off x="6827520" y="2176272"/>
            <a:ext cx="274320" cy="274320"/>
          </a:xfrm>
          <a:prstGeom prst="ellipse">
            <a:avLst/>
          </a:prstGeom>
          <a:solidFill>
            <a:srgbClr val="1FB68A"/>
          </a:solidFill>
          <a:ln w="12700">
            <a:solidFill>
              <a:srgbClr val="1FB68A"/>
            </a:solidFill>
            <a:prstDash val="solid"/>
          </a:ln>
        </p:spPr>
      </p:sp>
      <p:pic>
        <p:nvPicPr>
          <p:cNvPr id="10" name="Image 2" descr="preencoded.png">    </p:cNvPr>
          <p:cNvPicPr>
            <a:picLocks noChangeAspect="1"/>
          </p:cNvPicPr>
          <p:nvPr/>
        </p:nvPicPr>
        <p:blipFill>
          <a:blip r:embed="rId3"/>
          <a:stretch>
            <a:fillRect/>
          </a:stretch>
        </p:blipFill>
        <p:spPr>
          <a:xfrm>
            <a:off x="6887870" y="2236622"/>
            <a:ext cx="153619" cy="153619"/>
          </a:xfrm>
          <a:prstGeom prst="rect">
            <a:avLst/>
          </a:prstGeom>
        </p:spPr>
      </p:pic>
      <p:sp>
        <p:nvSpPr>
          <p:cNvPr id="11" name="Text 6"/>
          <p:cNvSpPr txBox="1"/>
          <p:nvPr/>
        </p:nvSpPr>
        <p:spPr>
          <a:xfrm>
            <a:off x="7193280" y="2112264"/>
            <a:ext cx="1493520" cy="685800"/>
          </a:xfrm>
          <a:prstGeom prst="rect">
            <a:avLst/>
          </a:prstGeom>
          <a:noFill/>
          <a:ln/>
        </p:spPr>
        <p:txBody>
          <a:bodyPr wrap="square" lIns="0" tIns="0" rIns="0" bIns="0" rtlCol="0" anchor="t"/>
          <a:lstStyle/>
          <a:p>
            <a:pPr indent="0" marL="0">
              <a:buNone/>
            </a:pPr>
            <a:r>
              <a:rPr lang="en-US" sz="1200" dirty="0">
                <a:solidFill>
                  <a:srgbClr val="2B3440"/>
                </a:solidFill>
              </a:rPr>
              <a:t>Variables filled: the ids carry over</a:t>
            </a:r>
            <a:endParaRPr lang="en-US" sz="1200" dirty="0"/>
          </a:p>
        </p:txBody>
      </p:sp>
      <p:sp>
        <p:nvSpPr>
          <p:cNvPr id="12" name="Shape 7"/>
          <p:cNvSpPr/>
          <p:nvPr/>
        </p:nvSpPr>
        <p:spPr>
          <a:xfrm>
            <a:off x="6827520" y="2779776"/>
            <a:ext cx="274320" cy="274320"/>
          </a:xfrm>
          <a:prstGeom prst="ellipse">
            <a:avLst/>
          </a:prstGeom>
          <a:solidFill>
            <a:srgbClr val="1FB68A"/>
          </a:solidFill>
          <a:ln w="12700">
            <a:solidFill>
              <a:srgbClr val="1FB68A"/>
            </a:solidFill>
            <a:prstDash val="solid"/>
          </a:ln>
        </p:spPr>
      </p:sp>
      <p:pic>
        <p:nvPicPr>
          <p:cNvPr id="13" name="Image 3" descr="preencoded.png">    </p:cNvPr>
          <p:cNvPicPr>
            <a:picLocks noChangeAspect="1"/>
          </p:cNvPicPr>
          <p:nvPr/>
        </p:nvPicPr>
        <p:blipFill>
          <a:blip r:embed="rId4"/>
          <a:stretch>
            <a:fillRect/>
          </a:stretch>
        </p:blipFill>
        <p:spPr>
          <a:xfrm>
            <a:off x="6887870" y="2840126"/>
            <a:ext cx="153619" cy="153619"/>
          </a:xfrm>
          <a:prstGeom prst="rect">
            <a:avLst/>
          </a:prstGeom>
        </p:spPr>
      </p:pic>
      <p:sp>
        <p:nvSpPr>
          <p:cNvPr id="14" name="Text 8"/>
          <p:cNvSpPr txBox="1"/>
          <p:nvPr/>
        </p:nvSpPr>
        <p:spPr>
          <a:xfrm>
            <a:off x="7193280" y="2715768"/>
            <a:ext cx="1493520" cy="685800"/>
          </a:xfrm>
          <a:prstGeom prst="rect">
            <a:avLst/>
          </a:prstGeom>
          <a:noFill/>
          <a:ln/>
        </p:spPr>
        <p:txBody>
          <a:bodyPr wrap="square" lIns="0" tIns="0" rIns="0" bIns="0" rtlCol="0" anchor="t"/>
          <a:lstStyle/>
          <a:p>
            <a:pPr indent="0" marL="0">
              <a:buNone/>
            </a:pPr>
            <a:r>
              <a:rPr lang="en-US" sz="1200" dirty="0">
                <a:solidFill>
                  <a:srgbClr val="2B3440"/>
                </a:solidFill>
              </a:rPr>
              <a:t>409 and 422 cards ✓ too: the rule said no</a:t>
            </a:r>
            <a:endParaRPr lang="en-US" sz="1200" dirty="0"/>
          </a:p>
        </p:txBody>
      </p:sp>
      <p:sp>
        <p:nvSpPr>
          <p:cNvPr id="15" name="Shape 9"/>
          <p:cNvSpPr/>
          <p:nvPr/>
        </p:nvSpPr>
        <p:spPr>
          <a:xfrm>
            <a:off x="6827520" y="3383280"/>
            <a:ext cx="274320" cy="274320"/>
          </a:xfrm>
          <a:prstGeom prst="ellipse">
            <a:avLst/>
          </a:prstGeom>
          <a:solidFill>
            <a:srgbClr val="1FB68A"/>
          </a:solidFill>
          <a:ln w="12700">
            <a:solidFill>
              <a:srgbClr val="1FB68A"/>
            </a:solidFill>
            <a:prstDash val="solid"/>
          </a:ln>
        </p:spPr>
      </p:sp>
      <p:pic>
        <p:nvPicPr>
          <p:cNvPr id="16" name="Image 4" descr="preencoded.png">    </p:cNvPr>
          <p:cNvPicPr>
            <a:picLocks noChangeAspect="1"/>
          </p:cNvPicPr>
          <p:nvPr/>
        </p:nvPicPr>
        <p:blipFill>
          <a:blip r:embed="rId5"/>
          <a:stretch>
            <a:fillRect/>
          </a:stretch>
        </p:blipFill>
        <p:spPr>
          <a:xfrm>
            <a:off x="6887870" y="3443630"/>
            <a:ext cx="153619" cy="153619"/>
          </a:xfrm>
          <a:prstGeom prst="rect">
            <a:avLst/>
          </a:prstGeom>
        </p:spPr>
      </p:pic>
      <p:sp>
        <p:nvSpPr>
          <p:cNvPr id="17" name="Text 10"/>
          <p:cNvSpPr txBox="1"/>
          <p:nvPr/>
        </p:nvSpPr>
        <p:spPr>
          <a:xfrm>
            <a:off x="7193280" y="3319272"/>
            <a:ext cx="1493520" cy="685800"/>
          </a:xfrm>
          <a:prstGeom prst="rect">
            <a:avLst/>
          </a:prstGeom>
          <a:noFill/>
          <a:ln/>
        </p:spPr>
        <p:txBody>
          <a:bodyPr wrap="square" lIns="0" tIns="0" rIns="0" bIns="0" rtlCol="0" anchor="t"/>
          <a:lstStyle/>
          <a:p>
            <a:pPr indent="0" marL="0">
              <a:buNone/>
            </a:pPr>
            <a:r>
              <a:rPr lang="en-US" sz="1200" dirty="0">
                <a:solidFill>
                  <a:srgbClr val="2B3440"/>
                </a:solidFill>
              </a:rPr>
              <a:t>Red in DevTools for those: expected</a:t>
            </a:r>
            <a:endParaRPr lang="en-US" sz="1200" dirty="0"/>
          </a:p>
        </p:txBody>
      </p:sp>
      <p:sp>
        <p:nvSpPr>
          <p:cNvPr id="18" name="Shape 11"/>
          <p:cNvSpPr/>
          <p:nvPr/>
        </p:nvSpPr>
        <p:spPr>
          <a:xfrm>
            <a:off x="6827520" y="3986784"/>
            <a:ext cx="274320" cy="274320"/>
          </a:xfrm>
          <a:prstGeom prst="ellipse">
            <a:avLst/>
          </a:prstGeom>
          <a:solidFill>
            <a:srgbClr val="1FB68A"/>
          </a:solidFill>
          <a:ln w="12700">
            <a:solidFill>
              <a:srgbClr val="1FB68A"/>
            </a:solidFill>
            <a:prstDash val="solid"/>
          </a:ln>
        </p:spPr>
      </p:sp>
      <p:pic>
        <p:nvPicPr>
          <p:cNvPr id="19" name="Image 5" descr="preencoded.png">    </p:cNvPr>
          <p:cNvPicPr>
            <a:picLocks noChangeAspect="1"/>
          </p:cNvPicPr>
          <p:nvPr/>
        </p:nvPicPr>
        <p:blipFill>
          <a:blip r:embed="rId6"/>
          <a:stretch>
            <a:fillRect/>
          </a:stretch>
        </p:blipFill>
        <p:spPr>
          <a:xfrm>
            <a:off x="6887870" y="4047134"/>
            <a:ext cx="153619" cy="153619"/>
          </a:xfrm>
          <a:prstGeom prst="rect">
            <a:avLst/>
          </a:prstGeom>
        </p:spPr>
      </p:pic>
      <p:sp>
        <p:nvSpPr>
          <p:cNvPr id="20" name="Text 12"/>
          <p:cNvSpPr txBox="1"/>
          <p:nvPr/>
        </p:nvSpPr>
        <p:spPr>
          <a:xfrm>
            <a:off x="7193280" y="3922776"/>
            <a:ext cx="1493520" cy="685800"/>
          </a:xfrm>
          <a:prstGeom prst="rect">
            <a:avLst/>
          </a:prstGeom>
          <a:noFill/>
          <a:ln/>
        </p:spPr>
        <p:txBody>
          <a:bodyPr wrap="square" lIns="0" tIns="0" rIns="0" bIns="0" rtlCol="0" anchor="t"/>
          <a:lstStyle/>
          <a:p>
            <a:pPr indent="0" marL="0">
              <a:buNone/>
            </a:pPr>
            <a:r>
              <a:rPr lang="en-US" sz="1200" dirty="0">
                <a:solidFill>
                  <a:srgbClr val="2B3440"/>
                </a:solidFill>
              </a:rPr>
              <a:t>List users shows the 25 seeded users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21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44 passed (44)</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/playground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47 passed (47)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2026-10-27T06:53:58Z</dcterms:created>
  <dcterms:modified xsi:type="dcterms:W3CDTF">2026-10-27T06:53:58Z</dcterms:modified>
</cp:coreProperties>
</file>