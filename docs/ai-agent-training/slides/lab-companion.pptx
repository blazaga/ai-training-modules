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Middleware runs before Nest even picks the route, so it sees every request; guards and pipes run per route, then the controller. The controller never decides a business rule: it calls the service. The arrow back is the same for errors: services throw, the exception filter maps the error to one HTTP shape. In module 1 the learner's agent builds the controller, service and repository; the middleware, the global pipe and the filter already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is the unit nest g resource creates. It declares the controller and the providers; Nest creates each once and hands them to whoever asks in a constructor (dependency injection). The controller asks for the service, the service asks for the repository TOKEN, not a class, so the storage can be swapped in the module alone. Middleware is attached in a module too, with configure(consumer). AppModule imports every feature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macOS and WSL shells were the target. Not tested on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has no Postman folder: its client is your own Claude (or the MCP Inspector), over stdio.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105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run on an empty in-memory database; this step proves the resources also serve the seeded rows. Then pnpm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02 10/10 (lab 01 still 15/15) and verify 60 unit / 55 e2e. Its query guard has two layers, each proven by removing it: one SELECT/WITH statement (libSQL silently runs only the first of two), and a query_only connection (a delete hidden in a WITH emptied the copy without it). It also found that the default database path is relative to the working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runs the server on a COPY of data/app.db. When learners try it from Claude, the writes go to their own data/app.db: pnpm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pnpm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pnpm verify + pnpm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the path of one request</a:t>
            </a:r>
            <a:endParaRPr lang="en-US" sz="3200" dirty="0"/>
          </a:p>
        </p:txBody>
      </p:sp>
      <p:sp>
        <p:nvSpPr>
          <p:cNvPr id="3" name="step-1"/>
          <p:cNvSpPr/>
          <p:nvPr/>
        </p:nvSpPr>
        <p:spPr>
          <a:xfrm>
            <a:off x="457200" y="1234440"/>
            <a:ext cx="1050254" cy="658368"/>
          </a:xfrm>
          <a:prstGeom prst="roundRect">
            <a:avLst>
              <a:gd name="adj" fmla="val 11111"/>
            </a:avLst>
          </a:prstGeom>
          <a:solidFill>
            <a:srgbClr val="2B3440"/>
          </a:solidFill>
          <a:ln w="12700">
            <a:solidFill>
              <a:srgbClr val="2B3440"/>
            </a:solidFill>
            <a:prstDash val="solid"/>
          </a:ln>
        </p:spPr>
      </p:sp>
      <p:sp>
        <p:nvSpPr>
          <p:cNvPr id="4" name="Text 2"/>
          <p:cNvSpPr txBox="1"/>
          <p:nvPr/>
        </p:nvSpPr>
        <p:spPr>
          <a:xfrm>
            <a:off x="457200" y="1234440"/>
            <a:ext cx="1050254" cy="658368"/>
          </a:xfrm>
          <a:prstGeom prst="rect">
            <a:avLst/>
          </a:prstGeom>
          <a:noFill/>
          <a:ln/>
        </p:spPr>
        <p:txBody>
          <a:bodyPr wrap="square" lIns="25400" tIns="25400" rIns="25400" bIns="25400" rtlCol="0" anchor="ctr"/>
          <a:lstStyle/>
          <a:p>
            <a:pPr algn="ctr" indent="0" marL="0">
              <a:buNone/>
            </a:pPr>
            <a:r>
              <a:rPr lang="en-US" sz="1200" b="1" dirty="0">
                <a:solidFill>
                  <a:srgbClr val="FFFFFF"/>
                </a:solidFill>
              </a:rPr>
              <a:t>Client</a:t>
            </a:r>
            <a:endParaRPr lang="en-US" sz="1200" dirty="0"/>
          </a:p>
        </p:txBody>
      </p:sp>
      <p:sp>
        <p:nvSpPr>
          <p:cNvPr id="5" name="Shape 3"/>
          <p:cNvSpPr/>
          <p:nvPr/>
        </p:nvSpPr>
        <p:spPr>
          <a:xfrm>
            <a:off x="1507454" y="1563624"/>
            <a:ext cx="146304" cy="0"/>
          </a:xfrm>
          <a:prstGeom prst="line">
            <a:avLst/>
          </a:prstGeom>
          <a:noFill/>
          <a:ln w="19050">
            <a:solidFill>
              <a:srgbClr val="64748B"/>
            </a:solidFill>
            <a:prstDash val="solid"/>
            <a:tailEnd type="triangle"/>
          </a:ln>
        </p:spPr>
      </p:sp>
      <p:sp>
        <p:nvSpPr>
          <p:cNvPr id="6" name="Text 4"/>
          <p:cNvSpPr txBox="1"/>
          <p:nvPr/>
        </p:nvSpPr>
        <p:spPr>
          <a:xfrm>
            <a:off x="457200" y="2002536"/>
            <a:ext cx="1050254" cy="1417320"/>
          </a:xfrm>
          <a:prstGeom prst="rect">
            <a:avLst/>
          </a:prstGeom>
          <a:noFill/>
          <a:ln/>
        </p:spPr>
        <p:txBody>
          <a:bodyPr wrap="square" lIns="0" tIns="0" rIns="0" bIns="0" rtlCol="0" anchor="t"/>
          <a:lstStyle/>
          <a:p>
            <a:pPr algn="ctr" indent="0" marL="0">
              <a:buNone/>
            </a:pPr>
            <a:r>
              <a:rPr lang="en-US" sz="1100" dirty="0">
                <a:solidFill>
                  <a:srgbClr val="2B3440"/>
                </a:solidFill>
              </a:rPr>
              <a:t>Postman, curl, a browser</a:t>
            </a:r>
            <a:endParaRPr lang="en-US" sz="1100" dirty="0"/>
          </a:p>
        </p:txBody>
      </p:sp>
      <p:sp>
        <p:nvSpPr>
          <p:cNvPr id="7" name="step-2"/>
          <p:cNvSpPr/>
          <p:nvPr/>
        </p:nvSpPr>
        <p:spPr>
          <a:xfrm>
            <a:off x="1653758" y="1234440"/>
            <a:ext cx="1050254" cy="658368"/>
          </a:xfrm>
          <a:prstGeom prst="roundRect">
            <a:avLst>
              <a:gd name="adj" fmla="val 11111"/>
            </a:avLst>
          </a:prstGeom>
          <a:solidFill>
            <a:srgbClr val="1B1F24"/>
          </a:solidFill>
          <a:ln w="12700">
            <a:solidFill>
              <a:srgbClr val="1B1F24"/>
            </a:solidFill>
            <a:prstDash val="solid"/>
          </a:ln>
        </p:spPr>
      </p:sp>
      <p:sp>
        <p:nvSpPr>
          <p:cNvPr id="8" name="Text 6"/>
          <p:cNvSpPr txBox="1"/>
          <p:nvPr/>
        </p:nvSpPr>
        <p:spPr>
          <a:xfrm>
            <a:off x="1653758" y="1234440"/>
            <a:ext cx="1050254" cy="658368"/>
          </a:xfrm>
          <a:prstGeom prst="rect">
            <a:avLst/>
          </a:prstGeom>
          <a:noFill/>
          <a:ln/>
        </p:spPr>
        <p:txBody>
          <a:bodyPr wrap="square" lIns="25400" tIns="25400" rIns="25400" bIns="25400" rtlCol="0" anchor="ctr"/>
          <a:lstStyle/>
          <a:p>
            <a:pPr algn="ctr" indent="0" marL="0">
              <a:buNone/>
            </a:pPr>
            <a:r>
              <a:rPr lang="en-US" sz="1200" b="1" dirty="0">
                <a:solidFill>
                  <a:srgbClr val="FFFFFF"/>
                </a:solidFill>
              </a:rPr>
              <a:t>Middleware</a:t>
            </a:r>
            <a:endParaRPr lang="en-US" sz="1200" dirty="0"/>
          </a:p>
        </p:txBody>
      </p:sp>
      <p:sp>
        <p:nvSpPr>
          <p:cNvPr id="9" name="Shape 7"/>
          <p:cNvSpPr/>
          <p:nvPr/>
        </p:nvSpPr>
        <p:spPr>
          <a:xfrm>
            <a:off x="2704011" y="1563624"/>
            <a:ext cx="146304" cy="0"/>
          </a:xfrm>
          <a:prstGeom prst="line">
            <a:avLst/>
          </a:prstGeom>
          <a:noFill/>
          <a:ln w="19050">
            <a:solidFill>
              <a:srgbClr val="64748B"/>
            </a:solidFill>
            <a:prstDash val="solid"/>
            <a:tailEnd type="triangle"/>
          </a:ln>
        </p:spPr>
      </p:sp>
      <p:sp>
        <p:nvSpPr>
          <p:cNvPr id="10" name="Text 8"/>
          <p:cNvSpPr txBox="1"/>
          <p:nvPr/>
        </p:nvSpPr>
        <p:spPr>
          <a:xfrm>
            <a:off x="1653758" y="2002536"/>
            <a:ext cx="1050254" cy="1417320"/>
          </a:xfrm>
          <a:prstGeom prst="rect">
            <a:avLst/>
          </a:prstGeom>
          <a:noFill/>
          <a:ln/>
        </p:spPr>
        <p:txBody>
          <a:bodyPr wrap="square" lIns="0" tIns="0" rIns="0" bIns="0" rtlCol="0" anchor="t"/>
          <a:lstStyle/>
          <a:p>
            <a:pPr algn="ctr" indent="0" marL="0">
              <a:buNone/>
            </a:pPr>
            <a:r>
              <a:rPr lang="en-US" sz="1100" dirty="0">
                <a:solidFill>
                  <a:srgbClr val="2B3440"/>
                </a:solidFill>
              </a:rPr>
              <a:t>runs first, on the raw request: logging, CORS, headers</a:t>
            </a:r>
            <a:endParaRPr lang="en-US" sz="1100" dirty="0"/>
          </a:p>
        </p:txBody>
      </p:sp>
      <p:sp>
        <p:nvSpPr>
          <p:cNvPr id="11" name="step-3"/>
          <p:cNvSpPr/>
          <p:nvPr/>
        </p:nvSpPr>
        <p:spPr>
          <a:xfrm>
            <a:off x="2850315" y="1234440"/>
            <a:ext cx="1050254" cy="658368"/>
          </a:xfrm>
          <a:prstGeom prst="roundRect">
            <a:avLst>
              <a:gd name="adj" fmla="val 11111"/>
            </a:avLst>
          </a:prstGeom>
          <a:solidFill>
            <a:srgbClr val="1B1F24"/>
          </a:solidFill>
          <a:ln w="12700">
            <a:solidFill>
              <a:srgbClr val="1B1F24"/>
            </a:solidFill>
            <a:prstDash val="solid"/>
          </a:ln>
        </p:spPr>
      </p:sp>
      <p:sp>
        <p:nvSpPr>
          <p:cNvPr id="12" name="Text 10"/>
          <p:cNvSpPr txBox="1"/>
          <p:nvPr/>
        </p:nvSpPr>
        <p:spPr>
          <a:xfrm>
            <a:off x="2850315" y="1234440"/>
            <a:ext cx="1050254" cy="658368"/>
          </a:xfrm>
          <a:prstGeom prst="rect">
            <a:avLst/>
          </a:prstGeom>
          <a:noFill/>
          <a:ln/>
        </p:spPr>
        <p:txBody>
          <a:bodyPr wrap="square" lIns="25400" tIns="25400" rIns="25400" bIns="25400" rtlCol="0" anchor="ctr"/>
          <a:lstStyle/>
          <a:p>
            <a:pPr algn="ctr" indent="0" marL="0">
              <a:buNone/>
            </a:pPr>
            <a:r>
              <a:rPr lang="en-US" sz="1200" b="1" dirty="0">
                <a:solidFill>
                  <a:srgbClr val="FFFFFF"/>
                </a:solidFill>
              </a:rPr>
              <a:t>Guards · Pipes</a:t>
            </a:r>
            <a:endParaRPr lang="en-US" sz="1200" dirty="0"/>
          </a:p>
        </p:txBody>
      </p:sp>
      <p:sp>
        <p:nvSpPr>
          <p:cNvPr id="13" name="Shape 11"/>
          <p:cNvSpPr/>
          <p:nvPr/>
        </p:nvSpPr>
        <p:spPr>
          <a:xfrm>
            <a:off x="3900569" y="1563624"/>
            <a:ext cx="146304" cy="0"/>
          </a:xfrm>
          <a:prstGeom prst="line">
            <a:avLst/>
          </a:prstGeom>
          <a:noFill/>
          <a:ln w="19050">
            <a:solidFill>
              <a:srgbClr val="64748B"/>
            </a:solidFill>
            <a:prstDash val="solid"/>
            <a:tailEnd type="triangle"/>
          </a:ln>
        </p:spPr>
      </p:sp>
      <p:sp>
        <p:nvSpPr>
          <p:cNvPr id="14" name="Text 12"/>
          <p:cNvSpPr txBox="1"/>
          <p:nvPr/>
        </p:nvSpPr>
        <p:spPr>
          <a:xfrm>
            <a:off x="2850315" y="2002536"/>
            <a:ext cx="1050254" cy="1417320"/>
          </a:xfrm>
          <a:prstGeom prst="rect">
            <a:avLst/>
          </a:prstGeom>
          <a:noFill/>
          <a:ln/>
        </p:spPr>
        <p:txBody>
          <a:bodyPr wrap="square" lIns="0" tIns="0" rIns="0" bIns="0" rtlCol="0" anchor="t"/>
          <a:lstStyle/>
          <a:p>
            <a:pPr algn="ctr" indent="0" marL="0">
              <a:buNone/>
            </a:pPr>
            <a:r>
              <a:rPr lang="en-US" sz="1100" dirty="0">
                <a:solidFill>
                  <a:srgbClr val="2B3440"/>
                </a:solidFill>
              </a:rPr>
              <a:t>may it run? then parse the body: the global zod pipe, 400 if invalid</a:t>
            </a:r>
            <a:endParaRPr lang="en-US" sz="1100" dirty="0"/>
          </a:p>
        </p:txBody>
      </p:sp>
      <p:sp>
        <p:nvSpPr>
          <p:cNvPr id="15" name="step-4"/>
          <p:cNvSpPr/>
          <p:nvPr/>
        </p:nvSpPr>
        <p:spPr>
          <a:xfrm>
            <a:off x="4046873" y="1234440"/>
            <a:ext cx="1050254" cy="658368"/>
          </a:xfrm>
          <a:prstGeom prst="roundRect">
            <a:avLst>
              <a:gd name="adj" fmla="val 11111"/>
            </a:avLst>
          </a:prstGeom>
          <a:solidFill>
            <a:srgbClr val="1FB68A"/>
          </a:solidFill>
          <a:ln w="12700">
            <a:solidFill>
              <a:srgbClr val="1FB68A"/>
            </a:solidFill>
            <a:prstDash val="solid"/>
          </a:ln>
        </p:spPr>
      </p:sp>
      <p:sp>
        <p:nvSpPr>
          <p:cNvPr id="16" name="Text 14"/>
          <p:cNvSpPr txBox="1"/>
          <p:nvPr/>
        </p:nvSpPr>
        <p:spPr>
          <a:xfrm>
            <a:off x="4046873" y="1234440"/>
            <a:ext cx="1050254" cy="658368"/>
          </a:xfrm>
          <a:prstGeom prst="rect">
            <a:avLst/>
          </a:prstGeom>
          <a:noFill/>
          <a:ln/>
        </p:spPr>
        <p:txBody>
          <a:bodyPr wrap="square" lIns="25400" tIns="25400" rIns="25400" bIns="25400" rtlCol="0" anchor="ctr"/>
          <a:lstStyle/>
          <a:p>
            <a:pPr algn="ctr" indent="0" marL="0">
              <a:buNone/>
            </a:pPr>
            <a:r>
              <a:rPr lang="en-US" sz="1200" b="1" dirty="0">
                <a:solidFill>
                  <a:srgbClr val="FFFFFF"/>
                </a:solidFill>
              </a:rPr>
              <a:t>Controller</a:t>
            </a:r>
            <a:endParaRPr lang="en-US" sz="1200" dirty="0"/>
          </a:p>
        </p:txBody>
      </p:sp>
      <p:sp>
        <p:nvSpPr>
          <p:cNvPr id="17" name="Shape 15"/>
          <p:cNvSpPr/>
          <p:nvPr/>
        </p:nvSpPr>
        <p:spPr>
          <a:xfrm>
            <a:off x="5097127" y="1563624"/>
            <a:ext cx="146304" cy="0"/>
          </a:xfrm>
          <a:prstGeom prst="line">
            <a:avLst/>
          </a:prstGeom>
          <a:noFill/>
          <a:ln w="19050">
            <a:solidFill>
              <a:srgbClr val="64748B"/>
            </a:solidFill>
            <a:prstDash val="solid"/>
            <a:tailEnd type="triangle"/>
          </a:ln>
        </p:spPr>
      </p:sp>
      <p:sp>
        <p:nvSpPr>
          <p:cNvPr id="18" name="Text 16"/>
          <p:cNvSpPr txBox="1"/>
          <p:nvPr/>
        </p:nvSpPr>
        <p:spPr>
          <a:xfrm>
            <a:off x="4046873" y="2002536"/>
            <a:ext cx="1050254" cy="1417320"/>
          </a:xfrm>
          <a:prstGeom prst="rect">
            <a:avLst/>
          </a:prstGeom>
          <a:noFill/>
          <a:ln/>
        </p:spPr>
        <p:txBody>
          <a:bodyPr wrap="square" lIns="0" tIns="0" rIns="0" bIns="0" rtlCol="0" anchor="t"/>
          <a:lstStyle/>
          <a:p>
            <a:pPr algn="ctr" indent="0" marL="0">
              <a:buNone/>
            </a:pPr>
            <a:r>
              <a:rPr lang="en-US" sz="1100" dirty="0">
                <a:solidFill>
                  <a:srgbClr val="2B3440"/>
                </a:solidFill>
              </a:rPr>
              <a:t>the route: parse, delegate, return. No rules here</a:t>
            </a:r>
            <a:endParaRPr lang="en-US" sz="1100" dirty="0"/>
          </a:p>
        </p:txBody>
      </p:sp>
      <p:sp>
        <p:nvSpPr>
          <p:cNvPr id="19" name="step-5"/>
          <p:cNvSpPr/>
          <p:nvPr/>
        </p:nvSpPr>
        <p:spPr>
          <a:xfrm>
            <a:off x="5243431" y="1234440"/>
            <a:ext cx="1050254" cy="658368"/>
          </a:xfrm>
          <a:prstGeom prst="roundRect">
            <a:avLst>
              <a:gd name="adj" fmla="val 11111"/>
            </a:avLst>
          </a:prstGeom>
          <a:solidFill>
            <a:srgbClr val="1FB68A"/>
          </a:solidFill>
          <a:ln w="12700">
            <a:solidFill>
              <a:srgbClr val="1FB68A"/>
            </a:solidFill>
            <a:prstDash val="solid"/>
          </a:ln>
        </p:spPr>
      </p:sp>
      <p:sp>
        <p:nvSpPr>
          <p:cNvPr id="20" name="Text 18"/>
          <p:cNvSpPr txBox="1"/>
          <p:nvPr/>
        </p:nvSpPr>
        <p:spPr>
          <a:xfrm>
            <a:off x="5243431" y="1234440"/>
            <a:ext cx="1050254" cy="658368"/>
          </a:xfrm>
          <a:prstGeom prst="rect">
            <a:avLst/>
          </a:prstGeom>
          <a:noFill/>
          <a:ln/>
        </p:spPr>
        <p:txBody>
          <a:bodyPr wrap="square" lIns="25400" tIns="25400" rIns="25400" bIns="25400" rtlCol="0" anchor="ctr"/>
          <a:lstStyle/>
          <a:p>
            <a:pPr algn="ctr" indent="0" marL="0">
              <a:buNone/>
            </a:pPr>
            <a:r>
              <a:rPr lang="en-US" sz="1200" b="1" dirty="0">
                <a:solidFill>
                  <a:srgbClr val="FFFFFF"/>
                </a:solidFill>
              </a:rPr>
              <a:t>Service</a:t>
            </a:r>
            <a:endParaRPr lang="en-US" sz="1200" dirty="0"/>
          </a:p>
        </p:txBody>
      </p:sp>
      <p:sp>
        <p:nvSpPr>
          <p:cNvPr id="21" name="Shape 19"/>
          <p:cNvSpPr/>
          <p:nvPr/>
        </p:nvSpPr>
        <p:spPr>
          <a:xfrm>
            <a:off x="6293685" y="1563624"/>
            <a:ext cx="146304" cy="0"/>
          </a:xfrm>
          <a:prstGeom prst="line">
            <a:avLst/>
          </a:prstGeom>
          <a:noFill/>
          <a:ln w="19050">
            <a:solidFill>
              <a:srgbClr val="64748B"/>
            </a:solidFill>
            <a:prstDash val="solid"/>
            <a:tailEnd type="triangle"/>
          </a:ln>
        </p:spPr>
      </p:sp>
      <p:sp>
        <p:nvSpPr>
          <p:cNvPr id="22" name="Text 20"/>
          <p:cNvSpPr txBox="1"/>
          <p:nvPr/>
        </p:nvSpPr>
        <p:spPr>
          <a:xfrm>
            <a:off x="5243431" y="2002536"/>
            <a:ext cx="1050254" cy="1417320"/>
          </a:xfrm>
          <a:prstGeom prst="rect">
            <a:avLst/>
          </a:prstGeom>
          <a:noFill/>
          <a:ln/>
        </p:spPr>
        <p:txBody>
          <a:bodyPr wrap="square" lIns="0" tIns="0" rIns="0" bIns="0" rtlCol="0" anchor="t"/>
          <a:lstStyle/>
          <a:p>
            <a:pPr algn="ctr" indent="0" marL="0">
              <a:buNone/>
            </a:pPr>
            <a:r>
              <a:rPr lang="en-US" sz="1100" dirty="0">
                <a:solidFill>
                  <a:srgbClr val="2B3440"/>
                </a:solidFill>
              </a:rPr>
              <a:t>the rules (R1–R4); throws a DomainError when one is broken</a:t>
            </a:r>
            <a:endParaRPr lang="en-US" sz="1100" dirty="0"/>
          </a:p>
        </p:txBody>
      </p:sp>
      <p:sp>
        <p:nvSpPr>
          <p:cNvPr id="23" name="step-6"/>
          <p:cNvSpPr/>
          <p:nvPr/>
        </p:nvSpPr>
        <p:spPr>
          <a:xfrm>
            <a:off x="6439989" y="1234440"/>
            <a:ext cx="1050254" cy="658368"/>
          </a:xfrm>
          <a:prstGeom prst="roundRect">
            <a:avLst>
              <a:gd name="adj" fmla="val 11111"/>
            </a:avLst>
          </a:prstGeom>
          <a:solidFill>
            <a:srgbClr val="1FB68A"/>
          </a:solidFill>
          <a:ln w="12700">
            <a:solidFill>
              <a:srgbClr val="1FB68A"/>
            </a:solidFill>
            <a:prstDash val="solid"/>
          </a:ln>
        </p:spPr>
      </p:sp>
      <p:sp>
        <p:nvSpPr>
          <p:cNvPr id="24" name="Text 22"/>
          <p:cNvSpPr txBox="1"/>
          <p:nvPr/>
        </p:nvSpPr>
        <p:spPr>
          <a:xfrm>
            <a:off x="6439989" y="1234440"/>
            <a:ext cx="1050254" cy="658368"/>
          </a:xfrm>
          <a:prstGeom prst="rect">
            <a:avLst/>
          </a:prstGeom>
          <a:noFill/>
          <a:ln/>
        </p:spPr>
        <p:txBody>
          <a:bodyPr wrap="square" lIns="25400" tIns="25400" rIns="25400" bIns="25400" rtlCol="0" anchor="ctr"/>
          <a:lstStyle/>
          <a:p>
            <a:pPr algn="ctr" indent="0" marL="0">
              <a:buNone/>
            </a:pPr>
            <a:r>
              <a:rPr lang="en-US" sz="1200" b="1" dirty="0">
                <a:solidFill>
                  <a:srgbClr val="FFFFFF"/>
                </a:solidFill>
              </a:rPr>
              <a:t>Repository</a:t>
            </a:r>
            <a:endParaRPr lang="en-US" sz="1200" dirty="0"/>
          </a:p>
        </p:txBody>
      </p:sp>
      <p:sp>
        <p:nvSpPr>
          <p:cNvPr id="25" name="Shape 23"/>
          <p:cNvSpPr/>
          <p:nvPr/>
        </p:nvSpPr>
        <p:spPr>
          <a:xfrm>
            <a:off x="7490242" y="1563624"/>
            <a:ext cx="146304" cy="0"/>
          </a:xfrm>
          <a:prstGeom prst="line">
            <a:avLst/>
          </a:prstGeom>
          <a:noFill/>
          <a:ln w="19050">
            <a:solidFill>
              <a:srgbClr val="64748B"/>
            </a:solidFill>
            <a:prstDash val="solid"/>
            <a:tailEnd type="triangle"/>
          </a:ln>
        </p:spPr>
      </p:sp>
      <p:sp>
        <p:nvSpPr>
          <p:cNvPr id="26" name="Text 24"/>
          <p:cNvSpPr txBox="1"/>
          <p:nvPr/>
        </p:nvSpPr>
        <p:spPr>
          <a:xfrm>
            <a:off x="6439989" y="2002536"/>
            <a:ext cx="1050254" cy="1417320"/>
          </a:xfrm>
          <a:prstGeom prst="rect">
            <a:avLst/>
          </a:prstGeom>
          <a:noFill/>
          <a:ln/>
        </p:spPr>
        <p:txBody>
          <a:bodyPr wrap="square" lIns="0" tIns="0" rIns="0" bIns="0" rtlCol="0" anchor="t"/>
          <a:lstStyle/>
          <a:p>
            <a:pPr algn="ctr" indent="0" marL="0">
              <a:buNone/>
            </a:pPr>
            <a:r>
              <a:rPr lang="en-US" sz="1100" dirty="0">
                <a:solidFill>
                  <a:srgbClr val="2B3440"/>
                </a:solidFill>
              </a:rPr>
              <a:t>SQL through drizzle, behind a token</a:t>
            </a:r>
            <a:endParaRPr lang="en-US" sz="1100" dirty="0"/>
          </a:p>
        </p:txBody>
      </p:sp>
      <p:sp>
        <p:nvSpPr>
          <p:cNvPr id="27" name="step-7"/>
          <p:cNvSpPr/>
          <p:nvPr/>
        </p:nvSpPr>
        <p:spPr>
          <a:xfrm>
            <a:off x="7636546" y="1234440"/>
            <a:ext cx="1050254" cy="658368"/>
          </a:xfrm>
          <a:prstGeom prst="roundRect">
            <a:avLst>
              <a:gd name="adj" fmla="val 11111"/>
            </a:avLst>
          </a:prstGeom>
          <a:solidFill>
            <a:srgbClr val="2B3440"/>
          </a:solidFill>
          <a:ln w="12700">
            <a:solidFill>
              <a:srgbClr val="2B3440"/>
            </a:solidFill>
            <a:prstDash val="solid"/>
          </a:ln>
        </p:spPr>
      </p:sp>
      <p:sp>
        <p:nvSpPr>
          <p:cNvPr id="28" name="Text 26"/>
          <p:cNvSpPr txBox="1"/>
          <p:nvPr/>
        </p:nvSpPr>
        <p:spPr>
          <a:xfrm>
            <a:off x="7636546" y="1234440"/>
            <a:ext cx="1050254" cy="658368"/>
          </a:xfrm>
          <a:prstGeom prst="rect">
            <a:avLst/>
          </a:prstGeom>
          <a:noFill/>
          <a:ln/>
        </p:spPr>
        <p:txBody>
          <a:bodyPr wrap="square" lIns="25400" tIns="25400" rIns="25400" bIns="25400" rtlCol="0" anchor="ctr"/>
          <a:lstStyle/>
          <a:p>
            <a:pPr algn="ctr" indent="0" marL="0">
              <a:buNone/>
            </a:pPr>
            <a:r>
              <a:rPr lang="en-US" sz="1200" b="1" dirty="0">
                <a:solidFill>
                  <a:srgbClr val="FFFFFF"/>
                </a:solidFill>
              </a:rPr>
              <a:t>SQLite</a:t>
            </a:r>
            <a:endParaRPr lang="en-US" sz="1200" dirty="0"/>
          </a:p>
        </p:txBody>
      </p:sp>
      <p:sp>
        <p:nvSpPr>
          <p:cNvPr id="29" name="Text 27"/>
          <p:cNvSpPr txBox="1"/>
          <p:nvPr/>
        </p:nvSpPr>
        <p:spPr>
          <a:xfrm>
            <a:off x="7636546" y="2002536"/>
            <a:ext cx="1050254" cy="1417320"/>
          </a:xfrm>
          <a:prstGeom prst="rect">
            <a:avLst/>
          </a:prstGeom>
          <a:noFill/>
          <a:ln/>
        </p:spPr>
        <p:txBody>
          <a:bodyPr wrap="square" lIns="0" tIns="0" rIns="0" bIns="0" rtlCol="0" anchor="t"/>
          <a:lstStyle/>
          <a:p>
            <a:pPr algn="ctr" indent="0" marL="0">
              <a:buNone/>
            </a:pPr>
            <a:r>
              <a:rPr lang="en-US" sz="1100" dirty="0">
                <a:solidFill>
                  <a:srgbClr val="2B3440"/>
                </a:solidFill>
              </a:rPr>
              <a:t>data/app.db; unique keys and foreign keys enforce too</a:t>
            </a:r>
            <a:endParaRPr lang="en-US" sz="1100" dirty="0"/>
          </a:p>
        </p:txBody>
      </p:sp>
      <p:sp>
        <p:nvSpPr>
          <p:cNvPr id="30" name="Shape 28"/>
          <p:cNvSpPr/>
          <p:nvPr/>
        </p:nvSpPr>
        <p:spPr>
          <a:xfrm>
            <a:off x="982327" y="3520440"/>
            <a:ext cx="7179346" cy="0"/>
          </a:xfrm>
          <a:prstGeom prst="line">
            <a:avLst/>
          </a:prstGeom>
          <a:noFill/>
          <a:ln w="25400">
            <a:solidFill>
              <a:srgbClr val="E69A28"/>
            </a:solidFill>
            <a:prstDash val="solid"/>
            <a:headEnd type="triangle"/>
          </a:ln>
        </p:spPr>
      </p:sp>
      <p:sp>
        <p:nvSpPr>
          <p:cNvPr id="31" name="Text 29"/>
          <p:cNvSpPr txBox="1"/>
          <p:nvPr/>
        </p:nvSpPr>
        <p:spPr>
          <a:xfrm>
            <a:off x="457200" y="3639312"/>
            <a:ext cx="8229600" cy="457200"/>
          </a:xfrm>
          <a:prstGeom prst="rect">
            <a:avLst/>
          </a:prstGeom>
          <a:noFill/>
          <a:ln/>
        </p:spPr>
        <p:txBody>
          <a:bodyPr wrap="square" lIns="0" tIns="0" rIns="0" bIns="0" rtlCol="0" anchor="ctr"/>
          <a:lstStyle/>
          <a:p>
            <a:pPr algn="ctr" indent="0" marL="0">
              <a:buNone/>
            </a:pPr>
            <a:r>
              <a:rPr lang="en-US" sz="1300" i="1" dirty="0">
                <a:solidFill>
                  <a:srgbClr val="1B1F24"/>
                </a:solidFill>
              </a:rPr>
              <a:t>Response ←  a thrown DomainError is turned into 404 / 409 / 422 by DomainExceptionFilter, on the way back</a:t>
            </a:r>
            <a:endParaRPr lang="en-US" sz="1300" dirty="0"/>
          </a:p>
        </p:txBody>
      </p:sp>
      <p:sp>
        <p:nvSpPr>
          <p:cNvPr id="32" name="Text 30"/>
          <p:cNvSpPr txBox="1"/>
          <p:nvPr/>
        </p:nvSpPr>
        <p:spPr>
          <a:xfrm>
            <a:off x="457200" y="4160520"/>
            <a:ext cx="8229600" cy="320040"/>
          </a:xfrm>
          <a:prstGeom prst="rect">
            <a:avLst/>
          </a:prstGeom>
          <a:noFill/>
          <a:ln/>
        </p:spPr>
        <p:txBody>
          <a:bodyPr wrap="square" lIns="0" tIns="0" rIns="0" bIns="0" rtlCol="0" anchor="ctr"/>
          <a:lstStyle/>
          <a:p>
            <a:pPr indent="0" marL="0">
              <a:buNone/>
            </a:pPr>
            <a:r>
              <a:rPr lang="en-US" sz="1200" dirty="0">
                <a:solidFill>
                  <a:srgbClr val="64748B"/>
                </a:solidFill>
              </a:rPr>
              <a:t>Mint: what your agent builds in module 1.  Dark: already in the base.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how a module wires them</a:t>
            </a:r>
            <a:endParaRPr lang="en-US" sz="3200" dirty="0"/>
          </a:p>
        </p:txBody>
      </p:sp>
      <p:sp>
        <p:nvSpPr>
          <p:cNvPr id="3" name="app-module"/>
          <p:cNvSpPr/>
          <p:nvPr/>
        </p:nvSpPr>
        <p:spPr>
          <a:xfrm>
            <a:off x="457200" y="1920240"/>
            <a:ext cx="1554480" cy="822960"/>
          </a:xfrm>
          <a:prstGeom prst="roundRect">
            <a:avLst>
              <a:gd name="adj" fmla="val 8889"/>
            </a:avLst>
          </a:prstGeom>
          <a:solidFill>
            <a:srgbClr val="2B3440"/>
          </a:solidFill>
          <a:ln w="12700">
            <a:solidFill>
              <a:srgbClr val="2B3440"/>
            </a:solidFill>
            <a:prstDash val="solid"/>
          </a:ln>
        </p:spPr>
      </p:sp>
      <p:sp>
        <p:nvSpPr>
          <p:cNvPr id="4" name="Text 2"/>
          <p:cNvSpPr txBox="1"/>
          <p:nvPr/>
        </p:nvSpPr>
        <p:spPr>
          <a:xfrm>
            <a:off x="457200" y="1920240"/>
            <a:ext cx="1554480" cy="822960"/>
          </a:xfrm>
          <a:prstGeom prst="rect">
            <a:avLst/>
          </a:prstGeom>
          <a:noFill/>
          <a:ln/>
        </p:spPr>
        <p:txBody>
          <a:bodyPr wrap="square" lIns="38100" tIns="38100" rIns="38100" bIns="38100" rtlCol="0" anchor="ctr"/>
          <a:lstStyle/>
          <a:p>
            <a:pPr algn="ctr" indent="0" marL="0">
              <a:buNone/>
            </a:pPr>
            <a:r>
              <a:rPr lang="en-US" sz="1300" b="1" dirty="0">
                <a:solidFill>
                  <a:srgbClr val="FFFFFF"/>
                </a:solidFill>
              </a:rPr>
              <a:t>AppModule</a:t>
            </a:r>
            <a:endParaRPr lang="en-US" sz="1300" dirty="0"/>
          </a:p>
          <a:p>
            <a:pPr algn="ctr" indent="0" marL="0">
              <a:buNone/>
            </a:pPr>
            <a:r>
              <a:rPr lang="en-US" sz="1000" dirty="0">
                <a:solidFill>
                  <a:srgbClr val="FFFFFF"/>
                </a:solidFill>
              </a:rPr>
              <a:t>imports every feature module</a:t>
            </a:r>
            <a:endParaRPr lang="en-US" sz="1300" dirty="0"/>
          </a:p>
        </p:txBody>
      </p:sp>
      <p:sp>
        <p:nvSpPr>
          <p:cNvPr id="5" name="Shape 3"/>
          <p:cNvSpPr/>
          <p:nvPr/>
        </p:nvSpPr>
        <p:spPr>
          <a:xfrm>
            <a:off x="2011680" y="2331720"/>
            <a:ext cx="502920" cy="0"/>
          </a:xfrm>
          <a:prstGeom prst="line">
            <a:avLst/>
          </a:prstGeom>
          <a:noFill/>
          <a:ln w="19050">
            <a:solidFill>
              <a:srgbClr val="64748B"/>
            </a:solidFill>
            <a:prstDash val="solid"/>
            <a:tailEnd type="triangle"/>
          </a:ln>
        </p:spPr>
      </p:sp>
      <p:sp>
        <p:nvSpPr>
          <p:cNvPr id="6" name="Text 4"/>
          <p:cNvSpPr txBox="1"/>
          <p:nvPr/>
        </p:nvSpPr>
        <p:spPr>
          <a:xfrm>
            <a:off x="2011680" y="2011680"/>
            <a:ext cx="548640" cy="274320"/>
          </a:xfrm>
          <a:prstGeom prst="rect">
            <a:avLst/>
          </a:prstGeom>
          <a:noFill/>
          <a:ln/>
        </p:spPr>
        <p:txBody>
          <a:bodyPr wrap="square" lIns="0" tIns="0" rIns="0" bIns="0" rtlCol="0" anchor="ctr"/>
          <a:lstStyle/>
          <a:p>
            <a:pPr indent="0" marL="0">
              <a:buNone/>
            </a:pPr>
            <a:r>
              <a:rPr lang="en-US" sz="1000" i="1" dirty="0">
                <a:solidFill>
                  <a:srgbClr val="64748B"/>
                </a:solidFill>
              </a:rPr>
              <a:t>imports</a:t>
            </a:r>
            <a:endParaRPr lang="en-US" sz="1000" dirty="0"/>
          </a:p>
        </p:txBody>
      </p:sp>
      <p:sp>
        <p:nvSpPr>
          <p:cNvPr id="7" name="notes-module"/>
          <p:cNvSpPr/>
          <p:nvPr/>
        </p:nvSpPr>
        <p:spPr>
          <a:xfrm>
            <a:off x="2560320" y="1097280"/>
            <a:ext cx="3291840" cy="3291840"/>
          </a:xfrm>
          <a:prstGeom prst="roundRect">
            <a:avLst>
              <a:gd name="adj" fmla="val 2778"/>
            </a:avLst>
          </a:prstGeom>
          <a:solidFill>
            <a:srgbClr val="F1F5F9"/>
          </a:solidFill>
          <a:ln w="12700">
            <a:solidFill>
              <a:srgbClr val="CBD5E1"/>
            </a:solidFill>
            <a:prstDash val="solid"/>
          </a:ln>
        </p:spPr>
      </p:sp>
      <p:sp>
        <p:nvSpPr>
          <p:cNvPr id="8" name="Text 6"/>
          <p:cNvSpPr txBox="1"/>
          <p:nvPr/>
        </p:nvSpPr>
        <p:spPr>
          <a:xfrm>
            <a:off x="2697480" y="1143000"/>
            <a:ext cx="3017520" cy="292608"/>
          </a:xfrm>
          <a:prstGeom prst="rect">
            <a:avLst/>
          </a:prstGeom>
          <a:noFill/>
          <a:ln/>
        </p:spPr>
        <p:txBody>
          <a:bodyPr wrap="square" lIns="0" tIns="0" rIns="0" bIns="0" rtlCol="0" anchor="ctr"/>
          <a:lstStyle/>
          <a:p>
            <a:pPr indent="0" marL="0">
              <a:buNone/>
            </a:pPr>
            <a:r>
              <a:rPr lang="en-US" sz="1100" b="1" dirty="0">
                <a:solidFill>
                  <a:srgbClr val="1B1F24"/>
                </a:solidFill>
              </a:rPr>
              <a:t>NotesModule  (src/notes/notes.module.ts)</a:t>
            </a:r>
            <a:endParaRPr lang="en-US" sz="1100" dirty="0"/>
          </a:p>
        </p:txBody>
      </p:sp>
      <p:sp>
        <p:nvSpPr>
          <p:cNvPr id="9" name="controller"/>
          <p:cNvSpPr/>
          <p:nvPr/>
        </p:nvSpPr>
        <p:spPr>
          <a:xfrm>
            <a:off x="3017520" y="1508760"/>
            <a:ext cx="2377440" cy="731520"/>
          </a:xfrm>
          <a:prstGeom prst="roundRect">
            <a:avLst>
              <a:gd name="adj" fmla="val 10000"/>
            </a:avLst>
          </a:prstGeom>
          <a:solidFill>
            <a:srgbClr val="1FB68A"/>
          </a:solidFill>
          <a:ln w="12700">
            <a:solidFill>
              <a:srgbClr val="1FB68A"/>
            </a:solidFill>
            <a:prstDash val="solid"/>
          </a:ln>
        </p:spPr>
      </p:sp>
      <p:sp>
        <p:nvSpPr>
          <p:cNvPr id="10" name="Text 8"/>
          <p:cNvSpPr txBox="1"/>
          <p:nvPr/>
        </p:nvSpPr>
        <p:spPr>
          <a:xfrm>
            <a:off x="3017520" y="1508760"/>
            <a:ext cx="2377440" cy="731520"/>
          </a:xfrm>
          <a:prstGeom prst="rect">
            <a:avLst/>
          </a:prstGeom>
          <a:noFill/>
          <a:ln/>
        </p:spPr>
        <p:txBody>
          <a:bodyPr wrap="square" lIns="38100" tIns="38100" rIns="38100" bIns="38100" rtlCol="0" anchor="ctr"/>
          <a:lstStyle/>
          <a:p>
            <a:pPr algn="ctr" indent="0" marL="0">
              <a:buNone/>
            </a:pPr>
            <a:r>
              <a:rPr lang="en-US" sz="1300" b="1" dirty="0">
                <a:solidFill>
                  <a:srgbClr val="FFFFFF"/>
                </a:solidFill>
              </a:rPr>
              <a:t>NotesController</a:t>
            </a:r>
            <a:endParaRPr lang="en-US" sz="1300" dirty="0"/>
          </a:p>
          <a:p>
            <a:pPr algn="ctr" indent="0" marL="0">
              <a:buNone/>
            </a:pPr>
            <a:r>
              <a:rPr lang="en-US" sz="1000" dirty="0">
                <a:solidFill>
                  <a:srgbClr val="FFFFFF"/>
                </a:solidFill>
              </a:rPr>
              <a:t>routes: parse, delegate, return</a:t>
            </a:r>
            <a:endParaRPr lang="en-US" sz="1300" dirty="0"/>
          </a:p>
        </p:txBody>
      </p:sp>
      <p:sp>
        <p:nvSpPr>
          <p:cNvPr id="11" name="Shape 9"/>
          <p:cNvSpPr/>
          <p:nvPr/>
        </p:nvSpPr>
        <p:spPr>
          <a:xfrm>
            <a:off x="4206240" y="2240280"/>
            <a:ext cx="0" cy="274320"/>
          </a:xfrm>
          <a:prstGeom prst="line">
            <a:avLst/>
          </a:prstGeom>
          <a:noFill/>
          <a:ln w="19050">
            <a:solidFill>
              <a:srgbClr val="64748B"/>
            </a:solidFill>
            <a:prstDash val="solid"/>
            <a:tailEnd type="triangle"/>
          </a:ln>
        </p:spPr>
      </p:sp>
      <p:sp>
        <p:nvSpPr>
          <p:cNvPr id="12" name="Text 10"/>
          <p:cNvSpPr txBox="1"/>
          <p:nvPr/>
        </p:nvSpPr>
        <p:spPr>
          <a:xfrm>
            <a:off x="4297680" y="2258568"/>
            <a:ext cx="731520" cy="274320"/>
          </a:xfrm>
          <a:prstGeom prst="rect">
            <a:avLst/>
          </a:prstGeom>
          <a:noFill/>
          <a:ln/>
        </p:spPr>
        <p:txBody>
          <a:bodyPr wrap="square" lIns="0" tIns="0" rIns="0" bIns="0" rtlCol="0" anchor="ctr"/>
          <a:lstStyle/>
          <a:p>
            <a:pPr indent="0" marL="0">
              <a:buNone/>
            </a:pPr>
            <a:r>
              <a:rPr lang="en-US" sz="1000" i="1" dirty="0">
                <a:solidFill>
                  <a:srgbClr val="64748B"/>
                </a:solidFill>
              </a:rPr>
              <a:t>injects</a:t>
            </a:r>
            <a:endParaRPr lang="en-US" sz="1000" dirty="0"/>
          </a:p>
        </p:txBody>
      </p:sp>
      <p:sp>
        <p:nvSpPr>
          <p:cNvPr id="13" name="service"/>
          <p:cNvSpPr/>
          <p:nvPr/>
        </p:nvSpPr>
        <p:spPr>
          <a:xfrm>
            <a:off x="3017520" y="2514600"/>
            <a:ext cx="2377440" cy="731520"/>
          </a:xfrm>
          <a:prstGeom prst="roundRect">
            <a:avLst>
              <a:gd name="adj" fmla="val 10000"/>
            </a:avLst>
          </a:prstGeom>
          <a:solidFill>
            <a:srgbClr val="1FB68A"/>
          </a:solidFill>
          <a:ln w="12700">
            <a:solidFill>
              <a:srgbClr val="1FB68A"/>
            </a:solidFill>
            <a:prstDash val="solid"/>
          </a:ln>
        </p:spPr>
      </p:sp>
      <p:sp>
        <p:nvSpPr>
          <p:cNvPr id="14" name="Text 12"/>
          <p:cNvSpPr txBox="1"/>
          <p:nvPr/>
        </p:nvSpPr>
        <p:spPr>
          <a:xfrm>
            <a:off x="3017520" y="2514600"/>
            <a:ext cx="2377440" cy="731520"/>
          </a:xfrm>
          <a:prstGeom prst="rect">
            <a:avLst/>
          </a:prstGeom>
          <a:noFill/>
          <a:ln/>
        </p:spPr>
        <p:txBody>
          <a:bodyPr wrap="square" lIns="38100" tIns="38100" rIns="38100" bIns="38100" rtlCol="0" anchor="ctr"/>
          <a:lstStyle/>
          <a:p>
            <a:pPr algn="ctr" indent="0" marL="0">
              <a:buNone/>
            </a:pPr>
            <a:r>
              <a:rPr lang="en-US" sz="1300" b="1" dirty="0">
                <a:solidFill>
                  <a:srgbClr val="FFFFFF"/>
                </a:solidFill>
              </a:rPr>
              <a:t>NotesService</a:t>
            </a:r>
            <a:endParaRPr lang="en-US" sz="1300" dirty="0"/>
          </a:p>
          <a:p>
            <a:pPr algn="ctr" indent="0" marL="0">
              <a:buNone/>
            </a:pPr>
            <a:r>
              <a:rPr lang="en-US" sz="1000" dirty="0">
                <a:solidFill>
                  <a:srgbClr val="FFFFFF"/>
                </a:solidFill>
              </a:rPr>
              <a:t>the rules; throws DomainError</a:t>
            </a:r>
            <a:endParaRPr lang="en-US" sz="1300" dirty="0"/>
          </a:p>
        </p:txBody>
      </p:sp>
      <p:sp>
        <p:nvSpPr>
          <p:cNvPr id="15" name="Shape 13"/>
          <p:cNvSpPr/>
          <p:nvPr/>
        </p:nvSpPr>
        <p:spPr>
          <a:xfrm>
            <a:off x="4206240" y="3246120"/>
            <a:ext cx="0" cy="274320"/>
          </a:xfrm>
          <a:prstGeom prst="line">
            <a:avLst/>
          </a:prstGeom>
          <a:noFill/>
          <a:ln w="19050">
            <a:solidFill>
              <a:srgbClr val="64748B"/>
            </a:solidFill>
            <a:prstDash val="solid"/>
            <a:tailEnd type="triangle"/>
          </a:ln>
        </p:spPr>
      </p:sp>
      <p:sp>
        <p:nvSpPr>
          <p:cNvPr id="16" name="Text 14"/>
          <p:cNvSpPr txBox="1"/>
          <p:nvPr/>
        </p:nvSpPr>
        <p:spPr>
          <a:xfrm>
            <a:off x="4297680" y="3264408"/>
            <a:ext cx="1463040" cy="274320"/>
          </a:xfrm>
          <a:prstGeom prst="rect">
            <a:avLst/>
          </a:prstGeom>
          <a:noFill/>
          <a:ln/>
        </p:spPr>
        <p:txBody>
          <a:bodyPr wrap="square" lIns="0" tIns="0" rIns="0" bIns="0" rtlCol="0" anchor="ctr"/>
          <a:lstStyle/>
          <a:p>
            <a:pPr indent="0" marL="0">
              <a:buNone/>
            </a:pPr>
            <a:r>
              <a:rPr lang="en-US" sz="1000" i="1" dirty="0">
                <a:solidFill>
                  <a:srgbClr val="64748B"/>
                </a:solidFill>
              </a:rPr>
              <a:t>injects the token</a:t>
            </a:r>
            <a:endParaRPr lang="en-US" sz="1000" dirty="0"/>
          </a:p>
        </p:txBody>
      </p:sp>
      <p:sp>
        <p:nvSpPr>
          <p:cNvPr id="17" name="repository"/>
          <p:cNvSpPr/>
          <p:nvPr/>
        </p:nvSpPr>
        <p:spPr>
          <a:xfrm>
            <a:off x="3017520" y="3520440"/>
            <a:ext cx="2377440" cy="731520"/>
          </a:xfrm>
          <a:prstGeom prst="roundRect">
            <a:avLst>
              <a:gd name="adj" fmla="val 10000"/>
            </a:avLst>
          </a:prstGeom>
          <a:solidFill>
            <a:srgbClr val="1FB68A"/>
          </a:solidFill>
          <a:ln w="12700">
            <a:solidFill>
              <a:srgbClr val="1FB68A"/>
            </a:solidFill>
            <a:prstDash val="solid"/>
          </a:ln>
        </p:spPr>
      </p:sp>
      <p:sp>
        <p:nvSpPr>
          <p:cNvPr id="18" name="Text 16"/>
          <p:cNvSpPr txBox="1"/>
          <p:nvPr/>
        </p:nvSpPr>
        <p:spPr>
          <a:xfrm>
            <a:off x="3017520" y="3520440"/>
            <a:ext cx="2377440" cy="731520"/>
          </a:xfrm>
          <a:prstGeom prst="rect">
            <a:avLst/>
          </a:prstGeom>
          <a:noFill/>
          <a:ln/>
        </p:spPr>
        <p:txBody>
          <a:bodyPr wrap="square" lIns="38100" tIns="38100" rIns="38100" bIns="38100" rtlCol="0" anchor="ctr"/>
          <a:lstStyle/>
          <a:p>
            <a:pPr algn="ctr" indent="0" marL="0">
              <a:buNone/>
            </a:pPr>
            <a:r>
              <a:rPr lang="en-US" sz="1300" b="1" dirty="0">
                <a:solidFill>
                  <a:srgbClr val="FFFFFF"/>
                </a:solidFill>
              </a:rPr>
              <a:t>DrizzleNotesRepository</a:t>
            </a:r>
            <a:endParaRPr lang="en-US" sz="1300" dirty="0"/>
          </a:p>
          <a:p>
            <a:pPr algn="ctr" indent="0" marL="0">
              <a:buNone/>
            </a:pPr>
            <a:r>
              <a:rPr lang="en-US" sz="1000" dirty="0">
                <a:solidFill>
                  <a:srgbClr val="FFFFFF"/>
                </a:solidFill>
              </a:rPr>
              <a:t>provided for NOTES_REPOSITORY</a:t>
            </a:r>
            <a:endParaRPr lang="en-US" sz="1300" dirty="0"/>
          </a:p>
        </p:txBody>
      </p:sp>
      <p:sp>
        <p:nvSpPr>
          <p:cNvPr id="19" name="middleware"/>
          <p:cNvSpPr/>
          <p:nvPr/>
        </p:nvSpPr>
        <p:spPr>
          <a:xfrm>
            <a:off x="6400800" y="1508760"/>
            <a:ext cx="2286000" cy="731520"/>
          </a:xfrm>
          <a:prstGeom prst="roundRect">
            <a:avLst>
              <a:gd name="adj" fmla="val 10000"/>
            </a:avLst>
          </a:prstGeom>
          <a:solidFill>
            <a:srgbClr val="1B1F24"/>
          </a:solidFill>
          <a:ln w="12700">
            <a:solidFill>
              <a:srgbClr val="1B1F24"/>
            </a:solidFill>
            <a:prstDash val="solid"/>
          </a:ln>
        </p:spPr>
      </p:sp>
      <p:sp>
        <p:nvSpPr>
          <p:cNvPr id="20" name="Text 18"/>
          <p:cNvSpPr txBox="1"/>
          <p:nvPr/>
        </p:nvSpPr>
        <p:spPr>
          <a:xfrm>
            <a:off x="6400800" y="1508760"/>
            <a:ext cx="2286000" cy="731520"/>
          </a:xfrm>
          <a:prstGeom prst="rect">
            <a:avLst/>
          </a:prstGeom>
          <a:noFill/>
          <a:ln/>
        </p:spPr>
        <p:txBody>
          <a:bodyPr wrap="square" lIns="38100" tIns="38100" rIns="38100" bIns="38100" rtlCol="0" anchor="ctr"/>
          <a:lstStyle/>
          <a:p>
            <a:pPr algn="ctr" indent="0" marL="0">
              <a:buNone/>
            </a:pPr>
            <a:r>
              <a:rPr lang="en-US" sz="1300" b="1" dirty="0">
                <a:solidFill>
                  <a:srgbClr val="FFFFFF"/>
                </a:solidFill>
              </a:rPr>
              <a:t>Middleware</a:t>
            </a:r>
            <a:endParaRPr lang="en-US" sz="1300" dirty="0"/>
          </a:p>
          <a:p>
            <a:pPr algn="ctr" indent="0" marL="0">
              <a:buNone/>
            </a:pPr>
            <a:r>
              <a:rPr lang="en-US" sz="1000" dirty="0">
                <a:solidFill>
                  <a:srgbClr val="FFFFFF"/>
                </a:solidFill>
              </a:rPr>
              <a:t>consumer.apply(fn).forRoutes(…)</a:t>
            </a:r>
            <a:endParaRPr lang="en-US" sz="1300" dirty="0"/>
          </a:p>
        </p:txBody>
      </p:sp>
      <p:sp>
        <p:nvSpPr>
          <p:cNvPr id="21" name="Shape 19"/>
          <p:cNvSpPr/>
          <p:nvPr/>
        </p:nvSpPr>
        <p:spPr>
          <a:xfrm>
            <a:off x="5394960" y="1874520"/>
            <a:ext cx="1005840" cy="0"/>
          </a:xfrm>
          <a:prstGeom prst="line">
            <a:avLst/>
          </a:prstGeom>
          <a:noFill/>
          <a:ln w="19050">
            <a:solidFill>
              <a:srgbClr val="E69A28"/>
            </a:solidFill>
            <a:prstDash val="solid"/>
            <a:headEnd type="triangle"/>
          </a:ln>
        </p:spPr>
      </p:sp>
      <p:sp>
        <p:nvSpPr>
          <p:cNvPr id="22" name="Text 20"/>
          <p:cNvSpPr txBox="1"/>
          <p:nvPr/>
        </p:nvSpPr>
        <p:spPr>
          <a:xfrm>
            <a:off x="5532120" y="1572768"/>
            <a:ext cx="822960" cy="274320"/>
          </a:xfrm>
          <a:prstGeom prst="rect">
            <a:avLst/>
          </a:prstGeom>
          <a:noFill/>
          <a:ln/>
        </p:spPr>
        <p:txBody>
          <a:bodyPr wrap="square" lIns="0" tIns="0" rIns="0" bIns="0" rtlCol="0" anchor="ctr"/>
          <a:lstStyle/>
          <a:p>
            <a:pPr indent="0" marL="0">
              <a:buNone/>
            </a:pPr>
            <a:r>
              <a:rPr lang="en-US" sz="1000" i="1" dirty="0">
                <a:solidFill>
                  <a:srgbClr val="E69A28"/>
                </a:solidFill>
              </a:rPr>
              <a:t>runs first</a:t>
            </a:r>
            <a:endParaRPr lang="en-US" sz="1000" dirty="0"/>
          </a:p>
        </p:txBody>
      </p:sp>
      <p:sp>
        <p:nvSpPr>
          <p:cNvPr id="23" name="database-module"/>
          <p:cNvSpPr/>
          <p:nvPr/>
        </p:nvSpPr>
        <p:spPr>
          <a:xfrm>
            <a:off x="6400800" y="3520440"/>
            <a:ext cx="2286000" cy="731520"/>
          </a:xfrm>
          <a:prstGeom prst="roundRect">
            <a:avLst>
              <a:gd name="adj" fmla="val 10000"/>
            </a:avLst>
          </a:prstGeom>
          <a:solidFill>
            <a:srgbClr val="1B1F24"/>
          </a:solidFill>
          <a:ln w="12700">
            <a:solidFill>
              <a:srgbClr val="1B1F24"/>
            </a:solidFill>
            <a:prstDash val="solid"/>
          </a:ln>
        </p:spPr>
      </p:sp>
      <p:sp>
        <p:nvSpPr>
          <p:cNvPr id="24" name="Text 22"/>
          <p:cNvSpPr txBox="1"/>
          <p:nvPr/>
        </p:nvSpPr>
        <p:spPr>
          <a:xfrm>
            <a:off x="6400800" y="3520440"/>
            <a:ext cx="2286000" cy="731520"/>
          </a:xfrm>
          <a:prstGeom prst="rect">
            <a:avLst/>
          </a:prstGeom>
          <a:noFill/>
          <a:ln/>
        </p:spPr>
        <p:txBody>
          <a:bodyPr wrap="square" lIns="38100" tIns="38100" rIns="38100" bIns="38100" rtlCol="0" anchor="ctr"/>
          <a:lstStyle/>
          <a:p>
            <a:pPr algn="ctr" indent="0" marL="0">
              <a:buNone/>
            </a:pPr>
            <a:r>
              <a:rPr lang="en-US" sz="1300" b="1" dirty="0">
                <a:solidFill>
                  <a:srgbClr val="FFFFFF"/>
                </a:solidFill>
              </a:rPr>
              <a:t>DatabaseModule</a:t>
            </a:r>
            <a:endParaRPr lang="en-US" sz="1300" dirty="0"/>
          </a:p>
          <a:p>
            <a:pPr algn="ctr" indent="0" marL="0">
              <a:buNone/>
            </a:pPr>
            <a:r>
              <a:rPr lang="en-US" sz="1000" dirty="0">
                <a:solidFill>
                  <a:srgbClr val="FFFFFF"/>
                </a:solidFill>
              </a:rPr>
              <a:t>the DB token, global</a:t>
            </a:r>
            <a:endParaRPr lang="en-US" sz="1300" dirty="0"/>
          </a:p>
        </p:txBody>
      </p:sp>
      <p:sp>
        <p:nvSpPr>
          <p:cNvPr id="25" name="Shape 23"/>
          <p:cNvSpPr/>
          <p:nvPr/>
        </p:nvSpPr>
        <p:spPr>
          <a:xfrm>
            <a:off x="5394960" y="3886200"/>
            <a:ext cx="1005840" cy="0"/>
          </a:xfrm>
          <a:prstGeom prst="line">
            <a:avLst/>
          </a:prstGeom>
          <a:noFill/>
          <a:ln w="19050">
            <a:solidFill>
              <a:srgbClr val="64748B"/>
            </a:solidFill>
            <a:prstDash val="solid"/>
            <a:headEnd type="triangle"/>
          </a:ln>
        </p:spPr>
      </p:sp>
      <p:sp>
        <p:nvSpPr>
          <p:cNvPr id="26" name="Text 24"/>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1200" i="1" dirty="0">
                <a:solidFill>
                  <a:srgbClr val="64748B"/>
                </a:solidFill>
              </a:rPr>
              <a:t>Inject a token, not a class: the module decides the storage.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Node 24 + pnpm</a:t>
            </a:r>
            <a:endParaRPr lang="en-US" sz="1800" dirty="0"/>
          </a:p>
          <a:p>
            <a:pPr indent="0" marL="0">
              <a:buNone/>
            </a:pPr>
            <a:r>
              <a:rPr lang="en-US" sz="1400" dirty="0">
                <a:solidFill>
                  <a:srgbClr val="2B3440"/>
                </a:solidFill>
              </a:rPr>
              <a:t>Every command runs in boilerplate/nest-ai-starter. </a:t>
            </a:r>
            <a:pPr indent="0" marL="0">
              <a:buNone/>
            </a:pPr>
            <a:r>
              <a:rPr lang="en-US" sz="1400" dirty="0">
                <a:solidFill>
                  <a:srgbClr val="2B3440"/>
                </a:solidFill>
                <a:latin typeface="Courier New" pitchFamily="34" charset="0"/>
                <a:ea typeface="Courier New" pitchFamily="34" charset="-122"/>
                <a:cs typeface="Courier New" pitchFamily="34" charset="-120"/>
              </a:rPr>
              <a:t>corepack enable</a:t>
            </a:r>
            <a:pPr indent="0" marL="0">
              <a:buNone/>
            </a:pPr>
            <a:r>
              <a:rPr lang="en-US" sz="1400" dirty="0">
                <a:solidFill>
                  <a:srgbClr val="2B3440"/>
                </a:solidFill>
              </a:rPr>
              <a:t> once puts pnpm on your PATH; otherwise write </a:t>
            </a:r>
            <a:pPr indent="0" marL="0">
              <a:buNone/>
            </a:pPr>
            <a:r>
              <a:rPr lang="en-US" sz="1400" dirty="0">
                <a:solidFill>
                  <a:srgbClr val="2B3440"/>
                </a:solidFill>
                <a:latin typeface="Courier New" pitchFamily="34" charset="0"/>
                <a:ea typeface="Courier New" pitchFamily="34" charset="-122"/>
                <a:cs typeface="Courier New" pitchFamily="34" charset="-120"/>
              </a:rPr>
              <a:t>corepack pnpm</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pnpm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Calling the API with Postman</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Import one file</a:t>
            </a:r>
            <a:endParaRPr lang="en-US" sz="1800" dirty="0"/>
          </a:p>
          <a:p>
            <a:pPr indent="0" marL="0">
              <a:buNone/>
            </a:pPr>
            <a:r>
              <a:rPr lang="en-US" sz="1400" dirty="0">
                <a:solidFill>
                  <a:srgbClr val="2B3440"/>
                </a:solidFill>
              </a:rPr>
              <a:t>In the starter: </a:t>
            </a:r>
            <a:pPr indent="0" marL="0">
              <a:buNone/>
            </a:pPr>
            <a:r>
              <a:rPr lang="en-US" sz="1400" dirty="0">
                <a:solidFill>
                  <a:srgbClr val="2B3440"/>
                </a:solidFill>
                <a:latin typeface="Courier New" pitchFamily="34" charset="0"/>
                <a:ea typeface="Courier New" pitchFamily="34" charset="-122"/>
                <a:cs typeface="Courier New" pitchFamily="34" charset="-120"/>
              </a:rPr>
              <a:t>postman/nest-ai-starter.postman_collection.json</a:t>
            </a:r>
            <a:pPr indent="0" marL="0">
              <a:buNone/>
            </a:pPr>
            <a:r>
              <a:rPr lang="en-US" sz="1400" dirty="0">
                <a:solidFill>
                  <a:srgbClr val="2B3440"/>
                </a:solidFill>
              </a:rPr>
              <a:t>. baseUrl is http://localhost:3000. Run the folders in order: 01 stores the ids 02 uses.</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Folders follow module 1</a:t>
            </a:r>
            <a:endParaRPr lang="en-US" sz="1800" dirty="0"/>
          </a:p>
          <a:p>
            <a:pPr indent="0" marL="0">
              <a:buNone/>
            </a:pPr>
            <a:r>
              <a:rPr lang="en-US" sz="1400" dirty="0">
                <a:solidFill>
                  <a:srgbClr val="2B3440"/>
                </a:solidFill>
              </a:rPr>
              <a:t>Users, then notes and sharing. Every request has tests: read the Test Results tab, not just the status.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pnpm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pnpm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pnpm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60'</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45'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60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2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switches to corepack pnpm if pnpm is missing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pnpm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pnpm lab 01 and pnpm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pnpm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build &amp;&amp; pnpm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second terminal: the seeded rows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curl -s 'localhost:3000/api/v1/notes?status=done'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lab 01   # the lab check: all green?</a:t>
            </a:r>
            <a:endParaRPr lang="en-US" sz="1200" dirty="0"/>
          </a:p>
        </p:txBody>
      </p:sp>
      <p:sp>
        <p:nvSpPr>
          <p:cNvPr id="9" name="postman"/>
          <p:cNvSpPr/>
          <p:nvPr/>
        </p:nvSpPr>
        <p:spPr>
          <a:xfrm>
            <a:off x="5852160" y="1097280"/>
            <a:ext cx="2834640" cy="3520440"/>
          </a:xfrm>
          <a:prstGeom prst="roundRect">
            <a:avLst>
              <a:gd name="adj" fmla="val 2581"/>
            </a:avLst>
          </a:prstGeom>
          <a:solidFill>
            <a:srgbClr val="EF5B25"/>
          </a:solidFill>
          <a:ln w="12700">
            <a:solidFill>
              <a:srgbClr val="EF5B25"/>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Postman</a:t>
            </a:r>
            <a:endParaRPr lang="en-US" sz="1600" dirty="0"/>
          </a:p>
        </p:txBody>
      </p:sp>
      <p:sp>
        <p:nvSpPr>
          <p:cNvPr id="12" name="postman-request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01 · Users (module 1)</a:t>
            </a:r>
            <a:endParaRPr lang="en-US" sz="1300" dirty="0"/>
          </a:p>
          <a:p>
            <a:pPr indent="0" marL="0">
              <a:buNone/>
            </a:pPr>
            <a:r>
              <a:rPr lang="en-US" sz="1300" dirty="0">
                <a:solidFill>
                  <a:srgbClr val="FFFFFF"/>
                </a:solidFill>
              </a:rPr>
              <a:t>1. List users (seeded)</a:t>
            </a:r>
            <a:endParaRPr lang="en-US" sz="1300" dirty="0"/>
          </a:p>
          <a:p>
            <a:pPr indent="0" marL="0">
              <a:buNone/>
            </a:pPr>
            <a:r>
              <a:rPr lang="en-US" sz="1300" dirty="0">
                <a:solidFill>
                  <a:srgbClr val="FFFFFF"/>
                </a:solidFill>
              </a:rPr>
              <a:t>2. Create user</a:t>
            </a:r>
            <a:endParaRPr lang="en-US" sz="1300" dirty="0"/>
          </a:p>
          <a:p>
            <a:pPr indent="0" marL="0">
              <a:spcBef>
                <a:spcPts val="600"/>
              </a:spcBef>
              <a:buNone/>
            </a:pPr>
            <a:r>
              <a:rPr lang="en-US" sz="1300" b="1" dirty="0">
                <a:solidFill>
                  <a:srgbClr val="FFFFFF"/>
                </a:solidFill>
              </a:rPr>
              <a:t>02 · Notes and sharing (module 1)</a:t>
            </a:r>
            <a:endParaRPr lang="en-US" sz="1300" dirty="0"/>
          </a:p>
          <a:p>
            <a:pPr indent="0" marL="0">
              <a:buNone/>
            </a:pPr>
            <a:r>
              <a:rPr lang="en-US" sz="1300" dirty="0">
                <a:solidFill>
                  <a:srgbClr val="FFFFFF"/>
                </a:solidFill>
              </a:rPr>
              <a:t>1. Create note</a:t>
            </a:r>
            <a:endParaRPr lang="en-US" sz="1300" dirty="0"/>
          </a:p>
          <a:p>
            <a:pPr indent="0" marL="0">
              <a:buNone/>
            </a:pPr>
            <a:r>
              <a:rPr lang="en-US" sz="1300" dirty="0">
                <a:solidFill>
                  <a:srgbClr val="FFFFFF"/>
                </a:solidFill>
              </a:rPr>
              <a:t>2. Edit a done note → 422 (R2)</a:t>
            </a:r>
            <a:endParaRPr lang="en-US" sz="1300" dirty="0"/>
          </a:p>
          <a:p>
            <a:pPr indent="0" marL="0">
              <a:buNone/>
            </a:pPr>
            <a:r>
              <a:rPr lang="en-US" sz="1300" dirty="0">
                <a:solidFill>
                  <a:srgbClr val="FFFFFF"/>
                </a:solidFill>
              </a:rPr>
              <a:t>3.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pnpm verify (base: 20 unit, 2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46 passed (46)</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pnpm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the app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pnpm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reads and writes the database; you add it to your own Claude and ask it about the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45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Your own Claude should be able to read and change this data.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my own Claude.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pnpm lab 02 and pnpm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verify are green; then tell me how to add it to Claude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Code, and show me two questions I could ask it.</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write tools call NotesService: no rule copied</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read-only in two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exits when data/app.db is missing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pnpm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claude mcp add notes-db -e DATABASE_URL="file:$PWD/data/app.db" \</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  -- node "$PWD/dist/mcp-server.js"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then, in Claude: "Which open notes are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shared with more than one person?"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lab 02   # the lab check: all green?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your Claude,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pnpm verify</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60 passed (60)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55 passed (55)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pnpm lab 01 02</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25 passed (25)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query: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READ_ONLY: only a single SELECT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(or WITH … SELECT) statement is allowed</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a write sent to query is READ_ONLY</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Claude answers a question about the data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a query_only connection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copies the notes rules into the tools</a:t>
            </a:r>
            <a:endParaRPr lang="en-US" sz="1600" dirty="0"/>
          </a:p>
          <a:p>
            <a:pPr indent="0" marL="0">
              <a:buNone/>
            </a:pPr>
            <a:r>
              <a:rPr lang="en-US" sz="1400" dirty="0">
                <a:solidFill>
                  <a:srgbClr val="2B3440"/>
                </a:solidFill>
              </a:rPr>
              <a:t>One rule, two copies, one will drift. The tools should call NotesService.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Your Claude</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2026-10-27T03:14:50Z</dcterms:created>
  <dcterms:modified xsi:type="dcterms:W3CDTF">2026-10-27T03:14:50Z</dcterms:modified>
</cp:coreProperties>
</file>