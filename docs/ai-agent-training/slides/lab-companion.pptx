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deck on screen during lab work. Each module has: a divider (goal + time), PROMPT slides (what the proctor says and the exact prompt learners paste into their agent), CHECK IT (what learners run to check the agent's work), CHECKPOINT (what correct looks like) and WHEN THE AGENT GOES WRONG (mistakes agents actually made). The full explanations are in the chapter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does the building and the planning; the learner directs and checks. The instruction says what and when it is done, never how: the repo (CLAUDE.md, its skills, the specs) tells the agent how, and watching it find that out is part of the lab. Measured: fresh agents given only these instructions got every module's lab green. Hold the agent to evidence: counts, a failing run, the generated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request passes middleware first, then reaches a controller. The controller does no business logic: it calls a service. The service holds the rules and reads or writes the database (through a repository). The answer travels back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module groups one feature: its controller, its service and its repository. The controller calls the service; the service calls the repository; Nest connects them (dependency injection). Middleware sits outside the feature and runs before the controller. In module 1 your agent builds one module for users and one for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audience is on Windows. Windows PowerShell 5.1 has no &amp;&amp; (PowerShell 7 does), so every command is on its own line. Nobody needs curl: the playground page sends the requests. The base starts its tools with node and their JS entry, because the node_modules\.bin shims are .cmd files on Windows; measured on Linux, not yet on a Windows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module 1 is built, health is the only green row: the rest answer 404 or wait for an id. Module 2 has no playground: its client is Claude Desktop, over stdio. The Postman collection stays in the starter (postman/) for anyone who prefers it; the labs do not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checks drive the app over HTTP (lab 01, empty in-memory database) and the MCP server over stdio (lab 02, a copy of the seeded file), and never import learner code. The contracts are the specs; test/labs/README.md summarises them. Each module's reference result is a patch in docs/ai-agent-training/checkpoints/.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modules, about 15 minutes each for Claude Code to build, so about 30 minutes of labs. Times are ESTIMATES: nobody has run these labs with an audience yet. Adjust after the first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Covers chapters 00 + 01 + 02. Left out for time: nothing: the two stretch exercises of chapter 01 are for fast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a fresh agent given only this instruction installed, built, started the app, and reported 20 unit / 2 e2e (5 e2e now, with the playground's test), lab 01 red, and the table counts (115 open and 85 done notes, 120 shares, none with its owner). If port 3000 is busy, PORT in .env (chapter 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a fresh agent found the resource-spec and nest-resource-scaffold skills from CLAUDE.md on its own; the template kept users.table.ts and left 14 markers; verify went to 29 unit / 18 e2e. Lab 01 stays red until notes exist. Ask: which instruction told it to use the skill? None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a fresh agent got lab 01 15/15 and verify 43 unit / 46 e2e. Its first dueAt answered 500 for "next tuesday" (it converted with .overwrite(), a zod 4 check that still runs after the format check failed); it found and fixed it. The filters and share routes go outside the markers,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first: verify and the lab check run on an empty in-memory database, so a green result there is the proof the code works. Only then start the app and open the playground: it sends every module 1 request to the running app with one click and shows each answer, proving the resources also serve the seeded rows. Nobody needs curl. The playground writes to data/app.db; npm run db:seed puts the data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Captured in a dry run of the previous slide, in Chromium at 1280x720: base plus the module 1 checkpoint and no .env, verify 44 unit / 49 e2e, lab 01 15/15, then Run all in order: 19 of 19 cards green, no page errors, List users showing the 25 seeded users. With DevTools open the two 409 and three 422 requests show in red as failed loads; that is expected, they are the rule checks. If port 3000 is taken, npm start prints "successfully started" and THEN fails: the last line says the port is in use. Set PORT in .env and use that port in the URL. A missing .env does not matter: in development the app uses data/app.db by default. npm run db:seed puts the data back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Covers chapters 03 + 04. Left out for time: the stdio framing lab (chapter 03): reading one exchange covers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built the REST front door: an HTTP request reaches a controller, the controller calls a service, the service holds the rules. Module 2 adds a second front door for an AI client. The MCP server takes the controller's place: each tool parses its input and calls the SAME UsersService and NotesService, so the rules exist once. Measured: removing the never-shared-with-the-owner rule from NotesService turns both the REST tests and the MCP checks red. Two tools are the exception: query and execute run SQL a model wrote, straight on the database, so the server guards them itself. On the wire, MCP is JSON-RPC messages, not REST routes. They travel over a transport: stdio when Claude Desktop starts the server on your machine (what we build), or Streamable HTTP for a server you reach over the network. So MCP can ride on HTTP, but it is not built on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a fresh agent got labs 31/31 and verify 46 unit / 58 e2e. Five SQL guards, each removed once and caught by lab 02: query is one SELECT/WITH statement (libSQL silently drops a second) run under PRAGMA query_only (a WITH can hide a delete); execute is one statement, only INSERT/UPDATE/DELETE, and UPDATE/DELETE need a WHERE. Its own e2e test missed two of the five: the lab checks come from the spec, not the code. The typed write tools call UsersService and NotesService, so removing a rule there turns the MCP checks red too. execute keeps foreign keys on but does not apply the service rules; its description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Desktop starts the server from its own folder with a minimal PATH, so the entry needs absolute paths for node, the server and the database. The agent connects it with node scripts/claude-desktop-config.mjs --install, which backs the config file up, keeps every other server in it and adds only notes-db; it refuses a file it cannot parse. The one step the agent cannot do is the restart: each learner quits Claude Desktop completely (not just the window; on Windows also from the tray) and reopens it. The lab runs on a COPY of data/app.db; Claude Desktop writes to the real one, and npm run db:seed puts it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each learner for one thing their agent got wrong, and how they found out: a count, a red test, the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1F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188720"/>
          </a:xfrm>
          <a:prstGeom prst="rect">
            <a:avLst/>
          </a:prstGeom>
          <a:noFill/>
          <a:ln/>
        </p:spPr>
        <p:txBody>
          <a:bodyPr wrap="square" rtlCol="0"/>
          <a:lstStyle>
            <a:lvl1pPr algn="l" indent="0" marL="0">
              <a:buNone/>
              <a:defRPr lang="en-US" sz="4400" b="1" dirty="0">
                <a:solidFill>
                  <a:srgbClr val="FFFFFF"/>
                </a:solidFill>
              </a:defRPr>
            </a:lvl1pPr>
          </a:lstStyle>
          <a:p>
            <a:pPr algn="l" indent="0" marL="0">
              <a:buNone/>
            </a:pPr>
            <a:endParaRPr lang="en-US" sz="4400" dirty="0"/>
          </a:p>
        </p:txBody>
      </p:sp>
      <p:sp>
        <p:nvSpPr>
          <p:cNvPr id="3" name="Text 0"/>
          <p:cNvSpPr/>
          <p:nvPr>
            <p:ph idx="101" type="body" hasCustomPrompt="1"/>
          </p:nvPr>
        </p:nvSpPr>
        <p:spPr>
          <a:xfrm>
            <a:off x="548640" y="2697480"/>
            <a:ext cx="8046720" cy="822960"/>
          </a:xfrm>
          <a:prstGeom prst="rect">
            <a:avLst/>
          </a:prstGeom>
          <a:noFill/>
          <a:ln/>
        </p:spPr>
        <p:txBody>
          <a:bodyPr wrap="square" rtlCol="0"/>
          <a:lstStyle>
            <a:lvl1pPr indent="0" marL="0">
              <a:buNone/>
              <a:defRPr lang="en-US" sz="1800" dirty="0">
                <a:solidFill>
                  <a:srgbClr val="1FB68A"/>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B1F2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097280"/>
            <a:ext cx="5486400" cy="365760"/>
          </a:xfrm>
          <a:prstGeom prst="rect">
            <a:avLst/>
          </a:prstGeom>
          <a:noFill/>
          <a:ln/>
        </p:spPr>
        <p:txBody>
          <a:bodyPr wrap="square" rtlCol="0"/>
          <a:lstStyle>
            <a:lvl1pPr indent="0" marL="0">
              <a:buNone/>
              <a:defRPr lang="en-US" sz="1400" b="1" spc="300" kern="0" dirty="0">
                <a:solidFill>
                  <a:srgbClr val="1FB68A"/>
                </a:solidFill>
              </a:defRPr>
            </a:lvl1pPr>
          </a:lstStyle>
          <a:p>
            <a:pPr indent="0" marL="0">
              <a:buNone/>
            </a:pPr>
            <a:endParaRPr lang="en-US" sz="1400" dirty="0"/>
          </a:p>
        </p:txBody>
      </p:sp>
      <p:sp>
        <p:nvSpPr>
          <p:cNvPr id="3" name="Text 0"/>
          <p:cNvSpPr/>
          <p:nvPr>
            <p:ph idx="101" type="title" hasCustomPrompt="1"/>
          </p:nvPr>
        </p:nvSpPr>
        <p:spPr>
          <a:xfrm>
            <a:off x="548640" y="1508760"/>
            <a:ext cx="8046720" cy="91440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4" name="Text 0"/>
          <p:cNvSpPr/>
          <p:nvPr>
            <p:ph idx="102" type="body" hasCustomPrompt="1"/>
          </p:nvPr>
        </p:nvSpPr>
        <p:spPr>
          <a:xfrm>
            <a:off x="548640" y="2560320"/>
            <a:ext cx="5669280" cy="1097280"/>
          </a:xfrm>
          <a:prstGeom prst="rect">
            <a:avLst/>
          </a:prstGeom>
          <a:noFill/>
          <a:ln/>
        </p:spPr>
        <p:txBody>
          <a:bodyPr wrap="square" rtlCol="0"/>
          <a:lstStyle>
            <a:lvl1pPr indent="0" marL="0">
              <a:buNone/>
              <a:defRPr lang="en-US" sz="1800" dirty="0">
                <a:solidFill>
                  <a:srgbClr val="CBD5E1"/>
                </a:solidFill>
              </a:defRPr>
            </a:lvl1pPr>
          </a:lstStyle>
          <a:p>
            <a:pPr indent="0" marL="0">
              <a:buNone/>
            </a:pPr>
            <a:endParaRPr lang="en-US" sz="1800" dirty="0"/>
          </a:p>
        </p:txBody>
      </p:sp>
      <p:sp>
        <p:nvSpPr>
          <p:cNvPr id="5" name="Text 0"/>
          <p:cNvSpPr/>
          <p:nvPr/>
        </p:nvSpPr>
        <p:spPr>
          <a:xfrm>
            <a:off x="457200" y="4754880"/>
            <a:ext cx="6858000" cy="274320"/>
          </a:xfrm>
          <a:prstGeom prst="rect">
            <a:avLst/>
          </a:prstGeom>
          <a:noFill/>
          <a:ln/>
        </p:spPr>
        <p:txBody>
          <a:bodyPr wrap="square" lIns="0" tIns="0" rIns="0" bIns="0" rtlCol="0" anchor="ctr"/>
          <a:lstStyle/>
          <a:p>
            <a:pPr indent="0" marL="0">
              <a:buNone/>
            </a:pPr>
            <a:r>
              <a:rPr lang="en-US" sz="1000" dirty="0">
                <a:solidFill>
                  <a:srgbClr val="94A3B8"/>
                </a:solidFill>
              </a:rPr>
              <a:t>Lab companion · Building apps with AI agents · NestJS + MCP</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200" b="1" dirty="0">
                <a:solidFill>
                  <a:srgbClr val="1B1F24"/>
                </a:solidFill>
              </a:defRPr>
            </a:lvl1pPr>
          </a:lstStyle>
          <a:p>
            <a:pPr algn="l" indent="0" marL="0">
              <a:buNone/>
            </a:pPr>
            <a:endParaRPr lang="en-US" sz="3200" dirty="0"/>
          </a:p>
        </p:txBody>
      </p:sp>
      <p:sp>
        <p:nvSpPr>
          <p:cNvPr id="3" name="Text 0"/>
          <p:cNvSpPr/>
          <p:nvPr/>
        </p:nvSpPr>
        <p:spPr>
          <a:xfrm>
            <a:off x="457200" y="4754880"/>
            <a:ext cx="6858000" cy="274320"/>
          </a:xfrm>
          <a:prstGeom prst="rect">
            <a:avLst/>
          </a:prstGeom>
          <a:noFill/>
          <a:ln/>
        </p:spPr>
        <p:txBody>
          <a:bodyPr wrap="square" lIns="0" tIns="0" rIns="0" bIns="0" rtlCol="0" anchor="ctr"/>
          <a:lstStyle/>
          <a:p>
            <a:pPr indent="0" marL="0">
              <a:buNone/>
            </a:pPr>
            <a:r>
              <a:rPr lang="en-US" sz="1000" dirty="0">
                <a:solidFill>
                  <a:srgbClr val="64748B"/>
                </a:solidFill>
              </a:rPr>
              <a:t>Lab companion · Building apps with AI agents · NestJS + MCP</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4.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4.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4.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4.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4.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188720"/>
          </a:xfrm>
          <a:prstGeom prst="rect">
            <a:avLst/>
          </a:prstGeom>
          <a:noFill/>
          <a:ln/>
        </p:spPr>
        <p:txBody>
          <a:bodyPr wrap="square" lIns="0" tIns="0" rIns="0" bIns="0" rtlCol="0" anchor="b"/>
          <a:lstStyle/>
          <a:p>
            <a:pPr algn="l" indent="0" marL="0">
              <a:buNone/>
            </a:pPr>
            <a:r>
              <a:rPr lang="en-US" sz="4400" b="1" dirty="0">
                <a:solidFill>
                  <a:srgbClr val="FFFFFF"/>
                </a:solidFill>
              </a:rPr>
              <a:t>Building Apps with AI Agents</a:t>
            </a:r>
            <a:endParaRPr lang="en-US" sz="4400" dirty="0"/>
          </a:p>
        </p:txBody>
      </p:sp>
      <p:sp>
        <p:nvSpPr>
          <p:cNvPr id="3" name="Text 0"/>
          <p:cNvSpPr/>
          <p:nvPr>
            <p:ph idx="101" type="body" hasCustomPrompt="1"/>
          </p:nvPr>
        </p:nvSpPr>
        <p:spPr>
          <a:xfrm>
            <a:off x="548640" y="2697480"/>
            <a:ext cx="8046720" cy="822960"/>
          </a:xfrm>
          <a:prstGeom prst="rect">
            <a:avLst/>
          </a:prstGeom>
          <a:noFill/>
          <a:ln/>
        </p:spPr>
        <p:txBody>
          <a:bodyPr wrap="square" lIns="0" tIns="0" rIns="0" bIns="0" rtlCol="0" anchor="t"/>
          <a:lstStyle/>
          <a:p>
            <a:pPr indent="0" marL="0">
              <a:buNone/>
            </a:pPr>
            <a:r>
              <a:rPr lang="en-US" sz="1800" dirty="0">
                <a:solidFill>
                  <a:srgbClr val="1FB68A"/>
                </a:solidFill>
              </a:rPr>
              <a:t>Lab companion · two modules · NestJS 12 · drizzle · SQLite · MCP</a:t>
            </a:r>
            <a:endParaRPr lang="en-US" sz="1800" dirty="0"/>
          </a:p>
        </p:txBody>
      </p:sp>
      <p:sp>
        <p:nvSpPr>
          <p:cNvPr id="4" name="terminal"/>
          <p:cNvSpPr/>
          <p:nvPr/>
        </p:nvSpPr>
        <p:spPr>
          <a:xfrm>
            <a:off x="548640" y="3703320"/>
            <a:ext cx="5120640" cy="777240"/>
          </a:xfrm>
          <a:prstGeom prst="roundRect">
            <a:avLst>
              <a:gd name="adj" fmla="val 9412"/>
            </a:avLst>
          </a:prstGeom>
          <a:solidFill>
            <a:srgbClr val="1B1F24"/>
          </a:solidFill>
          <a:ln w="12700">
            <a:solidFill>
              <a:srgbClr val="1B1F24"/>
            </a:solidFill>
            <a:prstDash val="solid"/>
          </a:ln>
        </p:spPr>
      </p:sp>
      <p:sp>
        <p:nvSpPr>
          <p:cNvPr id="5" name="Shape 3"/>
          <p:cNvSpPr/>
          <p:nvPr/>
        </p:nvSpPr>
        <p:spPr>
          <a:xfrm>
            <a:off x="731520" y="3831336"/>
            <a:ext cx="109728" cy="109728"/>
          </a:xfrm>
          <a:prstGeom prst="ellipse">
            <a:avLst/>
          </a:prstGeom>
          <a:solidFill>
            <a:srgbClr val="E5484D"/>
          </a:solidFill>
          <a:ln w="12700">
            <a:solidFill>
              <a:srgbClr val="E5484D"/>
            </a:solidFill>
            <a:prstDash val="solid"/>
          </a:ln>
        </p:spPr>
      </p:sp>
      <p:sp>
        <p:nvSpPr>
          <p:cNvPr id="6" name="Shape 4"/>
          <p:cNvSpPr/>
          <p:nvPr/>
        </p:nvSpPr>
        <p:spPr>
          <a:xfrm>
            <a:off x="914400" y="3831336"/>
            <a:ext cx="109728" cy="109728"/>
          </a:xfrm>
          <a:prstGeom prst="ellipse">
            <a:avLst/>
          </a:prstGeom>
          <a:solidFill>
            <a:srgbClr val="E69A28"/>
          </a:solidFill>
          <a:ln w="12700">
            <a:solidFill>
              <a:srgbClr val="E69A28"/>
            </a:solidFill>
            <a:prstDash val="solid"/>
          </a:ln>
        </p:spPr>
      </p:sp>
      <p:sp>
        <p:nvSpPr>
          <p:cNvPr id="7" name="Shape 5"/>
          <p:cNvSpPr/>
          <p:nvPr/>
        </p:nvSpPr>
        <p:spPr>
          <a:xfrm>
            <a:off x="1097280" y="3831336"/>
            <a:ext cx="109728" cy="109728"/>
          </a:xfrm>
          <a:prstGeom prst="ellipse">
            <a:avLst/>
          </a:prstGeom>
          <a:solidFill>
            <a:srgbClr val="1FB68A"/>
          </a:solidFill>
          <a:ln w="12700">
            <a:solidFill>
              <a:srgbClr val="1FB68A"/>
            </a:solidFill>
            <a:prstDash val="solid"/>
          </a:ln>
        </p:spPr>
      </p:sp>
      <p:sp>
        <p:nvSpPr>
          <p:cNvPr id="8" name="terminal-text"/>
          <p:cNvSpPr txBox="1"/>
          <p:nvPr/>
        </p:nvSpPr>
        <p:spPr>
          <a:xfrm>
            <a:off x="777240" y="4087368"/>
            <a:ext cx="4663440" cy="274320"/>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 npm run verify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1F24"/>
                </a:solidFill>
              </a:rPr>
              <a:t>How every lab works</a:t>
            </a:r>
            <a:endParaRPr lang="en-US" sz="3200" dirty="0"/>
          </a:p>
        </p:txBody>
      </p:sp>
      <p:sp>
        <p:nvSpPr>
          <p:cNvPr id="3" name="Shape 1"/>
          <p:cNvSpPr/>
          <p:nvPr/>
        </p:nvSpPr>
        <p:spPr>
          <a:xfrm>
            <a:off x="786384" y="1325880"/>
            <a:ext cx="822960" cy="822960"/>
          </a:xfrm>
          <a:prstGeom prst="ellipse">
            <a:avLst/>
          </a:prstGeom>
          <a:solidFill>
            <a:srgbClr val="1B1F24"/>
          </a:solidFill>
          <a:ln w="12700">
            <a:solidFill>
              <a:srgbClr val="1B1F24"/>
            </a:solidFill>
            <a:prstDash val="solid"/>
          </a:ln>
        </p:spPr>
      </p:sp>
      <p:sp>
        <p:nvSpPr>
          <p:cNvPr id="4" name="Text 2"/>
          <p:cNvSpPr txBox="1"/>
          <p:nvPr/>
        </p:nvSpPr>
        <p:spPr>
          <a:xfrm>
            <a:off x="786384" y="132588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rPr>
              <a:t>1</a:t>
            </a:r>
            <a:endParaRPr lang="en-US" sz="2800" dirty="0"/>
          </a:p>
        </p:txBody>
      </p:sp>
      <p:pic>
        <p:nvPicPr>
          <p:cNvPr id="5" name="Image 0" descr="preencoded.png">    </p:cNvPr>
          <p:cNvPicPr>
            <a:picLocks noChangeAspect="1"/>
          </p:cNvPicPr>
          <p:nvPr/>
        </p:nvPicPr>
        <p:blipFill>
          <a:blip r:embed="rId1"/>
          <a:stretch>
            <a:fillRect/>
          </a:stretch>
        </p:blipFill>
        <p:spPr>
          <a:xfrm>
            <a:off x="1911096" y="1627632"/>
            <a:ext cx="237744" cy="237744"/>
          </a:xfrm>
          <a:prstGeom prst="rect">
            <a:avLst/>
          </a:prstGeom>
        </p:spPr>
      </p:pic>
      <p:sp>
        <p:nvSpPr>
          <p:cNvPr id="6" name="Text 3"/>
          <p:cNvSpPr txBox="1"/>
          <p:nvPr/>
        </p:nvSpPr>
        <p:spPr>
          <a:xfrm>
            <a:off x="457200" y="2331720"/>
            <a:ext cx="1481328" cy="411480"/>
          </a:xfrm>
          <a:prstGeom prst="rect">
            <a:avLst/>
          </a:prstGeom>
          <a:noFill/>
          <a:ln/>
        </p:spPr>
        <p:txBody>
          <a:bodyPr wrap="square" lIns="0" tIns="0" rIns="0" bIns="0" rtlCol="0" anchor="ctr"/>
          <a:lstStyle/>
          <a:p>
            <a:pPr algn="ctr" indent="0" marL="0">
              <a:buNone/>
            </a:pPr>
            <a:r>
              <a:rPr lang="en-US" sz="1800" b="1" dirty="0">
                <a:solidFill>
                  <a:srgbClr val="1B1F24"/>
                </a:solidFill>
              </a:rPr>
              <a:t>Proctor</a:t>
            </a:r>
            <a:endParaRPr lang="en-US" sz="1800" dirty="0"/>
          </a:p>
        </p:txBody>
      </p:sp>
      <p:sp>
        <p:nvSpPr>
          <p:cNvPr id="7" name="Text 4"/>
          <p:cNvSpPr txBox="1"/>
          <p:nvPr/>
        </p:nvSpPr>
        <p:spPr>
          <a:xfrm>
            <a:off x="457200" y="2788920"/>
            <a:ext cx="1481328" cy="1097280"/>
          </a:xfrm>
          <a:prstGeom prst="rect">
            <a:avLst/>
          </a:prstGeom>
          <a:noFill/>
          <a:ln/>
        </p:spPr>
        <p:txBody>
          <a:bodyPr wrap="square" lIns="0" tIns="0" rIns="0" bIns="0" rtlCol="0" anchor="t"/>
          <a:lstStyle/>
          <a:p>
            <a:pPr algn="ctr" indent="0" marL="0">
              <a:buNone/>
            </a:pPr>
            <a:r>
              <a:rPr lang="en-US" sz="1400" dirty="0">
                <a:solidFill>
                  <a:srgbClr val="2B3440"/>
                </a:solidFill>
              </a:rPr>
              <a:t>the goal, where the requirements are, when it is done</a:t>
            </a:r>
            <a:endParaRPr lang="en-US" sz="1400" dirty="0"/>
          </a:p>
        </p:txBody>
      </p:sp>
      <p:sp>
        <p:nvSpPr>
          <p:cNvPr id="8" name="Shape 5"/>
          <p:cNvSpPr/>
          <p:nvPr/>
        </p:nvSpPr>
        <p:spPr>
          <a:xfrm>
            <a:off x="2468880" y="1325880"/>
            <a:ext cx="822960" cy="822960"/>
          </a:xfrm>
          <a:prstGeom prst="ellipse">
            <a:avLst/>
          </a:prstGeom>
          <a:solidFill>
            <a:srgbClr val="1B1F24"/>
          </a:solidFill>
          <a:ln w="12700">
            <a:solidFill>
              <a:srgbClr val="1B1F24"/>
            </a:solidFill>
            <a:prstDash val="solid"/>
          </a:ln>
        </p:spPr>
      </p:sp>
      <p:sp>
        <p:nvSpPr>
          <p:cNvPr id="9" name="Text 6"/>
          <p:cNvSpPr txBox="1"/>
          <p:nvPr/>
        </p:nvSpPr>
        <p:spPr>
          <a:xfrm>
            <a:off x="2468880" y="132588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rPr>
              <a:t>2</a:t>
            </a:r>
            <a:endParaRPr lang="en-US" sz="2800" dirty="0"/>
          </a:p>
        </p:txBody>
      </p:sp>
      <p:pic>
        <p:nvPicPr>
          <p:cNvPr id="10" name="Image 1" descr="preencoded.png">    </p:cNvPr>
          <p:cNvPicPr>
            <a:picLocks noChangeAspect="1"/>
          </p:cNvPicPr>
          <p:nvPr/>
        </p:nvPicPr>
        <p:blipFill>
          <a:blip r:embed="rId2"/>
          <a:stretch>
            <a:fillRect/>
          </a:stretch>
        </p:blipFill>
        <p:spPr>
          <a:xfrm>
            <a:off x="3593592" y="1627632"/>
            <a:ext cx="237744" cy="237744"/>
          </a:xfrm>
          <a:prstGeom prst="rect">
            <a:avLst/>
          </a:prstGeom>
        </p:spPr>
      </p:pic>
      <p:sp>
        <p:nvSpPr>
          <p:cNvPr id="11" name="Text 7"/>
          <p:cNvSpPr txBox="1"/>
          <p:nvPr/>
        </p:nvSpPr>
        <p:spPr>
          <a:xfrm>
            <a:off x="2139696" y="2331720"/>
            <a:ext cx="1481328" cy="411480"/>
          </a:xfrm>
          <a:prstGeom prst="rect">
            <a:avLst/>
          </a:prstGeom>
          <a:noFill/>
          <a:ln/>
        </p:spPr>
        <p:txBody>
          <a:bodyPr wrap="square" lIns="0" tIns="0" rIns="0" bIns="0" rtlCol="0" anchor="ctr"/>
          <a:lstStyle/>
          <a:p>
            <a:pPr algn="ctr" indent="0" marL="0">
              <a:buNone/>
            </a:pPr>
            <a:r>
              <a:rPr lang="en-US" sz="1800" b="1" dirty="0">
                <a:solidFill>
                  <a:srgbClr val="1B1F24"/>
                </a:solidFill>
              </a:rPr>
              <a:t>Instruct</a:t>
            </a:r>
            <a:endParaRPr lang="en-US" sz="1800" dirty="0"/>
          </a:p>
        </p:txBody>
      </p:sp>
      <p:sp>
        <p:nvSpPr>
          <p:cNvPr id="12" name="Text 8"/>
          <p:cNvSpPr txBox="1"/>
          <p:nvPr/>
        </p:nvSpPr>
        <p:spPr>
          <a:xfrm>
            <a:off x="2139696" y="2788920"/>
            <a:ext cx="1481328" cy="1097280"/>
          </a:xfrm>
          <a:prstGeom prst="rect">
            <a:avLst/>
          </a:prstGeom>
          <a:noFill/>
          <a:ln/>
        </p:spPr>
        <p:txBody>
          <a:bodyPr wrap="square" lIns="0" tIns="0" rIns="0" bIns="0" rtlCol="0" anchor="t"/>
          <a:lstStyle/>
          <a:p>
            <a:pPr algn="ctr" indent="0" marL="0">
              <a:buNone/>
            </a:pPr>
            <a:r>
              <a:rPr lang="en-US" sz="1400" dirty="0">
                <a:solidFill>
                  <a:srgbClr val="2B3440"/>
                </a:solidFill>
              </a:rPr>
              <a:t>you give that to your agent, never the steps</a:t>
            </a:r>
            <a:endParaRPr lang="en-US" sz="1400" dirty="0"/>
          </a:p>
        </p:txBody>
      </p:sp>
      <p:sp>
        <p:nvSpPr>
          <p:cNvPr id="13" name="Shape 9"/>
          <p:cNvSpPr/>
          <p:nvPr/>
        </p:nvSpPr>
        <p:spPr>
          <a:xfrm>
            <a:off x="4151376" y="1325880"/>
            <a:ext cx="822960" cy="822960"/>
          </a:xfrm>
          <a:prstGeom prst="ellipse">
            <a:avLst/>
          </a:prstGeom>
          <a:solidFill>
            <a:srgbClr val="1B1F24"/>
          </a:solidFill>
          <a:ln w="12700">
            <a:solidFill>
              <a:srgbClr val="1B1F24"/>
            </a:solidFill>
            <a:prstDash val="solid"/>
          </a:ln>
        </p:spPr>
      </p:sp>
      <p:sp>
        <p:nvSpPr>
          <p:cNvPr id="14" name="Text 10"/>
          <p:cNvSpPr txBox="1"/>
          <p:nvPr/>
        </p:nvSpPr>
        <p:spPr>
          <a:xfrm>
            <a:off x="4151376" y="132588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rPr>
              <a:t>3</a:t>
            </a:r>
            <a:endParaRPr lang="en-US" sz="2800" dirty="0"/>
          </a:p>
        </p:txBody>
      </p:sp>
      <p:pic>
        <p:nvPicPr>
          <p:cNvPr id="15" name="Image 2" descr="preencoded.png">    </p:cNvPr>
          <p:cNvPicPr>
            <a:picLocks noChangeAspect="1"/>
          </p:cNvPicPr>
          <p:nvPr/>
        </p:nvPicPr>
        <p:blipFill>
          <a:blip r:embed="rId3"/>
          <a:stretch>
            <a:fillRect/>
          </a:stretch>
        </p:blipFill>
        <p:spPr>
          <a:xfrm>
            <a:off x="5276088" y="1627632"/>
            <a:ext cx="237744" cy="237744"/>
          </a:xfrm>
          <a:prstGeom prst="rect">
            <a:avLst/>
          </a:prstGeom>
        </p:spPr>
      </p:pic>
      <p:sp>
        <p:nvSpPr>
          <p:cNvPr id="16" name="Text 11"/>
          <p:cNvSpPr txBox="1"/>
          <p:nvPr/>
        </p:nvSpPr>
        <p:spPr>
          <a:xfrm>
            <a:off x="3822192" y="2331720"/>
            <a:ext cx="1481328" cy="411480"/>
          </a:xfrm>
          <a:prstGeom prst="rect">
            <a:avLst/>
          </a:prstGeom>
          <a:noFill/>
          <a:ln/>
        </p:spPr>
        <p:txBody>
          <a:bodyPr wrap="square" lIns="0" tIns="0" rIns="0" bIns="0" rtlCol="0" anchor="ctr"/>
          <a:lstStyle/>
          <a:p>
            <a:pPr algn="ctr" indent="0" marL="0">
              <a:buNone/>
            </a:pPr>
            <a:r>
              <a:rPr lang="en-US" sz="1800" b="1" dirty="0">
                <a:solidFill>
                  <a:srgbClr val="1B1F24"/>
                </a:solidFill>
              </a:rPr>
              <a:t>Agent</a:t>
            </a:r>
            <a:endParaRPr lang="en-US" sz="1800" dirty="0"/>
          </a:p>
        </p:txBody>
      </p:sp>
      <p:sp>
        <p:nvSpPr>
          <p:cNvPr id="17" name="Text 12"/>
          <p:cNvSpPr txBox="1"/>
          <p:nvPr/>
        </p:nvSpPr>
        <p:spPr>
          <a:xfrm>
            <a:off x="3822192" y="2788920"/>
            <a:ext cx="1481328" cy="1097280"/>
          </a:xfrm>
          <a:prstGeom prst="rect">
            <a:avLst/>
          </a:prstGeom>
          <a:noFill/>
          <a:ln/>
        </p:spPr>
        <p:txBody>
          <a:bodyPr wrap="square" lIns="0" tIns="0" rIns="0" bIns="0" rtlCol="0" anchor="t"/>
          <a:lstStyle/>
          <a:p>
            <a:pPr algn="ctr" indent="0" marL="0">
              <a:buNone/>
            </a:pPr>
            <a:r>
              <a:rPr lang="en-US" sz="1400" dirty="0">
                <a:solidFill>
                  <a:srgbClr val="2B3440"/>
                </a:solidFill>
              </a:rPr>
              <a:t>works out how from the repo, builds it, then stops</a:t>
            </a:r>
            <a:endParaRPr lang="en-US" sz="1400" dirty="0"/>
          </a:p>
        </p:txBody>
      </p:sp>
      <p:sp>
        <p:nvSpPr>
          <p:cNvPr id="18" name="Shape 13"/>
          <p:cNvSpPr/>
          <p:nvPr/>
        </p:nvSpPr>
        <p:spPr>
          <a:xfrm>
            <a:off x="5833872" y="1325880"/>
            <a:ext cx="822960" cy="822960"/>
          </a:xfrm>
          <a:prstGeom prst="ellipse">
            <a:avLst/>
          </a:prstGeom>
          <a:solidFill>
            <a:srgbClr val="1B1F24"/>
          </a:solidFill>
          <a:ln w="12700">
            <a:solidFill>
              <a:srgbClr val="1B1F24"/>
            </a:solidFill>
            <a:prstDash val="solid"/>
          </a:ln>
        </p:spPr>
      </p:sp>
      <p:sp>
        <p:nvSpPr>
          <p:cNvPr id="19" name="Text 14"/>
          <p:cNvSpPr txBox="1"/>
          <p:nvPr/>
        </p:nvSpPr>
        <p:spPr>
          <a:xfrm>
            <a:off x="5833872" y="132588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rPr>
              <a:t>4</a:t>
            </a:r>
            <a:endParaRPr lang="en-US" sz="2800" dirty="0"/>
          </a:p>
        </p:txBody>
      </p:sp>
      <p:pic>
        <p:nvPicPr>
          <p:cNvPr id="20" name="Image 3" descr="preencoded.png">    </p:cNvPr>
          <p:cNvPicPr>
            <a:picLocks noChangeAspect="1"/>
          </p:cNvPicPr>
          <p:nvPr/>
        </p:nvPicPr>
        <p:blipFill>
          <a:blip r:embed="rId4"/>
          <a:stretch>
            <a:fillRect/>
          </a:stretch>
        </p:blipFill>
        <p:spPr>
          <a:xfrm>
            <a:off x="6958584" y="1627632"/>
            <a:ext cx="237744" cy="237744"/>
          </a:xfrm>
          <a:prstGeom prst="rect">
            <a:avLst/>
          </a:prstGeom>
        </p:spPr>
      </p:pic>
      <p:sp>
        <p:nvSpPr>
          <p:cNvPr id="21" name="Text 15"/>
          <p:cNvSpPr txBox="1"/>
          <p:nvPr/>
        </p:nvSpPr>
        <p:spPr>
          <a:xfrm>
            <a:off x="5504688" y="2331720"/>
            <a:ext cx="1481328" cy="411480"/>
          </a:xfrm>
          <a:prstGeom prst="rect">
            <a:avLst/>
          </a:prstGeom>
          <a:noFill/>
          <a:ln/>
        </p:spPr>
        <p:txBody>
          <a:bodyPr wrap="square" lIns="0" tIns="0" rIns="0" bIns="0" rtlCol="0" anchor="ctr"/>
          <a:lstStyle/>
          <a:p>
            <a:pPr algn="ctr" indent="0" marL="0">
              <a:buNone/>
            </a:pPr>
            <a:r>
              <a:rPr lang="en-US" sz="1800" b="1" dirty="0">
                <a:solidFill>
                  <a:srgbClr val="1B1F24"/>
                </a:solidFill>
              </a:rPr>
              <a:t>Check</a:t>
            </a:r>
            <a:endParaRPr lang="en-US" sz="1800" dirty="0"/>
          </a:p>
        </p:txBody>
      </p:sp>
      <p:sp>
        <p:nvSpPr>
          <p:cNvPr id="22" name="Text 16"/>
          <p:cNvSpPr txBox="1"/>
          <p:nvPr/>
        </p:nvSpPr>
        <p:spPr>
          <a:xfrm>
            <a:off x="5504688" y="2788920"/>
            <a:ext cx="1481328" cy="1097280"/>
          </a:xfrm>
          <a:prstGeom prst="rect">
            <a:avLst/>
          </a:prstGeom>
          <a:noFill/>
          <a:ln/>
        </p:spPr>
        <p:txBody>
          <a:bodyPr wrap="square" lIns="0" tIns="0" rIns="0" bIns="0" rtlCol="0" anchor="t"/>
          <a:lstStyle/>
          <a:p>
            <a:pPr algn="ctr" indent="0" marL="0">
              <a:buNone/>
            </a:pPr>
            <a:r>
              <a:rPr lang="en-US" sz="1400" dirty="0">
                <a:solidFill>
                  <a:srgbClr val="2B3440"/>
                </a:solidFill>
              </a:rPr>
              <a:t>npm run verify + npm run lab NN: read the counts</a:t>
            </a:r>
            <a:endParaRPr lang="en-US" sz="1400" dirty="0"/>
          </a:p>
        </p:txBody>
      </p:sp>
      <p:sp>
        <p:nvSpPr>
          <p:cNvPr id="23" name="Shape 17"/>
          <p:cNvSpPr/>
          <p:nvPr/>
        </p:nvSpPr>
        <p:spPr>
          <a:xfrm>
            <a:off x="7516368" y="1325880"/>
            <a:ext cx="822960" cy="822960"/>
          </a:xfrm>
          <a:prstGeom prst="ellipse">
            <a:avLst/>
          </a:prstGeom>
          <a:solidFill>
            <a:srgbClr val="1B1F24"/>
          </a:solidFill>
          <a:ln w="12700">
            <a:solidFill>
              <a:srgbClr val="1B1F24"/>
            </a:solidFill>
            <a:prstDash val="solid"/>
          </a:ln>
        </p:spPr>
      </p:sp>
      <p:sp>
        <p:nvSpPr>
          <p:cNvPr id="24" name="Text 18"/>
          <p:cNvSpPr txBox="1"/>
          <p:nvPr/>
        </p:nvSpPr>
        <p:spPr>
          <a:xfrm>
            <a:off x="7516368" y="132588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rPr>
              <a:t>5</a:t>
            </a:r>
            <a:endParaRPr lang="en-US" sz="2800" dirty="0"/>
          </a:p>
        </p:txBody>
      </p:sp>
      <p:sp>
        <p:nvSpPr>
          <p:cNvPr id="25" name="Text 19"/>
          <p:cNvSpPr txBox="1"/>
          <p:nvPr/>
        </p:nvSpPr>
        <p:spPr>
          <a:xfrm>
            <a:off x="7187184" y="2331720"/>
            <a:ext cx="1481328" cy="411480"/>
          </a:xfrm>
          <a:prstGeom prst="rect">
            <a:avLst/>
          </a:prstGeom>
          <a:noFill/>
          <a:ln/>
        </p:spPr>
        <p:txBody>
          <a:bodyPr wrap="square" lIns="0" tIns="0" rIns="0" bIns="0" rtlCol="0" anchor="ctr"/>
          <a:lstStyle/>
          <a:p>
            <a:pPr algn="ctr" indent="0" marL="0">
              <a:buNone/>
            </a:pPr>
            <a:r>
              <a:rPr lang="en-US" sz="1800" b="1" dirty="0">
                <a:solidFill>
                  <a:srgbClr val="1B1F24"/>
                </a:solidFill>
              </a:rPr>
              <a:t>Review</a:t>
            </a:r>
            <a:endParaRPr lang="en-US" sz="1800" dirty="0"/>
          </a:p>
        </p:txBody>
      </p:sp>
      <p:sp>
        <p:nvSpPr>
          <p:cNvPr id="26" name="Text 20"/>
          <p:cNvSpPr txBox="1"/>
          <p:nvPr/>
        </p:nvSpPr>
        <p:spPr>
          <a:xfrm>
            <a:off x="7187184" y="2788920"/>
            <a:ext cx="1481328" cy="1097280"/>
          </a:xfrm>
          <a:prstGeom prst="rect">
            <a:avLst/>
          </a:prstGeom>
          <a:noFill/>
          <a:ln/>
        </p:spPr>
        <p:txBody>
          <a:bodyPr wrap="square" lIns="0" tIns="0" rIns="0" bIns="0" rtlCol="0" anchor="t"/>
          <a:lstStyle/>
          <a:p>
            <a:pPr algn="ctr" indent="0" marL="0">
              <a:buNone/>
            </a:pPr>
            <a:r>
              <a:rPr lang="en-US" sz="1400" dirty="0">
                <a:solidFill>
                  <a:srgbClr val="2B3440"/>
                </a:solidFill>
              </a:rPr>
              <a:t>ask it to show, not tell: the red run, the SQL</a:t>
            </a:r>
            <a:endParaRPr lang="en-US" sz="1400" dirty="0"/>
          </a:p>
        </p:txBody>
      </p:sp>
      <p:sp>
        <p:nvSpPr>
          <p:cNvPr id="27" name="Text 21"/>
          <p:cNvSpPr txBox="1"/>
          <p:nvPr/>
        </p:nvSpPr>
        <p:spPr>
          <a:xfrm>
            <a:off x="457200" y="4069080"/>
            <a:ext cx="8229600" cy="411480"/>
          </a:xfrm>
          <a:prstGeom prst="rect">
            <a:avLst/>
          </a:prstGeom>
          <a:noFill/>
          <a:ln/>
        </p:spPr>
        <p:txBody>
          <a:bodyPr wrap="square" lIns="0" tIns="0" rIns="0" bIns="0" rtlCol="0" anchor="ctr"/>
          <a:lstStyle/>
          <a:p>
            <a:pPr indent="0" marL="0">
              <a:buNone/>
            </a:pPr>
            <a:r>
              <a:rPr lang="en-US" sz="1600" i="1" dirty="0">
                <a:solidFill>
                  <a:srgbClr val="64748B"/>
                </a:solidFill>
              </a:rPr>
              <a:t>Repeatable work → tools.  Judgement → the agent, fenced in.</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1F24"/>
                </a:solidFill>
              </a:rPr>
              <a:t>NestJS: request flow</a:t>
            </a:r>
            <a:endParaRPr lang="en-US" sz="3200" dirty="0"/>
          </a:p>
        </p:txBody>
      </p:sp>
      <p:sp>
        <p:nvSpPr>
          <p:cNvPr id="3" name="block-1"/>
          <p:cNvSpPr/>
          <p:nvPr/>
        </p:nvSpPr>
        <p:spPr>
          <a:xfrm>
            <a:off x="457200" y="1828800"/>
            <a:ext cx="1316736" cy="1005840"/>
          </a:xfrm>
          <a:prstGeom prst="roundRect">
            <a:avLst>
              <a:gd name="adj" fmla="val 9091"/>
            </a:avLst>
          </a:prstGeom>
          <a:solidFill>
            <a:srgbClr val="1B1F24"/>
          </a:solidFill>
          <a:ln w="12700">
            <a:solidFill>
              <a:srgbClr val="1B1F24"/>
            </a:solidFill>
            <a:prstDash val="solid"/>
          </a:ln>
        </p:spPr>
      </p:sp>
      <p:sp>
        <p:nvSpPr>
          <p:cNvPr id="4" name="Text 2"/>
          <p:cNvSpPr txBox="1"/>
          <p:nvPr/>
        </p:nvSpPr>
        <p:spPr>
          <a:xfrm>
            <a:off x="457200" y="1828800"/>
            <a:ext cx="1316736" cy="1005840"/>
          </a:xfrm>
          <a:prstGeom prst="rect">
            <a:avLst/>
          </a:prstGeom>
          <a:noFill/>
          <a:ln/>
        </p:spPr>
        <p:txBody>
          <a:bodyPr wrap="square" lIns="25400" tIns="25400" rIns="25400" bIns="25400" rtlCol="0" anchor="ctr"/>
          <a:lstStyle/>
          <a:p>
            <a:pPr algn="ctr" indent="0" marL="0">
              <a:buNone/>
            </a:pPr>
            <a:r>
              <a:rPr lang="en-US" sz="1600" b="1" dirty="0">
                <a:solidFill>
                  <a:srgbClr val="FFFFFF"/>
                </a:solidFill>
              </a:rPr>
              <a:t>Request</a:t>
            </a:r>
            <a:endParaRPr lang="en-US" sz="1600" dirty="0"/>
          </a:p>
        </p:txBody>
      </p:sp>
      <p:sp>
        <p:nvSpPr>
          <p:cNvPr id="5" name="Text 3"/>
          <p:cNvSpPr txBox="1"/>
          <p:nvPr/>
        </p:nvSpPr>
        <p:spPr>
          <a:xfrm>
            <a:off x="457200" y="2971800"/>
            <a:ext cx="1316736" cy="365760"/>
          </a:xfrm>
          <a:prstGeom prst="rect">
            <a:avLst/>
          </a:prstGeom>
          <a:noFill/>
          <a:ln/>
        </p:spPr>
        <p:txBody>
          <a:bodyPr wrap="square" lIns="0" tIns="0" rIns="0" bIns="0" rtlCol="0" anchor="ctr"/>
          <a:lstStyle/>
          <a:p>
            <a:pPr algn="ctr" indent="0" marL="0">
              <a:buNone/>
            </a:pPr>
            <a:r>
              <a:rPr lang="en-US" sz="1300" dirty="0">
                <a:solidFill>
                  <a:srgbClr val="2B3440"/>
                </a:solidFill>
              </a:rPr>
              <a:t>from the client</a:t>
            </a:r>
            <a:endParaRPr lang="en-US" sz="1300" dirty="0"/>
          </a:p>
        </p:txBody>
      </p:sp>
      <p:sp>
        <p:nvSpPr>
          <p:cNvPr id="6" name="Shape 4"/>
          <p:cNvSpPr/>
          <p:nvPr/>
        </p:nvSpPr>
        <p:spPr>
          <a:xfrm>
            <a:off x="1828800" y="2331720"/>
            <a:ext cx="301752" cy="0"/>
          </a:xfrm>
          <a:prstGeom prst="line">
            <a:avLst/>
          </a:prstGeom>
          <a:noFill/>
          <a:ln w="25400">
            <a:solidFill>
              <a:srgbClr val="64748B"/>
            </a:solidFill>
            <a:prstDash val="solid"/>
            <a:tailEnd type="triangle"/>
          </a:ln>
        </p:spPr>
      </p:sp>
      <p:sp>
        <p:nvSpPr>
          <p:cNvPr id="7" name="block-2"/>
          <p:cNvSpPr/>
          <p:nvPr/>
        </p:nvSpPr>
        <p:spPr>
          <a:xfrm>
            <a:off x="2185416" y="1828800"/>
            <a:ext cx="1316736" cy="1005840"/>
          </a:xfrm>
          <a:prstGeom prst="roundRect">
            <a:avLst>
              <a:gd name="adj" fmla="val 9091"/>
            </a:avLst>
          </a:prstGeom>
          <a:solidFill>
            <a:srgbClr val="1B1F24"/>
          </a:solidFill>
          <a:ln w="12700">
            <a:solidFill>
              <a:srgbClr val="1B1F24"/>
            </a:solidFill>
            <a:prstDash val="solid"/>
          </a:ln>
        </p:spPr>
      </p:sp>
      <p:sp>
        <p:nvSpPr>
          <p:cNvPr id="8" name="Text 6"/>
          <p:cNvSpPr txBox="1"/>
          <p:nvPr/>
        </p:nvSpPr>
        <p:spPr>
          <a:xfrm>
            <a:off x="2185416" y="1828800"/>
            <a:ext cx="1316736" cy="1005840"/>
          </a:xfrm>
          <a:prstGeom prst="rect">
            <a:avLst/>
          </a:prstGeom>
          <a:noFill/>
          <a:ln/>
        </p:spPr>
        <p:txBody>
          <a:bodyPr wrap="square" lIns="25400" tIns="25400" rIns="25400" bIns="25400" rtlCol="0" anchor="ctr"/>
          <a:lstStyle/>
          <a:p>
            <a:pPr algn="ctr" indent="0" marL="0">
              <a:buNone/>
            </a:pPr>
            <a:r>
              <a:rPr lang="en-US" sz="1600" b="1" dirty="0">
                <a:solidFill>
                  <a:srgbClr val="FFFFFF"/>
                </a:solidFill>
              </a:rPr>
              <a:t>Middleware</a:t>
            </a:r>
            <a:endParaRPr lang="en-US" sz="1600" dirty="0"/>
          </a:p>
        </p:txBody>
      </p:sp>
      <p:sp>
        <p:nvSpPr>
          <p:cNvPr id="9" name="Text 7"/>
          <p:cNvSpPr txBox="1"/>
          <p:nvPr/>
        </p:nvSpPr>
        <p:spPr>
          <a:xfrm>
            <a:off x="2185416" y="2971800"/>
            <a:ext cx="1316736" cy="365760"/>
          </a:xfrm>
          <a:prstGeom prst="rect">
            <a:avLst/>
          </a:prstGeom>
          <a:noFill/>
          <a:ln/>
        </p:spPr>
        <p:txBody>
          <a:bodyPr wrap="square" lIns="0" tIns="0" rIns="0" bIns="0" rtlCol="0" anchor="ctr"/>
          <a:lstStyle/>
          <a:p>
            <a:pPr algn="ctr" indent="0" marL="0">
              <a:buNone/>
            </a:pPr>
            <a:r>
              <a:rPr lang="en-US" sz="1300" dirty="0">
                <a:solidFill>
                  <a:srgbClr val="2B3440"/>
                </a:solidFill>
              </a:rPr>
              <a:t>runs first</a:t>
            </a:r>
            <a:endParaRPr lang="en-US" sz="1300" dirty="0"/>
          </a:p>
        </p:txBody>
      </p:sp>
      <p:sp>
        <p:nvSpPr>
          <p:cNvPr id="10" name="Shape 8"/>
          <p:cNvSpPr/>
          <p:nvPr/>
        </p:nvSpPr>
        <p:spPr>
          <a:xfrm>
            <a:off x="3557016" y="2331720"/>
            <a:ext cx="301752" cy="0"/>
          </a:xfrm>
          <a:prstGeom prst="line">
            <a:avLst/>
          </a:prstGeom>
          <a:noFill/>
          <a:ln w="25400">
            <a:solidFill>
              <a:srgbClr val="64748B"/>
            </a:solidFill>
            <a:prstDash val="solid"/>
            <a:tailEnd type="triangle"/>
          </a:ln>
        </p:spPr>
      </p:sp>
      <p:sp>
        <p:nvSpPr>
          <p:cNvPr id="11" name="block-3"/>
          <p:cNvSpPr/>
          <p:nvPr/>
        </p:nvSpPr>
        <p:spPr>
          <a:xfrm>
            <a:off x="3913632" y="1828800"/>
            <a:ext cx="1316736" cy="1005840"/>
          </a:xfrm>
          <a:prstGeom prst="roundRect">
            <a:avLst>
              <a:gd name="adj" fmla="val 9091"/>
            </a:avLst>
          </a:prstGeom>
          <a:solidFill>
            <a:srgbClr val="1FB68A"/>
          </a:solidFill>
          <a:ln w="12700">
            <a:solidFill>
              <a:srgbClr val="1FB68A"/>
            </a:solidFill>
            <a:prstDash val="solid"/>
          </a:ln>
        </p:spPr>
      </p:sp>
      <p:sp>
        <p:nvSpPr>
          <p:cNvPr id="12" name="Text 10"/>
          <p:cNvSpPr txBox="1"/>
          <p:nvPr/>
        </p:nvSpPr>
        <p:spPr>
          <a:xfrm>
            <a:off x="3913632" y="1828800"/>
            <a:ext cx="1316736" cy="1005840"/>
          </a:xfrm>
          <a:prstGeom prst="rect">
            <a:avLst/>
          </a:prstGeom>
          <a:noFill/>
          <a:ln/>
        </p:spPr>
        <p:txBody>
          <a:bodyPr wrap="square" lIns="25400" tIns="25400" rIns="25400" bIns="25400" rtlCol="0" anchor="ctr"/>
          <a:lstStyle/>
          <a:p>
            <a:pPr algn="ctr" indent="0" marL="0">
              <a:buNone/>
            </a:pPr>
            <a:r>
              <a:rPr lang="en-US" sz="1600" b="1" dirty="0">
                <a:solidFill>
                  <a:srgbClr val="FFFFFF"/>
                </a:solidFill>
              </a:rPr>
              <a:t>Controller</a:t>
            </a:r>
            <a:endParaRPr lang="en-US" sz="1600" dirty="0"/>
          </a:p>
        </p:txBody>
      </p:sp>
      <p:sp>
        <p:nvSpPr>
          <p:cNvPr id="13" name="Text 11"/>
          <p:cNvSpPr txBox="1"/>
          <p:nvPr/>
        </p:nvSpPr>
        <p:spPr>
          <a:xfrm>
            <a:off x="3913632" y="2971800"/>
            <a:ext cx="1316736" cy="365760"/>
          </a:xfrm>
          <a:prstGeom prst="rect">
            <a:avLst/>
          </a:prstGeom>
          <a:noFill/>
          <a:ln/>
        </p:spPr>
        <p:txBody>
          <a:bodyPr wrap="square" lIns="0" tIns="0" rIns="0" bIns="0" rtlCol="0" anchor="ctr"/>
          <a:lstStyle/>
          <a:p>
            <a:pPr algn="ctr" indent="0" marL="0">
              <a:buNone/>
            </a:pPr>
            <a:r>
              <a:rPr lang="en-US" sz="1300" dirty="0">
                <a:solidFill>
                  <a:srgbClr val="2B3440"/>
                </a:solidFill>
              </a:rPr>
              <a:t>the route</a:t>
            </a:r>
            <a:endParaRPr lang="en-US" sz="1300" dirty="0"/>
          </a:p>
        </p:txBody>
      </p:sp>
      <p:sp>
        <p:nvSpPr>
          <p:cNvPr id="14" name="Shape 12"/>
          <p:cNvSpPr/>
          <p:nvPr/>
        </p:nvSpPr>
        <p:spPr>
          <a:xfrm>
            <a:off x="5285232" y="2331720"/>
            <a:ext cx="301752" cy="0"/>
          </a:xfrm>
          <a:prstGeom prst="line">
            <a:avLst/>
          </a:prstGeom>
          <a:noFill/>
          <a:ln w="25400">
            <a:solidFill>
              <a:srgbClr val="64748B"/>
            </a:solidFill>
            <a:prstDash val="solid"/>
            <a:tailEnd type="triangle"/>
          </a:ln>
        </p:spPr>
      </p:sp>
      <p:sp>
        <p:nvSpPr>
          <p:cNvPr id="15" name="block-4"/>
          <p:cNvSpPr/>
          <p:nvPr/>
        </p:nvSpPr>
        <p:spPr>
          <a:xfrm>
            <a:off x="5641848" y="1828800"/>
            <a:ext cx="1316736" cy="1005840"/>
          </a:xfrm>
          <a:prstGeom prst="roundRect">
            <a:avLst>
              <a:gd name="adj" fmla="val 9091"/>
            </a:avLst>
          </a:prstGeom>
          <a:solidFill>
            <a:srgbClr val="1FB68A"/>
          </a:solidFill>
          <a:ln w="12700">
            <a:solidFill>
              <a:srgbClr val="1FB68A"/>
            </a:solidFill>
            <a:prstDash val="solid"/>
          </a:ln>
        </p:spPr>
      </p:sp>
      <p:sp>
        <p:nvSpPr>
          <p:cNvPr id="16" name="Text 14"/>
          <p:cNvSpPr txBox="1"/>
          <p:nvPr/>
        </p:nvSpPr>
        <p:spPr>
          <a:xfrm>
            <a:off x="5641848" y="1828800"/>
            <a:ext cx="1316736" cy="1005840"/>
          </a:xfrm>
          <a:prstGeom prst="rect">
            <a:avLst/>
          </a:prstGeom>
          <a:noFill/>
          <a:ln/>
        </p:spPr>
        <p:txBody>
          <a:bodyPr wrap="square" lIns="25400" tIns="25400" rIns="25400" bIns="25400" rtlCol="0" anchor="ctr"/>
          <a:lstStyle/>
          <a:p>
            <a:pPr algn="ctr" indent="0" marL="0">
              <a:buNone/>
            </a:pPr>
            <a:r>
              <a:rPr lang="en-US" sz="1600" b="1" dirty="0">
                <a:solidFill>
                  <a:srgbClr val="FFFFFF"/>
                </a:solidFill>
              </a:rPr>
              <a:t>Service</a:t>
            </a:r>
            <a:endParaRPr lang="en-US" sz="1600" dirty="0"/>
          </a:p>
        </p:txBody>
      </p:sp>
      <p:sp>
        <p:nvSpPr>
          <p:cNvPr id="17" name="Text 15"/>
          <p:cNvSpPr txBox="1"/>
          <p:nvPr/>
        </p:nvSpPr>
        <p:spPr>
          <a:xfrm>
            <a:off x="5641848" y="2971800"/>
            <a:ext cx="1316736" cy="365760"/>
          </a:xfrm>
          <a:prstGeom prst="rect">
            <a:avLst/>
          </a:prstGeom>
          <a:noFill/>
          <a:ln/>
        </p:spPr>
        <p:txBody>
          <a:bodyPr wrap="square" lIns="0" tIns="0" rIns="0" bIns="0" rtlCol="0" anchor="ctr"/>
          <a:lstStyle/>
          <a:p>
            <a:pPr algn="ctr" indent="0" marL="0">
              <a:buNone/>
            </a:pPr>
            <a:r>
              <a:rPr lang="en-US" sz="1300" dirty="0">
                <a:solidFill>
                  <a:srgbClr val="2B3440"/>
                </a:solidFill>
              </a:rPr>
              <a:t>the rules</a:t>
            </a:r>
            <a:endParaRPr lang="en-US" sz="1300" dirty="0"/>
          </a:p>
        </p:txBody>
      </p:sp>
      <p:sp>
        <p:nvSpPr>
          <p:cNvPr id="18" name="Shape 16"/>
          <p:cNvSpPr/>
          <p:nvPr/>
        </p:nvSpPr>
        <p:spPr>
          <a:xfrm>
            <a:off x="7013448" y="2331720"/>
            <a:ext cx="301752" cy="0"/>
          </a:xfrm>
          <a:prstGeom prst="line">
            <a:avLst/>
          </a:prstGeom>
          <a:noFill/>
          <a:ln w="25400">
            <a:solidFill>
              <a:srgbClr val="64748B"/>
            </a:solidFill>
            <a:prstDash val="solid"/>
            <a:tailEnd type="triangle"/>
          </a:ln>
        </p:spPr>
      </p:sp>
      <p:sp>
        <p:nvSpPr>
          <p:cNvPr id="19" name="block-5"/>
          <p:cNvSpPr/>
          <p:nvPr/>
        </p:nvSpPr>
        <p:spPr>
          <a:xfrm>
            <a:off x="7370064" y="1828800"/>
            <a:ext cx="1316736" cy="1005840"/>
          </a:xfrm>
          <a:prstGeom prst="roundRect">
            <a:avLst>
              <a:gd name="adj" fmla="val 9091"/>
            </a:avLst>
          </a:prstGeom>
          <a:solidFill>
            <a:srgbClr val="1B1F24"/>
          </a:solidFill>
          <a:ln w="12700">
            <a:solidFill>
              <a:srgbClr val="1B1F24"/>
            </a:solidFill>
            <a:prstDash val="solid"/>
          </a:ln>
        </p:spPr>
      </p:sp>
      <p:sp>
        <p:nvSpPr>
          <p:cNvPr id="20" name="Text 18"/>
          <p:cNvSpPr txBox="1"/>
          <p:nvPr/>
        </p:nvSpPr>
        <p:spPr>
          <a:xfrm>
            <a:off x="7370064" y="1828800"/>
            <a:ext cx="1316736" cy="1005840"/>
          </a:xfrm>
          <a:prstGeom prst="rect">
            <a:avLst/>
          </a:prstGeom>
          <a:noFill/>
          <a:ln/>
        </p:spPr>
        <p:txBody>
          <a:bodyPr wrap="square" lIns="25400" tIns="25400" rIns="25400" bIns="25400" rtlCol="0" anchor="ctr"/>
          <a:lstStyle/>
          <a:p>
            <a:pPr algn="ctr" indent="0" marL="0">
              <a:buNone/>
            </a:pPr>
            <a:r>
              <a:rPr lang="en-US" sz="1600" b="1" dirty="0">
                <a:solidFill>
                  <a:srgbClr val="FFFFFF"/>
                </a:solidFill>
              </a:rPr>
              <a:t>Database</a:t>
            </a:r>
            <a:endParaRPr lang="en-US" sz="1600" dirty="0"/>
          </a:p>
        </p:txBody>
      </p:sp>
      <p:sp>
        <p:nvSpPr>
          <p:cNvPr id="21" name="Text 19"/>
          <p:cNvSpPr txBox="1"/>
          <p:nvPr/>
        </p:nvSpPr>
        <p:spPr>
          <a:xfrm>
            <a:off x="7370064" y="2971800"/>
            <a:ext cx="1316736" cy="365760"/>
          </a:xfrm>
          <a:prstGeom prst="rect">
            <a:avLst/>
          </a:prstGeom>
          <a:noFill/>
          <a:ln/>
        </p:spPr>
        <p:txBody>
          <a:bodyPr wrap="square" lIns="0" tIns="0" rIns="0" bIns="0" rtlCol="0" anchor="ctr"/>
          <a:lstStyle/>
          <a:p>
            <a:pPr algn="ctr" indent="0" marL="0">
              <a:buNone/>
            </a:pPr>
            <a:r>
              <a:rPr lang="en-US" sz="1300" dirty="0">
                <a:solidFill>
                  <a:srgbClr val="2B3440"/>
                </a:solidFill>
              </a:rPr>
              <a:t>SQLite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1F24"/>
                </a:solidFill>
              </a:rPr>
              <a:t>NestJS: who calls whom</a:t>
            </a:r>
            <a:endParaRPr lang="en-US" sz="3200" dirty="0"/>
          </a:p>
        </p:txBody>
      </p:sp>
      <p:sp>
        <p:nvSpPr>
          <p:cNvPr id="3" name="module"/>
          <p:cNvSpPr/>
          <p:nvPr/>
        </p:nvSpPr>
        <p:spPr>
          <a:xfrm>
            <a:off x="3657600" y="1051560"/>
            <a:ext cx="3108960" cy="3429000"/>
          </a:xfrm>
          <a:prstGeom prst="roundRect">
            <a:avLst>
              <a:gd name="adj" fmla="val 3529"/>
            </a:avLst>
          </a:prstGeom>
          <a:solidFill>
            <a:srgbClr val="F1F5F9"/>
          </a:solidFill>
          <a:ln w="12700">
            <a:solidFill>
              <a:srgbClr val="CBD5E1"/>
            </a:solidFill>
            <a:prstDash val="solid"/>
          </a:ln>
        </p:spPr>
      </p:sp>
      <p:sp>
        <p:nvSpPr>
          <p:cNvPr id="4" name="Text 2"/>
          <p:cNvSpPr txBox="1"/>
          <p:nvPr/>
        </p:nvSpPr>
        <p:spPr>
          <a:xfrm>
            <a:off x="3794760" y="1097280"/>
            <a:ext cx="2834640" cy="365760"/>
          </a:xfrm>
          <a:prstGeom prst="rect">
            <a:avLst/>
          </a:prstGeom>
          <a:noFill/>
          <a:ln/>
        </p:spPr>
        <p:txBody>
          <a:bodyPr wrap="square" lIns="0" tIns="0" rIns="0" bIns="0" rtlCol="0" anchor="ctr"/>
          <a:lstStyle/>
          <a:p>
            <a:pPr indent="0" marL="0">
              <a:buNone/>
            </a:pPr>
            <a:r>
              <a:rPr lang="en-US" sz="1400" b="1" dirty="0">
                <a:solidFill>
                  <a:srgbClr val="1B1F24"/>
                </a:solidFill>
              </a:rPr>
              <a:t>Module</a:t>
            </a:r>
            <a:endParaRPr lang="en-US" sz="1400" dirty="0"/>
          </a:p>
        </p:txBody>
      </p:sp>
      <p:sp>
        <p:nvSpPr>
          <p:cNvPr id="5" name="controller"/>
          <p:cNvSpPr/>
          <p:nvPr/>
        </p:nvSpPr>
        <p:spPr>
          <a:xfrm>
            <a:off x="4069080" y="1508760"/>
            <a:ext cx="2286000" cy="685800"/>
          </a:xfrm>
          <a:prstGeom prst="roundRect">
            <a:avLst>
              <a:gd name="adj" fmla="val 13333"/>
            </a:avLst>
          </a:prstGeom>
          <a:solidFill>
            <a:srgbClr val="1FB68A"/>
          </a:solidFill>
          <a:ln w="12700">
            <a:solidFill>
              <a:srgbClr val="1FB68A"/>
            </a:solidFill>
            <a:prstDash val="solid"/>
          </a:ln>
        </p:spPr>
      </p:sp>
      <p:sp>
        <p:nvSpPr>
          <p:cNvPr id="6" name="Text 4"/>
          <p:cNvSpPr txBox="1"/>
          <p:nvPr/>
        </p:nvSpPr>
        <p:spPr>
          <a:xfrm>
            <a:off x="4069080" y="1508760"/>
            <a:ext cx="2286000" cy="685800"/>
          </a:xfrm>
          <a:prstGeom prst="rect">
            <a:avLst/>
          </a:prstGeom>
          <a:noFill/>
          <a:ln/>
        </p:spPr>
        <p:txBody>
          <a:bodyPr wrap="square" lIns="25400" tIns="25400" rIns="25400" bIns="25400" rtlCol="0" anchor="ctr"/>
          <a:lstStyle/>
          <a:p>
            <a:pPr algn="ctr" indent="0" marL="0">
              <a:buNone/>
            </a:pPr>
            <a:r>
              <a:rPr lang="en-US" sz="1600" b="1" dirty="0">
                <a:solidFill>
                  <a:srgbClr val="FFFFFF"/>
                </a:solidFill>
              </a:rPr>
              <a:t>Controller</a:t>
            </a:r>
            <a:endParaRPr lang="en-US" sz="1600" dirty="0"/>
          </a:p>
        </p:txBody>
      </p:sp>
      <p:sp>
        <p:nvSpPr>
          <p:cNvPr id="7" name="Shape 5"/>
          <p:cNvSpPr/>
          <p:nvPr/>
        </p:nvSpPr>
        <p:spPr>
          <a:xfrm>
            <a:off x="5212080" y="2221992"/>
            <a:ext cx="0" cy="292608"/>
          </a:xfrm>
          <a:prstGeom prst="line">
            <a:avLst/>
          </a:prstGeom>
          <a:noFill/>
          <a:ln w="25400">
            <a:solidFill>
              <a:srgbClr val="64748B"/>
            </a:solidFill>
            <a:prstDash val="solid"/>
            <a:tailEnd type="triangle"/>
          </a:ln>
        </p:spPr>
      </p:sp>
      <p:sp>
        <p:nvSpPr>
          <p:cNvPr id="8" name="service"/>
          <p:cNvSpPr/>
          <p:nvPr/>
        </p:nvSpPr>
        <p:spPr>
          <a:xfrm>
            <a:off x="4069080" y="2542032"/>
            <a:ext cx="2286000" cy="685800"/>
          </a:xfrm>
          <a:prstGeom prst="roundRect">
            <a:avLst>
              <a:gd name="adj" fmla="val 13333"/>
            </a:avLst>
          </a:prstGeom>
          <a:solidFill>
            <a:srgbClr val="1FB68A"/>
          </a:solidFill>
          <a:ln w="12700">
            <a:solidFill>
              <a:srgbClr val="1FB68A"/>
            </a:solidFill>
            <a:prstDash val="solid"/>
          </a:ln>
        </p:spPr>
      </p:sp>
      <p:sp>
        <p:nvSpPr>
          <p:cNvPr id="9" name="Text 7"/>
          <p:cNvSpPr txBox="1"/>
          <p:nvPr/>
        </p:nvSpPr>
        <p:spPr>
          <a:xfrm>
            <a:off x="4069080" y="2542032"/>
            <a:ext cx="2286000" cy="685800"/>
          </a:xfrm>
          <a:prstGeom prst="rect">
            <a:avLst/>
          </a:prstGeom>
          <a:noFill/>
          <a:ln/>
        </p:spPr>
        <p:txBody>
          <a:bodyPr wrap="square" lIns="25400" tIns="25400" rIns="25400" bIns="25400" rtlCol="0" anchor="ctr"/>
          <a:lstStyle/>
          <a:p>
            <a:pPr algn="ctr" indent="0" marL="0">
              <a:buNone/>
            </a:pPr>
            <a:r>
              <a:rPr lang="en-US" sz="1600" b="1" dirty="0">
                <a:solidFill>
                  <a:srgbClr val="FFFFFF"/>
                </a:solidFill>
              </a:rPr>
              <a:t>Service</a:t>
            </a:r>
            <a:endParaRPr lang="en-US" sz="1600" dirty="0"/>
          </a:p>
        </p:txBody>
      </p:sp>
      <p:sp>
        <p:nvSpPr>
          <p:cNvPr id="10" name="Shape 8"/>
          <p:cNvSpPr/>
          <p:nvPr/>
        </p:nvSpPr>
        <p:spPr>
          <a:xfrm>
            <a:off x="5212080" y="3255264"/>
            <a:ext cx="0" cy="292608"/>
          </a:xfrm>
          <a:prstGeom prst="line">
            <a:avLst/>
          </a:prstGeom>
          <a:noFill/>
          <a:ln w="25400">
            <a:solidFill>
              <a:srgbClr val="64748B"/>
            </a:solidFill>
            <a:prstDash val="solid"/>
            <a:tailEnd type="triangle"/>
          </a:ln>
        </p:spPr>
      </p:sp>
      <p:sp>
        <p:nvSpPr>
          <p:cNvPr id="11" name="repository"/>
          <p:cNvSpPr/>
          <p:nvPr/>
        </p:nvSpPr>
        <p:spPr>
          <a:xfrm>
            <a:off x="4069080" y="3575304"/>
            <a:ext cx="2286000" cy="685800"/>
          </a:xfrm>
          <a:prstGeom prst="roundRect">
            <a:avLst>
              <a:gd name="adj" fmla="val 13333"/>
            </a:avLst>
          </a:prstGeom>
          <a:solidFill>
            <a:srgbClr val="1FB68A"/>
          </a:solidFill>
          <a:ln w="12700">
            <a:solidFill>
              <a:srgbClr val="1FB68A"/>
            </a:solidFill>
            <a:prstDash val="solid"/>
          </a:ln>
        </p:spPr>
      </p:sp>
      <p:sp>
        <p:nvSpPr>
          <p:cNvPr id="12" name="Text 10"/>
          <p:cNvSpPr txBox="1"/>
          <p:nvPr/>
        </p:nvSpPr>
        <p:spPr>
          <a:xfrm>
            <a:off x="4069080" y="3575304"/>
            <a:ext cx="2286000" cy="685800"/>
          </a:xfrm>
          <a:prstGeom prst="rect">
            <a:avLst/>
          </a:prstGeom>
          <a:noFill/>
          <a:ln/>
        </p:spPr>
        <p:txBody>
          <a:bodyPr wrap="square" lIns="25400" tIns="25400" rIns="25400" bIns="25400" rtlCol="0" anchor="ctr"/>
          <a:lstStyle/>
          <a:p>
            <a:pPr algn="ctr" indent="0" marL="0">
              <a:buNone/>
            </a:pPr>
            <a:r>
              <a:rPr lang="en-US" sz="1600" b="1" dirty="0">
                <a:solidFill>
                  <a:srgbClr val="FFFFFF"/>
                </a:solidFill>
              </a:rPr>
              <a:t>Repository</a:t>
            </a:r>
            <a:endParaRPr lang="en-US" sz="1600" dirty="0"/>
          </a:p>
        </p:txBody>
      </p:sp>
      <p:sp>
        <p:nvSpPr>
          <p:cNvPr id="13" name="middleware"/>
          <p:cNvSpPr/>
          <p:nvPr/>
        </p:nvSpPr>
        <p:spPr>
          <a:xfrm>
            <a:off x="914400" y="1508760"/>
            <a:ext cx="2103120" cy="685800"/>
          </a:xfrm>
          <a:prstGeom prst="roundRect">
            <a:avLst>
              <a:gd name="adj" fmla="val 13333"/>
            </a:avLst>
          </a:prstGeom>
          <a:solidFill>
            <a:srgbClr val="1B1F24"/>
          </a:solidFill>
          <a:ln w="12700">
            <a:solidFill>
              <a:srgbClr val="1B1F24"/>
            </a:solidFill>
            <a:prstDash val="solid"/>
          </a:ln>
        </p:spPr>
      </p:sp>
      <p:sp>
        <p:nvSpPr>
          <p:cNvPr id="14" name="Text 12"/>
          <p:cNvSpPr txBox="1"/>
          <p:nvPr/>
        </p:nvSpPr>
        <p:spPr>
          <a:xfrm>
            <a:off x="914400" y="1508760"/>
            <a:ext cx="2103120" cy="685800"/>
          </a:xfrm>
          <a:prstGeom prst="rect">
            <a:avLst/>
          </a:prstGeom>
          <a:noFill/>
          <a:ln/>
        </p:spPr>
        <p:txBody>
          <a:bodyPr wrap="square" lIns="25400" tIns="25400" rIns="25400" bIns="25400" rtlCol="0" anchor="ctr"/>
          <a:lstStyle/>
          <a:p>
            <a:pPr algn="ctr" indent="0" marL="0">
              <a:buNone/>
            </a:pPr>
            <a:r>
              <a:rPr lang="en-US" sz="1600" b="1" dirty="0">
                <a:solidFill>
                  <a:srgbClr val="FFFFFF"/>
                </a:solidFill>
              </a:rPr>
              <a:t>Middleware</a:t>
            </a:r>
            <a:endParaRPr lang="en-US" sz="1600" dirty="0"/>
          </a:p>
        </p:txBody>
      </p:sp>
      <p:sp>
        <p:nvSpPr>
          <p:cNvPr id="15" name="Shape 13"/>
          <p:cNvSpPr/>
          <p:nvPr/>
        </p:nvSpPr>
        <p:spPr>
          <a:xfrm>
            <a:off x="3044952" y="1856232"/>
            <a:ext cx="996696" cy="0"/>
          </a:xfrm>
          <a:prstGeom prst="line">
            <a:avLst/>
          </a:prstGeom>
          <a:noFill/>
          <a:ln w="25400">
            <a:solidFill>
              <a:srgbClr val="64748B"/>
            </a:solidFill>
            <a:prstDash val="solid"/>
            <a:tailEnd type="triangle"/>
          </a:ln>
        </p:spPr>
      </p:sp>
      <p:sp>
        <p:nvSpPr>
          <p:cNvPr id="16" name="database"/>
          <p:cNvSpPr/>
          <p:nvPr/>
        </p:nvSpPr>
        <p:spPr>
          <a:xfrm>
            <a:off x="7315200" y="3575304"/>
            <a:ext cx="1371600" cy="685800"/>
          </a:xfrm>
          <a:prstGeom prst="roundRect">
            <a:avLst>
              <a:gd name="adj" fmla="val 13333"/>
            </a:avLst>
          </a:prstGeom>
          <a:solidFill>
            <a:srgbClr val="1B1F24"/>
          </a:solidFill>
          <a:ln w="12700">
            <a:solidFill>
              <a:srgbClr val="1B1F24"/>
            </a:solidFill>
            <a:prstDash val="solid"/>
          </a:ln>
        </p:spPr>
      </p:sp>
      <p:sp>
        <p:nvSpPr>
          <p:cNvPr id="17" name="Text 15"/>
          <p:cNvSpPr txBox="1"/>
          <p:nvPr/>
        </p:nvSpPr>
        <p:spPr>
          <a:xfrm>
            <a:off x="7315200" y="3575304"/>
            <a:ext cx="1371600" cy="685800"/>
          </a:xfrm>
          <a:prstGeom prst="rect">
            <a:avLst/>
          </a:prstGeom>
          <a:noFill/>
          <a:ln/>
        </p:spPr>
        <p:txBody>
          <a:bodyPr wrap="square" lIns="25400" tIns="25400" rIns="25400" bIns="25400" rtlCol="0" anchor="ctr"/>
          <a:lstStyle/>
          <a:p>
            <a:pPr algn="ctr" indent="0" marL="0">
              <a:buNone/>
            </a:pPr>
            <a:r>
              <a:rPr lang="en-US" sz="1600" b="1" dirty="0">
                <a:solidFill>
                  <a:srgbClr val="FFFFFF"/>
                </a:solidFill>
              </a:rPr>
              <a:t>Database</a:t>
            </a:r>
            <a:endParaRPr lang="en-US" sz="1600" dirty="0"/>
          </a:p>
        </p:txBody>
      </p:sp>
      <p:sp>
        <p:nvSpPr>
          <p:cNvPr id="18" name="Shape 16"/>
          <p:cNvSpPr/>
          <p:nvPr/>
        </p:nvSpPr>
        <p:spPr>
          <a:xfrm>
            <a:off x="6382512" y="3922776"/>
            <a:ext cx="905256" cy="0"/>
          </a:xfrm>
          <a:prstGeom prst="line">
            <a:avLst/>
          </a:prstGeom>
          <a:noFill/>
          <a:ln w="25400">
            <a:solidFill>
              <a:srgbClr val="64748B"/>
            </a:solidFill>
            <a:prstDash val="solid"/>
            <a:tailEnd type="triangle"/>
          </a:ln>
        </p:spPr>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1F24"/>
                </a:solidFill>
              </a:rPr>
              <a:t>Three rules for the lab</a:t>
            </a:r>
            <a:endParaRPr lang="en-US" sz="3200" dirty="0"/>
          </a:p>
        </p:txBody>
      </p:sp>
      <p:sp>
        <p:nvSpPr>
          <p:cNvPr id="3" name="Shape 1"/>
          <p:cNvSpPr/>
          <p:nvPr/>
        </p:nvSpPr>
        <p:spPr>
          <a:xfrm>
            <a:off x="457200" y="1188720"/>
            <a:ext cx="640080" cy="640080"/>
          </a:xfrm>
          <a:prstGeom prst="ellipse">
            <a:avLst/>
          </a:prstGeom>
          <a:solidFill>
            <a:srgbClr val="1B1F24"/>
          </a:solidFill>
          <a:ln w="12700">
            <a:solidFill>
              <a:srgbClr val="1B1F24"/>
            </a:solidFill>
            <a:prstDash val="solid"/>
          </a:ln>
        </p:spPr>
      </p:sp>
      <p:pic>
        <p:nvPicPr>
          <p:cNvPr id="4" name="Image 0" descr="preencoded.png">    </p:cNvPr>
          <p:cNvPicPr>
            <a:picLocks noChangeAspect="1"/>
          </p:cNvPicPr>
          <p:nvPr/>
        </p:nvPicPr>
        <p:blipFill>
          <a:blip r:embed="rId1"/>
          <a:stretch>
            <a:fillRect/>
          </a:stretch>
        </p:blipFill>
        <p:spPr>
          <a:xfrm>
            <a:off x="598018" y="1329538"/>
            <a:ext cx="358445" cy="358445"/>
          </a:xfrm>
          <a:prstGeom prst="rect">
            <a:avLst/>
          </a:prstGeom>
        </p:spPr>
      </p:pic>
      <p:sp>
        <p:nvSpPr>
          <p:cNvPr id="5" name="Text 2"/>
          <p:cNvSpPr txBox="1"/>
          <p:nvPr/>
        </p:nvSpPr>
        <p:spPr>
          <a:xfrm>
            <a:off x="1325880" y="1097280"/>
            <a:ext cx="7360920" cy="960120"/>
          </a:xfrm>
          <a:prstGeom prst="rect">
            <a:avLst/>
          </a:prstGeom>
          <a:noFill/>
          <a:ln/>
        </p:spPr>
        <p:txBody>
          <a:bodyPr wrap="square" lIns="0" tIns="0" rIns="0" bIns="0" rtlCol="0" anchor="t"/>
          <a:lstStyle/>
          <a:p>
            <a:pPr indent="0" marL="0">
              <a:buNone/>
            </a:pPr>
            <a:r>
              <a:rPr lang="en-US" sz="1800" b="1" dirty="0">
                <a:solidFill>
                  <a:srgbClr val="1B1F24"/>
                </a:solidFill>
              </a:rPr>
              <a:t>Windows, PowerShell, Node 24</a:t>
            </a:r>
            <a:endParaRPr lang="en-US" sz="1800" dirty="0"/>
          </a:p>
          <a:p>
            <a:pPr indent="0" marL="0">
              <a:buNone/>
            </a:pPr>
            <a:r>
              <a:rPr lang="en-US" sz="1400" dirty="0">
                <a:solidFill>
                  <a:srgbClr val="2B3440"/>
                </a:solidFill>
              </a:rPr>
              <a:t>Every command runs in boilerplate\nest-ai-starter, one per line. npm ships with Node; scripts run as </a:t>
            </a:r>
            <a:pPr indent="0" marL="0">
              <a:buNone/>
            </a:pPr>
            <a:r>
              <a:rPr lang="en-US" sz="1400" dirty="0">
                <a:solidFill>
                  <a:srgbClr val="2B3440"/>
                </a:solidFill>
                <a:latin typeface="Courier New" pitchFamily="34" charset="0"/>
                <a:ea typeface="Courier New" pitchFamily="34" charset="-122"/>
                <a:cs typeface="Courier New" pitchFamily="34" charset="-120"/>
              </a:rPr>
              <a:t>npm run &lt;name&gt;</a:t>
            </a:r>
            <a:pPr indent="0" marL="0">
              <a:buNone/>
            </a:pPr>
            <a:r>
              <a:rPr lang="en-US" sz="1400" dirty="0">
                <a:solidFill>
                  <a:srgbClr val="2B3440"/>
                </a:solidFill>
              </a:rPr>
              <a:t>.</a:t>
            </a:r>
            <a:endParaRPr lang="en-US" sz="1800" dirty="0"/>
          </a:p>
        </p:txBody>
      </p:sp>
      <p:sp>
        <p:nvSpPr>
          <p:cNvPr id="6" name="Shape 3"/>
          <p:cNvSpPr/>
          <p:nvPr/>
        </p:nvSpPr>
        <p:spPr>
          <a:xfrm>
            <a:off x="457200" y="2331720"/>
            <a:ext cx="640080" cy="640080"/>
          </a:xfrm>
          <a:prstGeom prst="ellipse">
            <a:avLst/>
          </a:prstGeom>
          <a:solidFill>
            <a:srgbClr val="1B1F24"/>
          </a:solidFill>
          <a:ln w="12700">
            <a:solidFill>
              <a:srgbClr val="1B1F24"/>
            </a:solidFill>
            <a:prstDash val="solid"/>
          </a:ln>
        </p:spPr>
      </p:sp>
      <p:pic>
        <p:nvPicPr>
          <p:cNvPr id="7" name="Image 1" descr="preencoded.png">    </p:cNvPr>
          <p:cNvPicPr>
            <a:picLocks noChangeAspect="1"/>
          </p:cNvPicPr>
          <p:nvPr/>
        </p:nvPicPr>
        <p:blipFill>
          <a:blip r:embed="rId2"/>
          <a:stretch>
            <a:fillRect/>
          </a:stretch>
        </p:blipFill>
        <p:spPr>
          <a:xfrm>
            <a:off x="598018" y="2472538"/>
            <a:ext cx="358445" cy="358445"/>
          </a:xfrm>
          <a:prstGeom prst="rect">
            <a:avLst/>
          </a:prstGeom>
        </p:spPr>
      </p:pic>
      <p:sp>
        <p:nvSpPr>
          <p:cNvPr id="8" name="Text 4"/>
          <p:cNvSpPr txBox="1"/>
          <p:nvPr/>
        </p:nvSpPr>
        <p:spPr>
          <a:xfrm>
            <a:off x="1325880" y="2240280"/>
            <a:ext cx="7360920" cy="960120"/>
          </a:xfrm>
          <a:prstGeom prst="rect">
            <a:avLst/>
          </a:prstGeom>
          <a:noFill/>
          <a:ln/>
        </p:spPr>
        <p:txBody>
          <a:bodyPr wrap="square" lIns="0" tIns="0" rIns="0" bIns="0" rtlCol="0" anchor="t"/>
          <a:lstStyle/>
          <a:p>
            <a:pPr indent="0" marL="0">
              <a:buNone/>
            </a:pPr>
            <a:r>
              <a:rPr lang="en-US" sz="1800" b="1" dirty="0">
                <a:solidFill>
                  <a:srgbClr val="1B1F24"/>
                </a:solidFill>
              </a:rPr>
              <a:t>Counts, not exit codes</a:t>
            </a:r>
            <a:endParaRPr lang="en-US" sz="1800" dirty="0"/>
          </a:p>
          <a:p>
            <a:pPr indent="0" marL="0">
              <a:buNone/>
            </a:pPr>
            <a:r>
              <a:rPr lang="en-US" sz="1400" dirty="0">
                <a:solidFill>
                  <a:srgbClr val="2B3440"/>
                </a:solidFill>
              </a:rPr>
              <a:t>Read "Tests N passed" AND "Test Files": a failed beforeAll shows 0 failures in the Tests line and exit 1.</a:t>
            </a:r>
            <a:endParaRPr lang="en-US" sz="1800" dirty="0"/>
          </a:p>
        </p:txBody>
      </p:sp>
      <p:sp>
        <p:nvSpPr>
          <p:cNvPr id="9" name="Shape 5"/>
          <p:cNvSpPr/>
          <p:nvPr/>
        </p:nvSpPr>
        <p:spPr>
          <a:xfrm>
            <a:off x="457200" y="3474720"/>
            <a:ext cx="640080" cy="640080"/>
          </a:xfrm>
          <a:prstGeom prst="ellipse">
            <a:avLst/>
          </a:prstGeom>
          <a:solidFill>
            <a:srgbClr val="1B1F24"/>
          </a:solidFill>
          <a:ln w="12700">
            <a:solidFill>
              <a:srgbClr val="1B1F24"/>
            </a:solidFill>
            <a:prstDash val="solid"/>
          </a:ln>
        </p:spPr>
      </p:sp>
      <p:pic>
        <p:nvPicPr>
          <p:cNvPr id="10" name="Image 2" descr="preencoded.png">    </p:cNvPr>
          <p:cNvPicPr>
            <a:picLocks noChangeAspect="1"/>
          </p:cNvPicPr>
          <p:nvPr/>
        </p:nvPicPr>
        <p:blipFill>
          <a:blip r:embed="rId3"/>
          <a:stretch>
            <a:fillRect/>
          </a:stretch>
        </p:blipFill>
        <p:spPr>
          <a:xfrm>
            <a:off x="598018" y="3615538"/>
            <a:ext cx="358445" cy="358445"/>
          </a:xfrm>
          <a:prstGeom prst="rect">
            <a:avLst/>
          </a:prstGeom>
        </p:spPr>
      </p:pic>
      <p:sp>
        <p:nvSpPr>
          <p:cNvPr id="11" name="Text 6"/>
          <p:cNvSpPr txBox="1"/>
          <p:nvPr/>
        </p:nvSpPr>
        <p:spPr>
          <a:xfrm>
            <a:off x="1325880" y="3383280"/>
            <a:ext cx="7360920" cy="960120"/>
          </a:xfrm>
          <a:prstGeom prst="rect">
            <a:avLst/>
          </a:prstGeom>
          <a:noFill/>
          <a:ln/>
        </p:spPr>
        <p:txBody>
          <a:bodyPr wrap="square" lIns="0" tIns="0" rIns="0" bIns="0" rtlCol="0" anchor="t"/>
          <a:lstStyle/>
          <a:p>
            <a:pPr indent="0" marL="0">
              <a:buNone/>
            </a:pPr>
            <a:r>
              <a:rPr lang="en-US" sz="1800" b="1" dirty="0">
                <a:solidFill>
                  <a:srgbClr val="1B1F24"/>
                </a:solidFill>
              </a:rPr>
              <a:t>The data is yours to break</a:t>
            </a:r>
            <a:endParaRPr lang="en-US" sz="1800" dirty="0"/>
          </a:p>
          <a:p>
            <a:pPr indent="0" marL="0">
              <a:buNone/>
            </a:pPr>
            <a:r>
              <a:rPr lang="en-US" sz="1400" dirty="0">
                <a:solidFill>
                  <a:srgbClr val="2B3440"/>
                </a:solidFill>
              </a:rPr>
              <a:t>data/app.db ships seeded. Change it freely while you try things; </a:t>
            </a:r>
            <a:pPr indent="0" marL="0">
              <a:buNone/>
            </a:pPr>
            <a:r>
              <a:rPr lang="en-US" sz="1400" dirty="0">
                <a:solidFill>
                  <a:srgbClr val="2B3440"/>
                </a:solidFill>
                <a:latin typeface="Courier New" pitchFamily="34" charset="0"/>
                <a:ea typeface="Courier New" pitchFamily="34" charset="-122"/>
                <a:cs typeface="Courier New" pitchFamily="34" charset="-120"/>
              </a:rPr>
              <a:t>npm run db:seed</a:t>
            </a:r>
            <a:pPr indent="0" marL="0">
              <a:buNone/>
            </a:pPr>
            <a:r>
              <a:rPr lang="en-US" sz="1400" dirty="0">
                <a:solidFill>
                  <a:srgbClr val="2B3440"/>
                </a:solidFill>
              </a:rPr>
              <a:t> puts it back, byte for byte.</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1F24"/>
                </a:solidFill>
              </a:rPr>
              <a:t>Try it in the browser: /playground</a:t>
            </a:r>
            <a:endParaRPr lang="en-US" sz="3200" dirty="0"/>
          </a:p>
        </p:txBody>
      </p:sp>
      <p:sp>
        <p:nvSpPr>
          <p:cNvPr id="3" name="Shape 1"/>
          <p:cNvSpPr/>
          <p:nvPr/>
        </p:nvSpPr>
        <p:spPr>
          <a:xfrm>
            <a:off x="457200" y="1188720"/>
            <a:ext cx="640080" cy="640080"/>
          </a:xfrm>
          <a:prstGeom prst="ellipse">
            <a:avLst/>
          </a:prstGeom>
          <a:solidFill>
            <a:srgbClr val="1B1F24"/>
          </a:solidFill>
          <a:ln w="12700">
            <a:solidFill>
              <a:srgbClr val="1B1F24"/>
            </a:solidFill>
            <a:prstDash val="solid"/>
          </a:ln>
        </p:spPr>
      </p:sp>
      <p:pic>
        <p:nvPicPr>
          <p:cNvPr id="4" name="Image 0" descr="preencoded.png">    </p:cNvPr>
          <p:cNvPicPr>
            <a:picLocks noChangeAspect="1"/>
          </p:cNvPicPr>
          <p:nvPr/>
        </p:nvPicPr>
        <p:blipFill>
          <a:blip r:embed="rId1"/>
          <a:stretch>
            <a:fillRect/>
          </a:stretch>
        </p:blipFill>
        <p:spPr>
          <a:xfrm>
            <a:off x="598018" y="1329538"/>
            <a:ext cx="358445" cy="358445"/>
          </a:xfrm>
          <a:prstGeom prst="rect">
            <a:avLst/>
          </a:prstGeom>
        </p:spPr>
      </p:pic>
      <p:sp>
        <p:nvSpPr>
          <p:cNvPr id="5" name="Text 2"/>
          <p:cNvSpPr txBox="1"/>
          <p:nvPr/>
        </p:nvSpPr>
        <p:spPr>
          <a:xfrm>
            <a:off x="1325880" y="1097280"/>
            <a:ext cx="7360920" cy="960120"/>
          </a:xfrm>
          <a:prstGeom prst="rect">
            <a:avLst/>
          </a:prstGeom>
          <a:noFill/>
          <a:ln/>
        </p:spPr>
        <p:txBody>
          <a:bodyPr wrap="square" lIns="0" tIns="0" rIns="0" bIns="0" rtlCol="0" anchor="t"/>
          <a:lstStyle/>
          <a:p>
            <a:pPr indent="0" marL="0">
              <a:buNone/>
            </a:pPr>
            <a:r>
              <a:rPr lang="en-US" sz="1800" b="1" dirty="0">
                <a:solidFill>
                  <a:srgbClr val="1B1F24"/>
                </a:solidFill>
              </a:rPr>
              <a:t>One page, every request</a:t>
            </a:r>
            <a:endParaRPr lang="en-US" sz="1800" dirty="0"/>
          </a:p>
          <a:p>
            <a:pPr indent="0" marL="0">
              <a:buNone/>
            </a:pPr>
            <a:r>
              <a:rPr lang="en-US" sz="1400" dirty="0">
                <a:solidFill>
                  <a:srgbClr val="2B3440"/>
                </a:solidFill>
              </a:rPr>
              <a:t>With the app running, open http://localhost:3000/playground. It lists every module 1 request: health, users, notes and sharing.</a:t>
            </a:r>
            <a:endParaRPr lang="en-US" sz="1800" dirty="0"/>
          </a:p>
        </p:txBody>
      </p:sp>
      <p:sp>
        <p:nvSpPr>
          <p:cNvPr id="6" name="Shape 3"/>
          <p:cNvSpPr/>
          <p:nvPr/>
        </p:nvSpPr>
        <p:spPr>
          <a:xfrm>
            <a:off x="457200" y="2331720"/>
            <a:ext cx="640080" cy="640080"/>
          </a:xfrm>
          <a:prstGeom prst="ellipse">
            <a:avLst/>
          </a:prstGeom>
          <a:solidFill>
            <a:srgbClr val="1B1F24"/>
          </a:solidFill>
          <a:ln w="12700">
            <a:solidFill>
              <a:srgbClr val="1B1F24"/>
            </a:solidFill>
            <a:prstDash val="solid"/>
          </a:ln>
        </p:spPr>
      </p:sp>
      <p:pic>
        <p:nvPicPr>
          <p:cNvPr id="7" name="Image 1" descr="preencoded.png">    </p:cNvPr>
          <p:cNvPicPr>
            <a:picLocks noChangeAspect="1"/>
          </p:cNvPicPr>
          <p:nvPr/>
        </p:nvPicPr>
        <p:blipFill>
          <a:blip r:embed="rId2"/>
          <a:stretch>
            <a:fillRect/>
          </a:stretch>
        </p:blipFill>
        <p:spPr>
          <a:xfrm>
            <a:off x="598018" y="2472538"/>
            <a:ext cx="358445" cy="358445"/>
          </a:xfrm>
          <a:prstGeom prst="rect">
            <a:avLst/>
          </a:prstGeom>
        </p:spPr>
      </p:pic>
      <p:sp>
        <p:nvSpPr>
          <p:cNvPr id="8" name="Text 4"/>
          <p:cNvSpPr txBox="1"/>
          <p:nvPr/>
        </p:nvSpPr>
        <p:spPr>
          <a:xfrm>
            <a:off x="1325880" y="2240280"/>
            <a:ext cx="7360920" cy="960120"/>
          </a:xfrm>
          <a:prstGeom prst="rect">
            <a:avLst/>
          </a:prstGeom>
          <a:noFill/>
          <a:ln/>
        </p:spPr>
        <p:txBody>
          <a:bodyPr wrap="square" lIns="0" tIns="0" rIns="0" bIns="0" rtlCol="0" anchor="t"/>
          <a:lstStyle/>
          <a:p>
            <a:pPr indent="0" marL="0">
              <a:buNone/>
            </a:pPr>
            <a:r>
              <a:rPr lang="en-US" sz="1800" b="1" dirty="0">
                <a:solidFill>
                  <a:srgbClr val="1B1F24"/>
                </a:solidFill>
              </a:rPr>
              <a:t>Click to send</a:t>
            </a:r>
            <a:endParaRPr lang="en-US" sz="1800" dirty="0"/>
          </a:p>
          <a:p>
            <a:pPr indent="0" marL="0">
              <a:buNone/>
            </a:pPr>
            <a:r>
              <a:rPr lang="en-US" sz="1400" dirty="0">
                <a:solidFill>
                  <a:srgbClr val="2B3440"/>
                </a:solidFill>
              </a:rPr>
              <a:t>Each Send calls the real controller and shows the status, a ✓ when it is the one the specs expect, and the body. Run all in order chains the ids.</a:t>
            </a:r>
            <a:endParaRPr lang="en-US" sz="1800" dirty="0"/>
          </a:p>
        </p:txBody>
      </p:sp>
      <p:sp>
        <p:nvSpPr>
          <p:cNvPr id="9" name="Shape 5"/>
          <p:cNvSpPr/>
          <p:nvPr/>
        </p:nvSpPr>
        <p:spPr>
          <a:xfrm>
            <a:off x="457200" y="3474720"/>
            <a:ext cx="640080" cy="640080"/>
          </a:xfrm>
          <a:prstGeom prst="ellipse">
            <a:avLst/>
          </a:prstGeom>
          <a:solidFill>
            <a:srgbClr val="1B1F24"/>
          </a:solidFill>
          <a:ln w="12700">
            <a:solidFill>
              <a:srgbClr val="1B1F24"/>
            </a:solidFill>
            <a:prstDash val="solid"/>
          </a:ln>
        </p:spPr>
      </p:sp>
      <p:pic>
        <p:nvPicPr>
          <p:cNvPr id="10" name="Image 2" descr="preencoded.png">    </p:cNvPr>
          <p:cNvPicPr>
            <a:picLocks noChangeAspect="1"/>
          </p:cNvPicPr>
          <p:nvPr/>
        </p:nvPicPr>
        <p:blipFill>
          <a:blip r:embed="rId3"/>
          <a:stretch>
            <a:fillRect/>
          </a:stretch>
        </p:blipFill>
        <p:spPr>
          <a:xfrm>
            <a:off x="598018" y="3615538"/>
            <a:ext cx="358445" cy="358445"/>
          </a:xfrm>
          <a:prstGeom prst="rect">
            <a:avLst/>
          </a:prstGeom>
        </p:spPr>
      </p:pic>
      <p:sp>
        <p:nvSpPr>
          <p:cNvPr id="11" name="Text 6"/>
          <p:cNvSpPr txBox="1"/>
          <p:nvPr/>
        </p:nvSpPr>
        <p:spPr>
          <a:xfrm>
            <a:off x="1325880" y="3383280"/>
            <a:ext cx="7360920" cy="960120"/>
          </a:xfrm>
          <a:prstGeom prst="rect">
            <a:avLst/>
          </a:prstGeom>
          <a:noFill/>
          <a:ln/>
        </p:spPr>
        <p:txBody>
          <a:bodyPr wrap="square" lIns="0" tIns="0" rIns="0" bIns="0" rtlCol="0" anchor="t"/>
          <a:lstStyle/>
          <a:p>
            <a:pPr indent="0" marL="0">
              <a:buNone/>
            </a:pPr>
            <a:r>
              <a:rPr lang="en-US" sz="1800" b="1" dirty="0">
                <a:solidFill>
                  <a:srgbClr val="1B1F24"/>
                </a:solidFill>
              </a:rPr>
              <a:t>It writes to your data</a:t>
            </a:r>
            <a:endParaRPr lang="en-US" sz="1800" dirty="0"/>
          </a:p>
          <a:p>
            <a:pPr indent="0" marL="0">
              <a:buNone/>
            </a:pPr>
            <a:r>
              <a:rPr lang="en-US" sz="1400" dirty="0">
                <a:solidFill>
                  <a:srgbClr val="2B3440"/>
                </a:solidFill>
              </a:rPr>
              <a:t>Requests create, change and delete rows in data/app.db. </a:t>
            </a:r>
            <a:pPr indent="0" marL="0">
              <a:buNone/>
            </a:pPr>
            <a:r>
              <a:rPr lang="en-US" sz="1400" dirty="0">
                <a:solidFill>
                  <a:srgbClr val="2B3440"/>
                </a:solidFill>
                <a:latin typeface="Courier New" pitchFamily="34" charset="0"/>
                <a:ea typeface="Courier New" pitchFamily="34" charset="-122"/>
                <a:cs typeface="Courier New" pitchFamily="34" charset="-120"/>
              </a:rPr>
              <a:t>npm run db:seed</a:t>
            </a:r>
            <a:pPr indent="0" marL="0">
              <a:buNone/>
            </a:pPr>
            <a:r>
              <a:rPr lang="en-US" sz="1400" dirty="0">
                <a:solidFill>
                  <a:srgbClr val="2B3440"/>
                </a:solidFill>
              </a:rPr>
              <a:t> restores the seeded data.</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1F24"/>
                </a:solidFill>
              </a:rPr>
              <a:t>Lab checks: is my lab done?</a:t>
            </a:r>
            <a:endParaRPr lang="en-US" sz="3200" dirty="0"/>
          </a:p>
        </p:txBody>
      </p:sp>
      <p:sp>
        <p:nvSpPr>
          <p:cNvPr id="3" name="Shape 1"/>
          <p:cNvSpPr/>
          <p:nvPr/>
        </p:nvSpPr>
        <p:spPr>
          <a:xfrm>
            <a:off x="457200" y="1188720"/>
            <a:ext cx="640080" cy="640080"/>
          </a:xfrm>
          <a:prstGeom prst="ellipse">
            <a:avLst/>
          </a:prstGeom>
          <a:solidFill>
            <a:srgbClr val="1B1F24"/>
          </a:solidFill>
          <a:ln w="12700">
            <a:solidFill>
              <a:srgbClr val="1B1F24"/>
            </a:solidFill>
            <a:prstDash val="solid"/>
          </a:ln>
        </p:spPr>
      </p:sp>
      <p:pic>
        <p:nvPicPr>
          <p:cNvPr id="4" name="Image 0" descr="preencoded.png">    </p:cNvPr>
          <p:cNvPicPr>
            <a:picLocks noChangeAspect="1"/>
          </p:cNvPicPr>
          <p:nvPr/>
        </p:nvPicPr>
        <p:blipFill>
          <a:blip r:embed="rId1"/>
          <a:stretch>
            <a:fillRect/>
          </a:stretch>
        </p:blipFill>
        <p:spPr>
          <a:xfrm>
            <a:off x="598018" y="1329538"/>
            <a:ext cx="358445" cy="358445"/>
          </a:xfrm>
          <a:prstGeom prst="rect">
            <a:avLst/>
          </a:prstGeom>
        </p:spPr>
      </p:pic>
      <p:sp>
        <p:nvSpPr>
          <p:cNvPr id="5" name="Text 2"/>
          <p:cNvSpPr txBox="1"/>
          <p:nvPr/>
        </p:nvSpPr>
        <p:spPr>
          <a:xfrm>
            <a:off x="1325880" y="1097280"/>
            <a:ext cx="7360920" cy="960120"/>
          </a:xfrm>
          <a:prstGeom prst="rect">
            <a:avLst/>
          </a:prstGeom>
          <a:noFill/>
          <a:ln/>
        </p:spPr>
        <p:txBody>
          <a:bodyPr wrap="square" lIns="0" tIns="0" rIns="0" bIns="0" rtlCol="0" anchor="t"/>
          <a:lstStyle/>
          <a:p>
            <a:pPr indent="0" marL="0">
              <a:buNone/>
            </a:pPr>
            <a:r>
              <a:rPr lang="en-US" sz="1800" b="1" dirty="0">
                <a:solidFill>
                  <a:srgbClr val="1B1F24"/>
                </a:solidFill>
              </a:rPr>
              <a:t>One check per lab</a:t>
            </a:r>
            <a:endParaRPr lang="en-US" sz="1800" dirty="0"/>
          </a:p>
          <a:p>
            <a:pPr indent="0" marL="0">
              <a:buNone/>
            </a:pPr>
            <a:pPr indent="0" marL="0">
              <a:buNone/>
            </a:pPr>
            <a:r>
              <a:rPr lang="en-US" sz="1400" dirty="0">
                <a:solidFill>
                  <a:srgbClr val="2B3440"/>
                </a:solidFill>
                <a:latin typeface="Courier New" pitchFamily="34" charset="0"/>
                <a:ea typeface="Courier New" pitchFamily="34" charset="-122"/>
                <a:cs typeface="Courier New" pitchFamily="34" charset="-120"/>
              </a:rPr>
              <a:t>npm run lab 01</a:t>
            </a:r>
            <a:pPr indent="0" marL="0">
              <a:buNone/>
            </a:pPr>
            <a:r>
              <a:rPr lang="en-US" sz="1400" dirty="0">
                <a:solidFill>
                  <a:srgbClr val="2B3440"/>
                </a:solidFill>
              </a:rPr>
              <a:t> runs the check for lab 01, </a:t>
            </a:r>
            <a:pPr indent="0" marL="0">
              <a:buNone/>
            </a:pPr>
            <a:r>
              <a:rPr lang="en-US" sz="1400" dirty="0">
                <a:solidFill>
                  <a:srgbClr val="2B3440"/>
                </a:solidFill>
                <a:latin typeface="Courier New" pitchFamily="34" charset="0"/>
                <a:ea typeface="Courier New" pitchFamily="34" charset="-122"/>
                <a:cs typeface="Courier New" pitchFamily="34" charset="-120"/>
              </a:rPr>
              <a:t>npm run lab</a:t>
            </a:r>
            <a:pPr indent="0" marL="0">
              <a:buNone/>
            </a:pPr>
            <a:r>
              <a:rPr lang="en-US" sz="1400" dirty="0">
                <a:solidFill>
                  <a:srgbClr val="2B3440"/>
                </a:solidFill>
              </a:rPr>
              <a:t> all of them. Done means </a:t>
            </a:r>
            <a:pPr indent="0" marL="0">
              <a:buNone/>
            </a:pPr>
            <a:r>
              <a:rPr lang="en-US" sz="1400" dirty="0">
                <a:solidFill>
                  <a:srgbClr val="2B3440"/>
                </a:solidFill>
                <a:latin typeface="Courier New" pitchFamily="34" charset="0"/>
                <a:ea typeface="Courier New" pitchFamily="34" charset="-122"/>
                <a:cs typeface="Courier New" pitchFamily="34" charset="-120"/>
              </a:rPr>
              <a:t>Test Files 1 passed</a:t>
            </a:r>
            <a:pPr indent="0" marL="0">
              <a:buNone/>
            </a:pPr>
            <a:r>
              <a:rPr lang="en-US" sz="1400" dirty="0">
                <a:solidFill>
                  <a:srgbClr val="2B3440"/>
                </a:solidFill>
              </a:rPr>
              <a:t> and every test green.</a:t>
            </a:r>
            <a:endParaRPr lang="en-US" sz="1800" dirty="0"/>
          </a:p>
        </p:txBody>
      </p:sp>
      <p:sp>
        <p:nvSpPr>
          <p:cNvPr id="6" name="Shape 3"/>
          <p:cNvSpPr/>
          <p:nvPr/>
        </p:nvSpPr>
        <p:spPr>
          <a:xfrm>
            <a:off x="457200" y="2331720"/>
            <a:ext cx="640080" cy="640080"/>
          </a:xfrm>
          <a:prstGeom prst="ellipse">
            <a:avLst/>
          </a:prstGeom>
          <a:solidFill>
            <a:srgbClr val="1B1F24"/>
          </a:solidFill>
          <a:ln w="12700">
            <a:solidFill>
              <a:srgbClr val="1B1F24"/>
            </a:solidFill>
            <a:prstDash val="solid"/>
          </a:ln>
        </p:spPr>
      </p:sp>
      <p:pic>
        <p:nvPicPr>
          <p:cNvPr id="7" name="Image 1" descr="preencoded.png">    </p:cNvPr>
          <p:cNvPicPr>
            <a:picLocks noChangeAspect="1"/>
          </p:cNvPicPr>
          <p:nvPr/>
        </p:nvPicPr>
        <p:blipFill>
          <a:blip r:embed="rId2"/>
          <a:stretch>
            <a:fillRect/>
          </a:stretch>
        </p:blipFill>
        <p:spPr>
          <a:xfrm>
            <a:off x="598018" y="2472538"/>
            <a:ext cx="358445" cy="358445"/>
          </a:xfrm>
          <a:prstGeom prst="rect">
            <a:avLst/>
          </a:prstGeom>
        </p:spPr>
      </p:pic>
      <p:sp>
        <p:nvSpPr>
          <p:cNvPr id="8" name="Text 4"/>
          <p:cNvSpPr txBox="1"/>
          <p:nvPr/>
        </p:nvSpPr>
        <p:spPr>
          <a:xfrm>
            <a:off x="1325880" y="2240280"/>
            <a:ext cx="7360920" cy="960120"/>
          </a:xfrm>
          <a:prstGeom prst="rect">
            <a:avLst/>
          </a:prstGeom>
          <a:noFill/>
          <a:ln/>
        </p:spPr>
        <p:txBody>
          <a:bodyPr wrap="square" lIns="0" tIns="0" rIns="0" bIns="0" rtlCol="0" anchor="t"/>
          <a:lstStyle/>
          <a:p>
            <a:pPr indent="0" marL="0">
              <a:buNone/>
            </a:pPr>
            <a:r>
              <a:rPr lang="en-US" sz="1800" b="1" dirty="0">
                <a:solidFill>
                  <a:srgbClr val="1B1F24"/>
                </a:solidFill>
              </a:rPr>
              <a:t>Red until built</a:t>
            </a:r>
            <a:endParaRPr lang="en-US" sz="1800" dirty="0"/>
          </a:p>
          <a:p>
            <a:pPr indent="0" marL="0">
              <a:buNone/>
            </a:pPr>
            <a:r>
              <a:rPr lang="en-US" sz="1400" dirty="0">
                <a:solidFill>
                  <a:srgbClr val="2B3440"/>
                </a:solidFill>
              </a:rPr>
              <a:t>Every lab check fails on the starter, because its feature is not there yet. It turns green when your agent has built it, and stays green after.</a:t>
            </a:r>
            <a:endParaRPr lang="en-US" sz="1800" dirty="0"/>
          </a:p>
        </p:txBody>
      </p:sp>
      <p:sp>
        <p:nvSpPr>
          <p:cNvPr id="9" name="Shape 5"/>
          <p:cNvSpPr/>
          <p:nvPr/>
        </p:nvSpPr>
        <p:spPr>
          <a:xfrm>
            <a:off x="457200" y="3474720"/>
            <a:ext cx="640080" cy="640080"/>
          </a:xfrm>
          <a:prstGeom prst="ellipse">
            <a:avLst/>
          </a:prstGeom>
          <a:solidFill>
            <a:srgbClr val="1B1F24"/>
          </a:solidFill>
          <a:ln w="12700">
            <a:solidFill>
              <a:srgbClr val="1B1F24"/>
            </a:solidFill>
            <a:prstDash val="solid"/>
          </a:ln>
        </p:spPr>
      </p:sp>
      <p:pic>
        <p:nvPicPr>
          <p:cNvPr id="10" name="Image 2" descr="preencoded.png">    </p:cNvPr>
          <p:cNvPicPr>
            <a:picLocks noChangeAspect="1"/>
          </p:cNvPicPr>
          <p:nvPr/>
        </p:nvPicPr>
        <p:blipFill>
          <a:blip r:embed="rId3"/>
          <a:stretch>
            <a:fillRect/>
          </a:stretch>
        </p:blipFill>
        <p:spPr>
          <a:xfrm>
            <a:off x="598018" y="3615538"/>
            <a:ext cx="358445" cy="358445"/>
          </a:xfrm>
          <a:prstGeom prst="rect">
            <a:avLst/>
          </a:prstGeom>
        </p:spPr>
      </p:pic>
      <p:sp>
        <p:nvSpPr>
          <p:cNvPr id="11" name="Text 6"/>
          <p:cNvSpPr txBox="1"/>
          <p:nvPr/>
        </p:nvSpPr>
        <p:spPr>
          <a:xfrm>
            <a:off x="1325880" y="3383280"/>
            <a:ext cx="7360920" cy="960120"/>
          </a:xfrm>
          <a:prstGeom prst="rect">
            <a:avLst/>
          </a:prstGeom>
          <a:noFill/>
          <a:ln/>
        </p:spPr>
        <p:txBody>
          <a:bodyPr wrap="square" lIns="0" tIns="0" rIns="0" bIns="0" rtlCol="0" anchor="t"/>
          <a:lstStyle/>
          <a:p>
            <a:pPr indent="0" marL="0">
              <a:buNone/>
            </a:pPr>
            <a:r>
              <a:rPr lang="en-US" sz="1800" b="1" dirty="0">
                <a:solidFill>
                  <a:srgbClr val="1B1F24"/>
                </a:solidFill>
              </a:rPr>
              <a:t>Fell behind?</a:t>
            </a:r>
            <a:endParaRPr lang="en-US" sz="1800" dirty="0"/>
          </a:p>
          <a:p>
            <a:pPr indent="0" marL="0">
              <a:buNone/>
            </a:pPr>
            <a:r>
              <a:rPr lang="en-US" sz="1400" dirty="0">
                <a:solidFill>
                  <a:srgbClr val="2B3440"/>
                </a:solidFill>
              </a:rPr>
              <a:t>Start the next module from its checkpoint (docs/ai-agent-training/checkpoints/), not by patching your own copy.</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1F24"/>
                </a:solidFill>
              </a:rPr>
              <a:t>The track (draft lab times)</a:t>
            </a:r>
            <a:endParaRPr lang="en-US" sz="3200" dirty="0"/>
          </a:p>
        </p:txBody>
      </p:sp>
      <p:sp>
        <p:nvSpPr>
          <p:cNvPr id="3" name="Shape 1"/>
          <p:cNvSpPr/>
          <p:nvPr/>
        </p:nvSpPr>
        <p:spPr>
          <a:xfrm>
            <a:off x="457200" y="1143000"/>
            <a:ext cx="4023360" cy="475488"/>
          </a:xfrm>
          <a:prstGeom prst="roundRect">
            <a:avLst>
              <a:gd name="adj" fmla="val 11538"/>
            </a:avLst>
          </a:prstGeom>
          <a:solidFill>
            <a:srgbClr val="F1F5F9"/>
          </a:solidFill>
          <a:ln w="12700">
            <a:solidFill>
              <a:srgbClr val="F1F5F9"/>
            </a:solidFill>
            <a:prstDash val="solid"/>
          </a:ln>
        </p:spPr>
      </p:sp>
      <p:sp>
        <p:nvSpPr>
          <p:cNvPr id="4" name="Text 2"/>
          <p:cNvSpPr txBox="1"/>
          <p:nvPr/>
        </p:nvSpPr>
        <p:spPr>
          <a:xfrm>
            <a:off x="594360" y="1143000"/>
            <a:ext cx="3017520" cy="475488"/>
          </a:xfrm>
          <a:prstGeom prst="rect">
            <a:avLst/>
          </a:prstGeom>
          <a:noFill/>
          <a:ln/>
        </p:spPr>
        <p:txBody>
          <a:bodyPr wrap="square" lIns="0" tIns="0" rIns="0" bIns="0" rtlCol="0" anchor="ctr"/>
          <a:lstStyle/>
          <a:p>
            <a:pPr indent="0" marL="0">
              <a:buNone/>
            </a:pPr>
            <a:r>
              <a:rPr lang="en-US" sz="1400" b="1" dirty="0">
                <a:solidFill>
                  <a:srgbClr val="1FB68A"/>
                </a:solidFill>
                <a:latin typeface="Courier New" pitchFamily="34" charset="0"/>
                <a:ea typeface="Courier New" pitchFamily="34" charset="-122"/>
                <a:cs typeface="Courier New" pitchFamily="34" charset="-120"/>
              </a:rPr>
              <a:t>1  </a:t>
            </a:r>
            <a:pPr indent="0" marL="0">
              <a:buNone/>
            </a:pPr>
            <a:r>
              <a:rPr lang="en-US" sz="1400" dirty="0">
                <a:solidFill>
                  <a:srgbClr val="1B1F24"/>
                </a:solidFill>
              </a:rPr>
              <a:t>Users and notes</a:t>
            </a:r>
            <a:endParaRPr lang="en-US" sz="1400" dirty="0"/>
          </a:p>
        </p:txBody>
      </p:sp>
      <p:sp>
        <p:nvSpPr>
          <p:cNvPr id="5" name="Text 3"/>
          <p:cNvSpPr txBox="1"/>
          <p:nvPr/>
        </p:nvSpPr>
        <p:spPr>
          <a:xfrm>
            <a:off x="3566160" y="1143000"/>
            <a:ext cx="777240" cy="475488"/>
          </a:xfrm>
          <a:prstGeom prst="rect">
            <a:avLst/>
          </a:prstGeom>
          <a:noFill/>
          <a:ln/>
        </p:spPr>
        <p:txBody>
          <a:bodyPr wrap="square" lIns="0" tIns="0" rIns="0" bIns="0" rtlCol="0" anchor="ctr"/>
          <a:lstStyle/>
          <a:p>
            <a:pPr algn="r" indent="0" marL="0">
              <a:buNone/>
            </a:pPr>
            <a:r>
              <a:rPr lang="en-US" sz="1400" dirty="0">
                <a:solidFill>
                  <a:srgbClr val="64748B"/>
                </a:solidFill>
              </a:rPr>
              <a:t>15'</a:t>
            </a:r>
            <a:endParaRPr lang="en-US" sz="1400" dirty="0"/>
          </a:p>
        </p:txBody>
      </p:sp>
      <p:sp>
        <p:nvSpPr>
          <p:cNvPr id="6" name="Shape 4"/>
          <p:cNvSpPr/>
          <p:nvPr/>
        </p:nvSpPr>
        <p:spPr>
          <a:xfrm>
            <a:off x="4663440" y="1143000"/>
            <a:ext cx="4023360" cy="475488"/>
          </a:xfrm>
          <a:prstGeom prst="roundRect">
            <a:avLst>
              <a:gd name="adj" fmla="val 11538"/>
            </a:avLst>
          </a:prstGeom>
          <a:solidFill>
            <a:srgbClr val="F1F5F9"/>
          </a:solidFill>
          <a:ln w="12700">
            <a:solidFill>
              <a:srgbClr val="F1F5F9"/>
            </a:solidFill>
            <a:prstDash val="solid"/>
          </a:ln>
        </p:spPr>
      </p:sp>
      <p:sp>
        <p:nvSpPr>
          <p:cNvPr id="7" name="Text 5"/>
          <p:cNvSpPr txBox="1"/>
          <p:nvPr/>
        </p:nvSpPr>
        <p:spPr>
          <a:xfrm>
            <a:off x="4800600" y="1143000"/>
            <a:ext cx="3017520" cy="475488"/>
          </a:xfrm>
          <a:prstGeom prst="rect">
            <a:avLst/>
          </a:prstGeom>
          <a:noFill/>
          <a:ln/>
        </p:spPr>
        <p:txBody>
          <a:bodyPr wrap="square" lIns="0" tIns="0" rIns="0" bIns="0" rtlCol="0" anchor="ctr"/>
          <a:lstStyle/>
          <a:p>
            <a:pPr indent="0" marL="0">
              <a:buNone/>
            </a:pPr>
            <a:r>
              <a:rPr lang="en-US" sz="1400" b="1" dirty="0">
                <a:solidFill>
                  <a:srgbClr val="1FB68A"/>
                </a:solidFill>
                <a:latin typeface="Courier New" pitchFamily="34" charset="0"/>
                <a:ea typeface="Courier New" pitchFamily="34" charset="-122"/>
                <a:cs typeface="Courier New" pitchFamily="34" charset="-120"/>
              </a:rPr>
              <a:t>2  </a:t>
            </a:r>
            <a:pPr indent="0" marL="0">
              <a:buNone/>
            </a:pPr>
            <a:r>
              <a:rPr lang="en-US" sz="1400" dirty="0">
                <a:solidFill>
                  <a:srgbClr val="1B1F24"/>
                </a:solidFill>
              </a:rPr>
              <a:t>An MCP server on your data</a:t>
            </a:r>
            <a:endParaRPr lang="en-US" sz="1400" dirty="0"/>
          </a:p>
        </p:txBody>
      </p:sp>
      <p:sp>
        <p:nvSpPr>
          <p:cNvPr id="8" name="Text 6"/>
          <p:cNvSpPr txBox="1"/>
          <p:nvPr/>
        </p:nvSpPr>
        <p:spPr>
          <a:xfrm>
            <a:off x="7772400" y="1143000"/>
            <a:ext cx="777240" cy="475488"/>
          </a:xfrm>
          <a:prstGeom prst="rect">
            <a:avLst/>
          </a:prstGeom>
          <a:noFill/>
          <a:ln/>
        </p:spPr>
        <p:txBody>
          <a:bodyPr wrap="square" lIns="0" tIns="0" rIns="0" bIns="0" rtlCol="0" anchor="ctr"/>
          <a:lstStyle/>
          <a:p>
            <a:pPr algn="r" indent="0" marL="0">
              <a:buNone/>
            </a:pPr>
            <a:r>
              <a:rPr lang="en-US" sz="1400" dirty="0">
                <a:solidFill>
                  <a:srgbClr val="64748B"/>
                </a:solidFill>
              </a:rPr>
              <a:t>15'</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1097280"/>
            <a:ext cx="5486400" cy="365760"/>
          </a:xfrm>
          <a:prstGeom prst="rect">
            <a:avLst/>
          </a:prstGeom>
          <a:noFill/>
          <a:ln/>
        </p:spPr>
        <p:txBody>
          <a:bodyPr wrap="square" lIns="0" tIns="0" rIns="0" bIns="0" rtlCol="0"/>
          <a:lstStyle/>
          <a:p>
            <a:pPr indent="0" marL="0">
              <a:buNone/>
            </a:pPr>
            <a:r>
              <a:rPr lang="en-US" sz="1400" b="1" spc="300" kern="0" dirty="0">
                <a:solidFill>
                  <a:srgbClr val="1FB68A"/>
                </a:solidFill>
              </a:rPr>
              <a:t>MODULE 1</a:t>
            </a:r>
            <a:endParaRPr lang="en-US" sz="1400" dirty="0"/>
          </a:p>
        </p:txBody>
      </p:sp>
      <p:sp>
        <p:nvSpPr>
          <p:cNvPr id="3" name="Text 0"/>
          <p:cNvSpPr/>
          <p:nvPr>
            <p:ph idx="101" type="title" hasCustomPrompt="1"/>
          </p:nvPr>
        </p:nvSpPr>
        <p:spPr>
          <a:xfrm>
            <a:off x="548640" y="1508760"/>
            <a:ext cx="8046720" cy="914400"/>
          </a:xfrm>
          <a:prstGeom prst="rect">
            <a:avLst/>
          </a:prstGeom>
          <a:noFill/>
          <a:ln/>
        </p:spPr>
        <p:txBody>
          <a:bodyPr wrap="square" lIns="0" tIns="0" rIns="0" bIns="0" rtlCol="0" anchor="t"/>
          <a:lstStyle/>
          <a:p>
            <a:pPr algn="l" indent="0" marL="0">
              <a:buNone/>
            </a:pPr>
            <a:r>
              <a:rPr lang="en-US" sz="4000" b="1" dirty="0">
                <a:solidFill>
                  <a:srgbClr val="FFFFFF"/>
                </a:solidFill>
              </a:rPr>
              <a:t>Users and notes</a:t>
            </a:r>
            <a:endParaRPr lang="en-US" sz="4000" dirty="0"/>
          </a:p>
        </p:txBody>
      </p:sp>
      <p:sp>
        <p:nvSpPr>
          <p:cNvPr id="4" name="Text 0"/>
          <p:cNvSpPr/>
          <p:nvPr>
            <p:ph idx="102" type="body" hasCustomPrompt="1"/>
          </p:nvPr>
        </p:nvSpPr>
        <p:spPr>
          <a:xfrm>
            <a:off x="548640" y="2560320"/>
            <a:ext cx="5669280" cy="1097280"/>
          </a:xfrm>
          <a:prstGeom prst="rect">
            <a:avLst/>
          </a:prstGeom>
          <a:noFill/>
          <a:ln/>
        </p:spPr>
        <p:txBody>
          <a:bodyPr wrap="square" lIns="0" tIns="0" rIns="0" bIns="0" rtlCol="0" anchor="t"/>
          <a:lstStyle/>
          <a:p>
            <a:pPr indent="0" marL="0">
              <a:buNone/>
            </a:pPr>
            <a:r>
              <a:rPr lang="en-US" sz="1800" dirty="0">
                <a:solidFill>
                  <a:srgbClr val="CBD5E1"/>
                </a:solidFill>
              </a:rPr>
              <a:t>Your agent sets the project up, then builds the users and notes resources (notes shareable between users) on the seeded tables.</a:t>
            </a:r>
            <a:endParaRPr lang="en-US" sz="1800" dirty="0"/>
          </a:p>
        </p:txBody>
      </p:sp>
      <p:sp>
        <p:nvSpPr>
          <p:cNvPr id="5" name="Shape 3"/>
          <p:cNvSpPr/>
          <p:nvPr/>
        </p:nvSpPr>
        <p:spPr>
          <a:xfrm>
            <a:off x="6675120" y="2560320"/>
            <a:ext cx="2011680" cy="1097280"/>
          </a:xfrm>
          <a:prstGeom prst="roundRect">
            <a:avLst>
              <a:gd name="adj" fmla="val 8333"/>
            </a:avLst>
          </a:prstGeom>
          <a:solidFill>
            <a:srgbClr val="2B3440"/>
          </a:solidFill>
          <a:ln w="12700">
            <a:solidFill>
              <a:srgbClr val="2B3440"/>
            </a:solidFill>
            <a:prstDash val="solid"/>
          </a:ln>
        </p:spPr>
      </p:sp>
      <p:sp>
        <p:nvSpPr>
          <p:cNvPr id="6" name="Shape 4"/>
          <p:cNvSpPr/>
          <p:nvPr/>
        </p:nvSpPr>
        <p:spPr>
          <a:xfrm>
            <a:off x="6858000" y="2788920"/>
            <a:ext cx="640080" cy="640080"/>
          </a:xfrm>
          <a:prstGeom prst="ellipse">
            <a:avLst/>
          </a:prstGeom>
          <a:solidFill>
            <a:srgbClr val="1FB68A"/>
          </a:solidFill>
          <a:ln w="12700">
            <a:solidFill>
              <a:srgbClr val="1FB68A"/>
            </a:solidFill>
            <a:prstDash val="solid"/>
          </a:ln>
        </p:spPr>
      </p:sp>
      <p:pic>
        <p:nvPicPr>
          <p:cNvPr id="7" name="Image 0" descr="preencoded.png">    </p:cNvPr>
          <p:cNvPicPr>
            <a:picLocks noChangeAspect="1"/>
          </p:cNvPicPr>
          <p:nvPr/>
        </p:nvPicPr>
        <p:blipFill>
          <a:blip r:embed="rId1"/>
          <a:stretch>
            <a:fillRect/>
          </a:stretch>
        </p:blipFill>
        <p:spPr>
          <a:xfrm>
            <a:off x="6998818" y="2929738"/>
            <a:ext cx="358445" cy="358445"/>
          </a:xfrm>
          <a:prstGeom prst="rect">
            <a:avLst/>
          </a:prstGeom>
        </p:spPr>
      </p:pic>
      <p:sp>
        <p:nvSpPr>
          <p:cNvPr id="8" name="Text 5"/>
          <p:cNvSpPr txBox="1"/>
          <p:nvPr/>
        </p:nvSpPr>
        <p:spPr>
          <a:xfrm>
            <a:off x="7589520" y="2697480"/>
            <a:ext cx="1051560" cy="822960"/>
          </a:xfrm>
          <a:prstGeom prst="rect">
            <a:avLst/>
          </a:prstGeom>
          <a:noFill/>
          <a:ln/>
        </p:spPr>
        <p:txBody>
          <a:bodyPr wrap="square" lIns="0" tIns="0" rIns="0" bIns="0" rtlCol="0" anchor="ctr"/>
          <a:lstStyle/>
          <a:p>
            <a:pPr indent="0" marL="0">
              <a:buNone/>
            </a:pPr>
            <a:r>
              <a:rPr lang="en-US" sz="2200" b="1" dirty="0">
                <a:solidFill>
                  <a:srgbClr val="FFFFFF"/>
                </a:solidFill>
              </a:rPr>
              <a:t>15 min</a:t>
            </a:r>
            <a:endParaRPr lang="en-US" sz="2200" dirty="0"/>
          </a:p>
          <a:p>
            <a:pPr indent="0" marL="0">
              <a:buNone/>
            </a:pPr>
            <a:r>
              <a:rPr lang="en-US" sz="1100" dirty="0">
                <a:solidFill>
                  <a:srgbClr val="CBD5E1"/>
                </a:solidFill>
              </a:rPr>
              <a:t>lab (draft)</a:t>
            </a:r>
            <a:endParaRPr lang="en-US" sz="2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1F24"/>
                </a:solidFill>
              </a:rPr>
              <a:t>Instruction 1/3: set the project up</a:t>
            </a:r>
            <a:endParaRPr lang="en-US" sz="3200" dirty="0"/>
          </a:p>
        </p:txBody>
      </p:sp>
      <p:sp>
        <p:nvSpPr>
          <p:cNvPr id="3" name="Shape 1"/>
          <p:cNvSpPr/>
          <p:nvPr/>
        </p:nvSpPr>
        <p:spPr>
          <a:xfrm>
            <a:off x="457200" y="1051560"/>
            <a:ext cx="73152" cy="548640"/>
          </a:xfrm>
          <a:prstGeom prst="rect">
            <a:avLst/>
          </a:prstGeom>
          <a:solidFill>
            <a:srgbClr val="1FB68A"/>
          </a:solidFill>
          <a:ln w="12700">
            <a:solidFill>
              <a:srgbClr val="1FB68A"/>
            </a:solidFill>
            <a:prstDash val="solid"/>
          </a:ln>
        </p:spPr>
      </p:sp>
      <p:sp>
        <p:nvSpPr>
          <p:cNvPr id="4" name="proctor"/>
          <p:cNvSpPr txBox="1"/>
          <p:nvPr/>
        </p:nvSpPr>
        <p:spPr>
          <a:xfrm>
            <a:off x="640080" y="1024128"/>
            <a:ext cx="8046720" cy="603504"/>
          </a:xfrm>
          <a:prstGeom prst="rect">
            <a:avLst/>
          </a:prstGeom>
          <a:noFill/>
          <a:ln/>
        </p:spPr>
        <p:txBody>
          <a:bodyPr wrap="square" lIns="0" tIns="0" rIns="0" bIns="0" rtlCol="0" anchor="ctr"/>
          <a:lstStyle/>
          <a:p>
            <a:pPr indent="0" marL="0">
              <a:buNone/>
            </a:pPr>
            <a:r>
              <a:rPr lang="en-US" sz="1400" b="1" i="1" dirty="0">
                <a:solidFill>
                  <a:srgbClr val="1B1F24"/>
                </a:solidFill>
              </a:rPr>
              <a:t>Proctor: </a:t>
            </a:r>
            <a:pPr indent="0" marL="0">
              <a:buNone/>
            </a:pPr>
            <a:r>
              <a:rPr lang="en-US" sz="1400" i="1" dirty="0">
                <a:solidFill>
                  <a:srgbClr val="2B3440"/>
                </a:solidFill>
              </a:rPr>
              <a:t>The data is already there. Have your agent set the project up, prove it works, and show you what is in the database.</a:t>
            </a:r>
            <a:endParaRPr lang="en-US" sz="1400" dirty="0"/>
          </a:p>
        </p:txBody>
      </p:sp>
      <p:sp>
        <p:nvSpPr>
          <p:cNvPr id="5" name="terminal"/>
          <p:cNvSpPr/>
          <p:nvPr/>
        </p:nvSpPr>
        <p:spPr>
          <a:xfrm>
            <a:off x="457200" y="1737360"/>
            <a:ext cx="5212080" cy="2880360"/>
          </a:xfrm>
          <a:prstGeom prst="roundRect">
            <a:avLst>
              <a:gd name="adj" fmla="val 2540"/>
            </a:avLst>
          </a:prstGeom>
          <a:solidFill>
            <a:srgbClr val="1B1F24"/>
          </a:solidFill>
          <a:ln w="12700">
            <a:solidFill>
              <a:srgbClr val="1B1F24"/>
            </a:solidFill>
            <a:prstDash val="solid"/>
          </a:ln>
        </p:spPr>
      </p:sp>
      <p:sp>
        <p:nvSpPr>
          <p:cNvPr id="6" name="Shape 4"/>
          <p:cNvSpPr/>
          <p:nvPr/>
        </p:nvSpPr>
        <p:spPr>
          <a:xfrm>
            <a:off x="640080" y="1865376"/>
            <a:ext cx="109728" cy="109728"/>
          </a:xfrm>
          <a:prstGeom prst="ellipse">
            <a:avLst/>
          </a:prstGeom>
          <a:solidFill>
            <a:srgbClr val="E5484D"/>
          </a:solidFill>
          <a:ln w="12700">
            <a:solidFill>
              <a:srgbClr val="E5484D"/>
            </a:solidFill>
            <a:prstDash val="solid"/>
          </a:ln>
        </p:spPr>
      </p:sp>
      <p:sp>
        <p:nvSpPr>
          <p:cNvPr id="7" name="Shape 5"/>
          <p:cNvSpPr/>
          <p:nvPr/>
        </p:nvSpPr>
        <p:spPr>
          <a:xfrm>
            <a:off x="822960" y="1865376"/>
            <a:ext cx="109728" cy="109728"/>
          </a:xfrm>
          <a:prstGeom prst="ellipse">
            <a:avLst/>
          </a:prstGeom>
          <a:solidFill>
            <a:srgbClr val="E69A28"/>
          </a:solidFill>
          <a:ln w="12700">
            <a:solidFill>
              <a:srgbClr val="E69A28"/>
            </a:solidFill>
            <a:prstDash val="solid"/>
          </a:ln>
        </p:spPr>
      </p:sp>
      <p:sp>
        <p:nvSpPr>
          <p:cNvPr id="8" name="Shape 6"/>
          <p:cNvSpPr/>
          <p:nvPr/>
        </p:nvSpPr>
        <p:spPr>
          <a:xfrm>
            <a:off x="1005840" y="1865376"/>
            <a:ext cx="109728" cy="109728"/>
          </a:xfrm>
          <a:prstGeom prst="ellipse">
            <a:avLst/>
          </a:prstGeom>
          <a:solidFill>
            <a:srgbClr val="1FB68A"/>
          </a:solidFill>
          <a:ln w="12700">
            <a:solidFill>
              <a:srgbClr val="1FB68A"/>
            </a:solidFill>
            <a:prstDash val="solid"/>
          </a:ln>
        </p:spPr>
      </p:sp>
      <p:sp>
        <p:nvSpPr>
          <p:cNvPr id="9" name="Text 7"/>
          <p:cNvSpPr txBox="1"/>
          <p:nvPr/>
        </p:nvSpPr>
        <p:spPr>
          <a:xfrm>
            <a:off x="1280160" y="1792224"/>
            <a:ext cx="4206240" cy="256032"/>
          </a:xfrm>
          <a:prstGeom prst="rect">
            <a:avLst/>
          </a:prstGeom>
          <a:noFill/>
          <a:ln/>
        </p:spPr>
        <p:txBody>
          <a:bodyPr wrap="square" lIns="0" tIns="0" rIns="0" bIns="0" rtlCol="0" anchor="ctr"/>
          <a:lstStyle/>
          <a:p>
            <a:pPr algn="r" indent="0" marL="0">
              <a:buNone/>
            </a:pPr>
            <a:r>
              <a:rPr lang="en-US" sz="1000" dirty="0">
                <a:solidFill>
                  <a:srgbClr val="8B98A5"/>
                </a:solidFill>
                <a:latin typeface="Calibri" pitchFamily="34" charset="0"/>
                <a:ea typeface="Calibri" pitchFamily="34" charset="-122"/>
                <a:cs typeface="Calibri" pitchFamily="34" charset="-120"/>
              </a:rPr>
              <a:t>steps/01-set-up.md · give it to your agent</a:t>
            </a:r>
            <a:endParaRPr lang="en-US" sz="1000" dirty="0"/>
          </a:p>
        </p:txBody>
      </p:sp>
      <p:sp>
        <p:nvSpPr>
          <p:cNvPr id="10" name="terminal-text"/>
          <p:cNvSpPr txBox="1"/>
          <p:nvPr/>
        </p:nvSpPr>
        <p:spPr>
          <a:xfrm>
            <a:off x="685800" y="2121408"/>
            <a:ext cx="4754880" cy="237744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&gt; Read steps/01-set-up.md and do what it says.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8B98A5"/>
                </a:solidFill>
                <a:latin typeface="Courier New" pitchFamily="34" charset="0"/>
                <a:ea typeface="Courier New" pitchFamily="34" charset="-122"/>
                <a:cs typeface="Courier New" pitchFamily="34" charset="-120"/>
              </a:rPr>
              <a:t># steps/01-set-up.md says: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Set this project up on this machine: install it, and</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create your local .env by copying .env.example (on Windows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PowerShell: Copy-Item .env.example .env). Then prove it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works: counts, not "it works". Then show me what is in the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database. Then stop and wait for my next instruction.</a:t>
            </a:r>
            <a:endParaRPr lang="en-US" sz="1000" dirty="0"/>
          </a:p>
        </p:txBody>
      </p:sp>
      <p:sp>
        <p:nvSpPr>
          <p:cNvPr id="11" name="Text 9"/>
          <p:cNvSpPr txBox="1"/>
          <p:nvPr/>
        </p:nvSpPr>
        <p:spPr>
          <a:xfrm>
            <a:off x="5897880" y="1737360"/>
            <a:ext cx="2788920" cy="365760"/>
          </a:xfrm>
          <a:prstGeom prst="rect">
            <a:avLst/>
          </a:prstGeom>
          <a:noFill/>
          <a:ln/>
        </p:spPr>
        <p:txBody>
          <a:bodyPr wrap="square" lIns="0" tIns="0" rIns="0" bIns="0" rtlCol="0" anchor="ctr"/>
          <a:lstStyle/>
          <a:p>
            <a:pPr indent="0" marL="0">
              <a:buNone/>
            </a:pPr>
            <a:r>
              <a:rPr lang="en-US" sz="1600" b="1" dirty="0">
                <a:solidFill>
                  <a:srgbClr val="1B1F24"/>
                </a:solidFill>
              </a:rPr>
              <a:t>Watch its approach</a:t>
            </a:r>
            <a:endParaRPr lang="en-US" sz="1600" dirty="0"/>
          </a:p>
        </p:txBody>
      </p:sp>
      <p:sp>
        <p:nvSpPr>
          <p:cNvPr id="12" name="Shape 10"/>
          <p:cNvSpPr/>
          <p:nvPr/>
        </p:nvSpPr>
        <p:spPr>
          <a:xfrm>
            <a:off x="5897880" y="2231136"/>
            <a:ext cx="292608" cy="292608"/>
          </a:xfrm>
          <a:prstGeom prst="ellipse">
            <a:avLst/>
          </a:prstGeom>
          <a:solidFill>
            <a:srgbClr val="1FB68A"/>
          </a:solidFill>
          <a:ln w="12700">
            <a:solidFill>
              <a:srgbClr val="1FB68A"/>
            </a:solidFill>
            <a:prstDash val="solid"/>
          </a:ln>
        </p:spPr>
      </p:sp>
      <p:pic>
        <p:nvPicPr>
          <p:cNvPr id="13" name="Image 0" descr="preencoded.png">    </p:cNvPr>
          <p:cNvPicPr>
            <a:picLocks noChangeAspect="1"/>
          </p:cNvPicPr>
          <p:nvPr/>
        </p:nvPicPr>
        <p:blipFill>
          <a:blip r:embed="rId1"/>
          <a:stretch>
            <a:fillRect/>
          </a:stretch>
        </p:blipFill>
        <p:spPr>
          <a:xfrm>
            <a:off x="5962254" y="2295510"/>
            <a:ext cx="163860" cy="163860"/>
          </a:xfrm>
          <a:prstGeom prst="rect">
            <a:avLst/>
          </a:prstGeom>
        </p:spPr>
      </p:pic>
      <p:sp>
        <p:nvSpPr>
          <p:cNvPr id="14" name="Text 11"/>
          <p:cNvSpPr txBox="1"/>
          <p:nvPr/>
        </p:nvSpPr>
        <p:spPr>
          <a:xfrm>
            <a:off x="6309360" y="2194560"/>
            <a:ext cx="2377440" cy="566928"/>
          </a:xfrm>
          <a:prstGeom prst="rect">
            <a:avLst/>
          </a:prstGeom>
          <a:noFill/>
          <a:ln/>
        </p:spPr>
        <p:txBody>
          <a:bodyPr wrap="square" lIns="0" tIns="0" rIns="0" bIns="0" rtlCol="0" anchor="t"/>
          <a:lstStyle/>
          <a:p>
            <a:pPr indent="0" marL="0">
              <a:buNone/>
            </a:pPr>
            <a:r>
              <a:rPr lang="en-US" sz="1200" dirty="0">
                <a:solidFill>
                  <a:srgbClr val="1B1F24"/>
                </a:solidFill>
              </a:rPr>
              <a:t>reads CLAUDE.md before running anything</a:t>
            </a:r>
            <a:endParaRPr lang="en-US" sz="1200" dirty="0"/>
          </a:p>
        </p:txBody>
      </p:sp>
      <p:sp>
        <p:nvSpPr>
          <p:cNvPr id="15" name="Shape 12"/>
          <p:cNvSpPr/>
          <p:nvPr/>
        </p:nvSpPr>
        <p:spPr>
          <a:xfrm>
            <a:off x="5897880" y="2834640"/>
            <a:ext cx="292608" cy="292608"/>
          </a:xfrm>
          <a:prstGeom prst="ellipse">
            <a:avLst/>
          </a:prstGeom>
          <a:solidFill>
            <a:srgbClr val="1FB68A"/>
          </a:solidFill>
          <a:ln w="12700">
            <a:solidFill>
              <a:srgbClr val="1FB68A"/>
            </a:solidFill>
            <a:prstDash val="solid"/>
          </a:ln>
        </p:spPr>
      </p:sp>
      <p:pic>
        <p:nvPicPr>
          <p:cNvPr id="16" name="Image 1" descr="preencoded.png">    </p:cNvPr>
          <p:cNvPicPr>
            <a:picLocks noChangeAspect="1"/>
          </p:cNvPicPr>
          <p:nvPr/>
        </p:nvPicPr>
        <p:blipFill>
          <a:blip r:embed="rId2"/>
          <a:stretch>
            <a:fillRect/>
          </a:stretch>
        </p:blipFill>
        <p:spPr>
          <a:xfrm>
            <a:off x="5962254" y="2899014"/>
            <a:ext cx="163860" cy="163860"/>
          </a:xfrm>
          <a:prstGeom prst="rect">
            <a:avLst/>
          </a:prstGeom>
        </p:spPr>
      </p:pic>
      <p:sp>
        <p:nvSpPr>
          <p:cNvPr id="17" name="Text 13"/>
          <p:cNvSpPr txBox="1"/>
          <p:nvPr/>
        </p:nvSpPr>
        <p:spPr>
          <a:xfrm>
            <a:off x="6309360" y="2798064"/>
            <a:ext cx="2377440" cy="566928"/>
          </a:xfrm>
          <a:prstGeom prst="rect">
            <a:avLst/>
          </a:prstGeom>
          <a:noFill/>
          <a:ln/>
        </p:spPr>
        <p:txBody>
          <a:bodyPr wrap="square" lIns="0" tIns="0" rIns="0" bIns="0" rtlCol="0" anchor="t"/>
          <a:lstStyle/>
          <a:p>
            <a:pPr indent="0" marL="0">
              <a:buNone/>
            </a:pPr>
            <a:r>
              <a:rPr lang="en-US" sz="1200" dirty="0">
                <a:solidFill>
                  <a:srgbClr val="1B1F24"/>
                </a:solidFill>
              </a:rPr>
              <a:t>copies .env.example to .env (git ignores it)</a:t>
            </a:r>
            <a:endParaRPr lang="en-US" sz="1200" dirty="0"/>
          </a:p>
        </p:txBody>
      </p:sp>
      <p:sp>
        <p:nvSpPr>
          <p:cNvPr id="18" name="Shape 14"/>
          <p:cNvSpPr/>
          <p:nvPr/>
        </p:nvSpPr>
        <p:spPr>
          <a:xfrm>
            <a:off x="5897880" y="3438144"/>
            <a:ext cx="292608" cy="292608"/>
          </a:xfrm>
          <a:prstGeom prst="ellipse">
            <a:avLst/>
          </a:prstGeom>
          <a:solidFill>
            <a:srgbClr val="1FB68A"/>
          </a:solidFill>
          <a:ln w="12700">
            <a:solidFill>
              <a:srgbClr val="1FB68A"/>
            </a:solidFill>
            <a:prstDash val="solid"/>
          </a:ln>
        </p:spPr>
      </p:sp>
      <p:pic>
        <p:nvPicPr>
          <p:cNvPr id="19" name="Image 2" descr="preencoded.png">    </p:cNvPr>
          <p:cNvPicPr>
            <a:picLocks noChangeAspect="1"/>
          </p:cNvPicPr>
          <p:nvPr/>
        </p:nvPicPr>
        <p:blipFill>
          <a:blip r:embed="rId3"/>
          <a:stretch>
            <a:fillRect/>
          </a:stretch>
        </p:blipFill>
        <p:spPr>
          <a:xfrm>
            <a:off x="5962254" y="3502518"/>
            <a:ext cx="163860" cy="163860"/>
          </a:xfrm>
          <a:prstGeom prst="rect">
            <a:avLst/>
          </a:prstGeom>
        </p:spPr>
      </p:pic>
      <p:sp>
        <p:nvSpPr>
          <p:cNvPr id="20" name="Text 15"/>
          <p:cNvSpPr txBox="1"/>
          <p:nvPr/>
        </p:nvSpPr>
        <p:spPr>
          <a:xfrm>
            <a:off x="6309360" y="3401568"/>
            <a:ext cx="2377440" cy="566928"/>
          </a:xfrm>
          <a:prstGeom prst="rect">
            <a:avLst/>
          </a:prstGeom>
          <a:noFill/>
          <a:ln/>
        </p:spPr>
        <p:txBody>
          <a:bodyPr wrap="square" lIns="0" tIns="0" rIns="0" bIns="0" rtlCol="0" anchor="t"/>
          <a:lstStyle/>
          <a:p>
            <a:pPr indent="0" marL="0">
              <a:buNone/>
            </a:pPr>
            <a:r>
              <a:rPr lang="en-US" sz="1200" dirty="0">
                <a:solidFill>
                  <a:srgbClr val="1B1F24"/>
                </a:solidFill>
              </a:rPr>
              <a:t>counts: 21 unit, 5 e2e, a red lab 01</a:t>
            </a:r>
            <a:endParaRPr lang="en-US" sz="1200" dirty="0"/>
          </a:p>
        </p:txBody>
      </p:sp>
      <p:sp>
        <p:nvSpPr>
          <p:cNvPr id="21" name="Shape 16"/>
          <p:cNvSpPr/>
          <p:nvPr/>
        </p:nvSpPr>
        <p:spPr>
          <a:xfrm>
            <a:off x="5897880" y="4041648"/>
            <a:ext cx="292608" cy="292608"/>
          </a:xfrm>
          <a:prstGeom prst="ellipse">
            <a:avLst/>
          </a:prstGeom>
          <a:solidFill>
            <a:srgbClr val="1FB68A"/>
          </a:solidFill>
          <a:ln w="12700">
            <a:solidFill>
              <a:srgbClr val="1FB68A"/>
            </a:solidFill>
            <a:prstDash val="solid"/>
          </a:ln>
        </p:spPr>
      </p:sp>
      <p:pic>
        <p:nvPicPr>
          <p:cNvPr id="22" name="Image 3" descr="preencoded.png">    </p:cNvPr>
          <p:cNvPicPr>
            <a:picLocks noChangeAspect="1"/>
          </p:cNvPicPr>
          <p:nvPr/>
        </p:nvPicPr>
        <p:blipFill>
          <a:blip r:embed="rId4"/>
          <a:stretch>
            <a:fillRect/>
          </a:stretch>
        </p:blipFill>
        <p:spPr>
          <a:xfrm>
            <a:off x="5962254" y="4106022"/>
            <a:ext cx="163860" cy="163860"/>
          </a:xfrm>
          <a:prstGeom prst="rect">
            <a:avLst/>
          </a:prstGeom>
        </p:spPr>
      </p:pic>
      <p:sp>
        <p:nvSpPr>
          <p:cNvPr id="23" name="Text 17"/>
          <p:cNvSpPr txBox="1"/>
          <p:nvPr/>
        </p:nvSpPr>
        <p:spPr>
          <a:xfrm>
            <a:off x="6309360" y="4005072"/>
            <a:ext cx="2377440" cy="566928"/>
          </a:xfrm>
          <a:prstGeom prst="rect">
            <a:avLst/>
          </a:prstGeom>
          <a:noFill/>
          <a:ln/>
        </p:spPr>
        <p:txBody>
          <a:bodyPr wrap="square" lIns="0" tIns="0" rIns="0" bIns="0" rtlCol="0" anchor="t"/>
          <a:lstStyle/>
          <a:p>
            <a:pPr indent="0" marL="0">
              <a:buNone/>
            </a:pPr>
            <a:r>
              <a:rPr lang="en-US" sz="1200" dirty="0">
                <a:solidFill>
                  <a:srgbClr val="1B1F24"/>
                </a:solidFill>
              </a:rPr>
              <a:t>data: 25 users, 200 notes, 120 shares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1F24"/>
                </a:solidFill>
              </a:rPr>
              <a:t>Instruction 2/3: the users resource</a:t>
            </a:r>
            <a:endParaRPr lang="en-US" sz="3200" dirty="0"/>
          </a:p>
        </p:txBody>
      </p:sp>
      <p:sp>
        <p:nvSpPr>
          <p:cNvPr id="3" name="Shape 1"/>
          <p:cNvSpPr/>
          <p:nvPr/>
        </p:nvSpPr>
        <p:spPr>
          <a:xfrm>
            <a:off x="457200" y="1051560"/>
            <a:ext cx="73152" cy="548640"/>
          </a:xfrm>
          <a:prstGeom prst="rect">
            <a:avLst/>
          </a:prstGeom>
          <a:solidFill>
            <a:srgbClr val="1FB68A"/>
          </a:solidFill>
          <a:ln w="12700">
            <a:solidFill>
              <a:srgbClr val="1FB68A"/>
            </a:solidFill>
            <a:prstDash val="solid"/>
          </a:ln>
        </p:spPr>
      </p:sp>
      <p:sp>
        <p:nvSpPr>
          <p:cNvPr id="4" name="proctor"/>
          <p:cNvSpPr txBox="1"/>
          <p:nvPr/>
        </p:nvSpPr>
        <p:spPr>
          <a:xfrm>
            <a:off x="640080" y="1024128"/>
            <a:ext cx="8046720" cy="603504"/>
          </a:xfrm>
          <a:prstGeom prst="rect">
            <a:avLst/>
          </a:prstGeom>
          <a:noFill/>
          <a:ln/>
        </p:spPr>
        <p:txBody>
          <a:bodyPr wrap="square" lIns="0" tIns="0" rIns="0" bIns="0" rtlCol="0" anchor="ctr"/>
          <a:lstStyle/>
          <a:p>
            <a:pPr indent="0" marL="0">
              <a:buNone/>
            </a:pPr>
            <a:r>
              <a:rPr lang="en-US" sz="1400" b="1" i="1" dirty="0">
                <a:solidFill>
                  <a:srgbClr val="1B1F24"/>
                </a:solidFill>
              </a:rPr>
              <a:t>Proctor: </a:t>
            </a:r>
            <a:pPr indent="0" marL="0">
              <a:buNone/>
            </a:pPr>
            <a:r>
              <a:rPr lang="en-US" sz="1400" i="1" dirty="0">
                <a:solidFill>
                  <a:srgbClr val="2B3440"/>
                </a:solidFill>
              </a:rPr>
              <a:t>Do not tell your agent how. The repo says how resources are built; watch whether it finds that out.</a:t>
            </a:r>
            <a:endParaRPr lang="en-US" sz="1400" dirty="0"/>
          </a:p>
        </p:txBody>
      </p:sp>
      <p:sp>
        <p:nvSpPr>
          <p:cNvPr id="5" name="terminal"/>
          <p:cNvSpPr/>
          <p:nvPr/>
        </p:nvSpPr>
        <p:spPr>
          <a:xfrm>
            <a:off x="457200" y="1737360"/>
            <a:ext cx="5212080" cy="2880360"/>
          </a:xfrm>
          <a:prstGeom prst="roundRect">
            <a:avLst>
              <a:gd name="adj" fmla="val 2540"/>
            </a:avLst>
          </a:prstGeom>
          <a:solidFill>
            <a:srgbClr val="1B1F24"/>
          </a:solidFill>
          <a:ln w="12700">
            <a:solidFill>
              <a:srgbClr val="1B1F24"/>
            </a:solidFill>
            <a:prstDash val="solid"/>
          </a:ln>
        </p:spPr>
      </p:sp>
      <p:sp>
        <p:nvSpPr>
          <p:cNvPr id="6" name="Shape 4"/>
          <p:cNvSpPr/>
          <p:nvPr/>
        </p:nvSpPr>
        <p:spPr>
          <a:xfrm>
            <a:off x="640080" y="1865376"/>
            <a:ext cx="109728" cy="109728"/>
          </a:xfrm>
          <a:prstGeom prst="ellipse">
            <a:avLst/>
          </a:prstGeom>
          <a:solidFill>
            <a:srgbClr val="E5484D"/>
          </a:solidFill>
          <a:ln w="12700">
            <a:solidFill>
              <a:srgbClr val="E5484D"/>
            </a:solidFill>
            <a:prstDash val="solid"/>
          </a:ln>
        </p:spPr>
      </p:sp>
      <p:sp>
        <p:nvSpPr>
          <p:cNvPr id="7" name="Shape 5"/>
          <p:cNvSpPr/>
          <p:nvPr/>
        </p:nvSpPr>
        <p:spPr>
          <a:xfrm>
            <a:off x="822960" y="1865376"/>
            <a:ext cx="109728" cy="109728"/>
          </a:xfrm>
          <a:prstGeom prst="ellipse">
            <a:avLst/>
          </a:prstGeom>
          <a:solidFill>
            <a:srgbClr val="E69A28"/>
          </a:solidFill>
          <a:ln w="12700">
            <a:solidFill>
              <a:srgbClr val="E69A28"/>
            </a:solidFill>
            <a:prstDash val="solid"/>
          </a:ln>
        </p:spPr>
      </p:sp>
      <p:sp>
        <p:nvSpPr>
          <p:cNvPr id="8" name="Shape 6"/>
          <p:cNvSpPr/>
          <p:nvPr/>
        </p:nvSpPr>
        <p:spPr>
          <a:xfrm>
            <a:off x="1005840" y="1865376"/>
            <a:ext cx="109728" cy="109728"/>
          </a:xfrm>
          <a:prstGeom prst="ellipse">
            <a:avLst/>
          </a:prstGeom>
          <a:solidFill>
            <a:srgbClr val="1FB68A"/>
          </a:solidFill>
          <a:ln w="12700">
            <a:solidFill>
              <a:srgbClr val="1FB68A"/>
            </a:solidFill>
            <a:prstDash val="solid"/>
          </a:ln>
        </p:spPr>
      </p:sp>
      <p:sp>
        <p:nvSpPr>
          <p:cNvPr id="9" name="Text 7"/>
          <p:cNvSpPr txBox="1"/>
          <p:nvPr/>
        </p:nvSpPr>
        <p:spPr>
          <a:xfrm>
            <a:off x="1280160" y="1792224"/>
            <a:ext cx="4206240" cy="256032"/>
          </a:xfrm>
          <a:prstGeom prst="rect">
            <a:avLst/>
          </a:prstGeom>
          <a:noFill/>
          <a:ln/>
        </p:spPr>
        <p:txBody>
          <a:bodyPr wrap="square" lIns="0" tIns="0" rIns="0" bIns="0" rtlCol="0" anchor="ctr"/>
          <a:lstStyle/>
          <a:p>
            <a:pPr algn="r" indent="0" marL="0">
              <a:buNone/>
            </a:pPr>
            <a:r>
              <a:rPr lang="en-US" sz="1000" dirty="0">
                <a:solidFill>
                  <a:srgbClr val="8B98A5"/>
                </a:solidFill>
                <a:latin typeface="Calibri" pitchFamily="34" charset="0"/>
                <a:ea typeface="Calibri" pitchFamily="34" charset="-122"/>
                <a:cs typeface="Calibri" pitchFamily="34" charset="-120"/>
              </a:rPr>
              <a:t>steps/02-users.md · give it to your agent</a:t>
            </a:r>
            <a:endParaRPr lang="en-US" sz="1000" dirty="0"/>
          </a:p>
        </p:txBody>
      </p:sp>
      <p:sp>
        <p:nvSpPr>
          <p:cNvPr id="10" name="terminal-text"/>
          <p:cNvSpPr txBox="1"/>
          <p:nvPr/>
        </p:nvSpPr>
        <p:spPr>
          <a:xfrm>
            <a:off x="685800" y="2121408"/>
            <a:ext cx="4754880" cy="2377440"/>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&gt; Read steps/02-users.md and do what it says.</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8B98A5"/>
                </a:solidFill>
                <a:latin typeface="Courier New" pitchFamily="34" charset="0"/>
                <a:ea typeface="Courier New" pitchFamily="34" charset="-122"/>
                <a:cs typeface="Courier New" pitchFamily="34" charset="-120"/>
              </a:rPr>
              <a:t># steps/02-users.md says:</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Build the users resource on the provided users table: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specs/users.md. Done when npm run verify is green. Then</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stop and wait for my next instruction.</a:t>
            </a:r>
            <a:endParaRPr lang="en-US" sz="1100" dirty="0"/>
          </a:p>
        </p:txBody>
      </p:sp>
      <p:sp>
        <p:nvSpPr>
          <p:cNvPr id="11" name="Text 9"/>
          <p:cNvSpPr txBox="1"/>
          <p:nvPr/>
        </p:nvSpPr>
        <p:spPr>
          <a:xfrm>
            <a:off x="5897880" y="1737360"/>
            <a:ext cx="2788920" cy="365760"/>
          </a:xfrm>
          <a:prstGeom prst="rect">
            <a:avLst/>
          </a:prstGeom>
          <a:noFill/>
          <a:ln/>
        </p:spPr>
        <p:txBody>
          <a:bodyPr wrap="square" lIns="0" tIns="0" rIns="0" bIns="0" rtlCol="0" anchor="ctr"/>
          <a:lstStyle/>
          <a:p>
            <a:pPr indent="0" marL="0">
              <a:buNone/>
            </a:pPr>
            <a:r>
              <a:rPr lang="en-US" sz="1600" b="1" dirty="0">
                <a:solidFill>
                  <a:srgbClr val="1B1F24"/>
                </a:solidFill>
              </a:rPr>
              <a:t>Watch its approach</a:t>
            </a:r>
            <a:endParaRPr lang="en-US" sz="1600" dirty="0"/>
          </a:p>
        </p:txBody>
      </p:sp>
      <p:sp>
        <p:nvSpPr>
          <p:cNvPr id="12" name="Shape 10"/>
          <p:cNvSpPr/>
          <p:nvPr/>
        </p:nvSpPr>
        <p:spPr>
          <a:xfrm>
            <a:off x="5897880" y="2231136"/>
            <a:ext cx="292608" cy="292608"/>
          </a:xfrm>
          <a:prstGeom prst="ellipse">
            <a:avLst/>
          </a:prstGeom>
          <a:solidFill>
            <a:srgbClr val="1FB68A"/>
          </a:solidFill>
          <a:ln w="12700">
            <a:solidFill>
              <a:srgbClr val="1FB68A"/>
            </a:solidFill>
            <a:prstDash val="solid"/>
          </a:ln>
        </p:spPr>
      </p:sp>
      <p:pic>
        <p:nvPicPr>
          <p:cNvPr id="13" name="Image 0" descr="preencoded.png">    </p:cNvPr>
          <p:cNvPicPr>
            <a:picLocks noChangeAspect="1"/>
          </p:cNvPicPr>
          <p:nvPr/>
        </p:nvPicPr>
        <p:blipFill>
          <a:blip r:embed="rId1"/>
          <a:stretch>
            <a:fillRect/>
          </a:stretch>
        </p:blipFill>
        <p:spPr>
          <a:xfrm>
            <a:off x="5962254" y="2295510"/>
            <a:ext cx="163860" cy="163860"/>
          </a:xfrm>
          <a:prstGeom prst="rect">
            <a:avLst/>
          </a:prstGeom>
        </p:spPr>
      </p:pic>
      <p:sp>
        <p:nvSpPr>
          <p:cNvPr id="14" name="Text 11"/>
          <p:cNvSpPr txBox="1"/>
          <p:nvPr/>
        </p:nvSpPr>
        <p:spPr>
          <a:xfrm>
            <a:off x="6309360" y="2194560"/>
            <a:ext cx="2377440" cy="566928"/>
          </a:xfrm>
          <a:prstGeom prst="rect">
            <a:avLst/>
          </a:prstGeom>
          <a:noFill/>
          <a:ln/>
        </p:spPr>
        <p:txBody>
          <a:bodyPr wrap="square" lIns="0" tIns="0" rIns="0" bIns="0" rtlCol="0" anchor="t"/>
          <a:lstStyle/>
          <a:p>
            <a:pPr indent="0" marL="0">
              <a:buNone/>
            </a:pPr>
            <a:r>
              <a:rPr lang="en-US" sz="1200" dirty="0">
                <a:solidFill>
                  <a:srgbClr val="1B1F24"/>
                </a:solidFill>
              </a:rPr>
              <a:t>finds the steps: generate, template, fill</a:t>
            </a:r>
            <a:endParaRPr lang="en-US" sz="1200" dirty="0"/>
          </a:p>
        </p:txBody>
      </p:sp>
      <p:sp>
        <p:nvSpPr>
          <p:cNvPr id="15" name="Shape 12"/>
          <p:cNvSpPr/>
          <p:nvPr/>
        </p:nvSpPr>
        <p:spPr>
          <a:xfrm>
            <a:off x="5897880" y="2834640"/>
            <a:ext cx="292608" cy="292608"/>
          </a:xfrm>
          <a:prstGeom prst="ellipse">
            <a:avLst/>
          </a:prstGeom>
          <a:solidFill>
            <a:srgbClr val="1FB68A"/>
          </a:solidFill>
          <a:ln w="12700">
            <a:solidFill>
              <a:srgbClr val="1FB68A"/>
            </a:solidFill>
            <a:prstDash val="solid"/>
          </a:ln>
        </p:spPr>
      </p:sp>
      <p:pic>
        <p:nvPicPr>
          <p:cNvPr id="16" name="Image 1" descr="preencoded.png">    </p:cNvPr>
          <p:cNvPicPr>
            <a:picLocks noChangeAspect="1"/>
          </p:cNvPicPr>
          <p:nvPr/>
        </p:nvPicPr>
        <p:blipFill>
          <a:blip r:embed="rId2"/>
          <a:stretch>
            <a:fillRect/>
          </a:stretch>
        </p:blipFill>
        <p:spPr>
          <a:xfrm>
            <a:off x="5962254" y="2899014"/>
            <a:ext cx="163860" cy="163860"/>
          </a:xfrm>
          <a:prstGeom prst="rect">
            <a:avLst/>
          </a:prstGeom>
        </p:spPr>
      </p:pic>
      <p:sp>
        <p:nvSpPr>
          <p:cNvPr id="17" name="Text 13"/>
          <p:cNvSpPr txBox="1"/>
          <p:nvPr/>
        </p:nvSpPr>
        <p:spPr>
          <a:xfrm>
            <a:off x="6309360" y="2798064"/>
            <a:ext cx="2377440" cy="566928"/>
          </a:xfrm>
          <a:prstGeom prst="rect">
            <a:avLst/>
          </a:prstGeom>
          <a:noFill/>
          <a:ln/>
        </p:spPr>
        <p:txBody>
          <a:bodyPr wrap="square" lIns="0" tIns="0" rIns="0" bIns="0" rtlCol="0" anchor="t"/>
          <a:lstStyle/>
          <a:p>
            <a:pPr indent="0" marL="0">
              <a:buNone/>
            </a:pPr>
            <a:r>
              <a:rPr lang="en-US" sz="1200" dirty="0">
                <a:solidFill>
                  <a:srgbClr val="1B1F24"/>
                </a:solidFill>
              </a:rPr>
              <a:t>keeps the provided table, 14 markers</a:t>
            </a:r>
            <a:endParaRPr lang="en-US" sz="1200" dirty="0"/>
          </a:p>
        </p:txBody>
      </p:sp>
      <p:sp>
        <p:nvSpPr>
          <p:cNvPr id="18" name="Shape 14"/>
          <p:cNvSpPr/>
          <p:nvPr/>
        </p:nvSpPr>
        <p:spPr>
          <a:xfrm>
            <a:off x="5897880" y="3438144"/>
            <a:ext cx="292608" cy="292608"/>
          </a:xfrm>
          <a:prstGeom prst="ellipse">
            <a:avLst/>
          </a:prstGeom>
          <a:solidFill>
            <a:srgbClr val="1FB68A"/>
          </a:solidFill>
          <a:ln w="12700">
            <a:solidFill>
              <a:srgbClr val="1FB68A"/>
            </a:solidFill>
            <a:prstDash val="solid"/>
          </a:ln>
        </p:spPr>
      </p:sp>
      <p:pic>
        <p:nvPicPr>
          <p:cNvPr id="19" name="Image 2" descr="preencoded.png">    </p:cNvPr>
          <p:cNvPicPr>
            <a:picLocks noChangeAspect="1"/>
          </p:cNvPicPr>
          <p:nvPr/>
        </p:nvPicPr>
        <p:blipFill>
          <a:blip r:embed="rId3"/>
          <a:stretch>
            <a:fillRect/>
          </a:stretch>
        </p:blipFill>
        <p:spPr>
          <a:xfrm>
            <a:off x="5962254" y="3502518"/>
            <a:ext cx="163860" cy="163860"/>
          </a:xfrm>
          <a:prstGeom prst="rect">
            <a:avLst/>
          </a:prstGeom>
        </p:spPr>
      </p:pic>
      <p:sp>
        <p:nvSpPr>
          <p:cNvPr id="20" name="Text 15"/>
          <p:cNvSpPr txBox="1"/>
          <p:nvPr/>
        </p:nvSpPr>
        <p:spPr>
          <a:xfrm>
            <a:off x="6309360" y="3401568"/>
            <a:ext cx="2377440" cy="566928"/>
          </a:xfrm>
          <a:prstGeom prst="rect">
            <a:avLst/>
          </a:prstGeom>
          <a:noFill/>
          <a:ln/>
        </p:spPr>
        <p:txBody>
          <a:bodyPr wrap="square" lIns="0" tIns="0" rIns="0" bIns="0" rtlCol="0" anchor="t"/>
          <a:lstStyle/>
          <a:p>
            <a:pPr indent="0" marL="0">
              <a:buNone/>
            </a:pPr>
            <a:r>
              <a:rPr lang="en-US" sz="1200" dirty="0">
                <a:solidFill>
                  <a:srgbClr val="1B1F24"/>
                </a:solidFill>
              </a:rPr>
              <a:t>no migration for a provided table</a:t>
            </a:r>
            <a:endParaRPr lang="en-US" sz="1200" dirty="0"/>
          </a:p>
        </p:txBody>
      </p:sp>
      <p:sp>
        <p:nvSpPr>
          <p:cNvPr id="21" name="Shape 16"/>
          <p:cNvSpPr/>
          <p:nvPr/>
        </p:nvSpPr>
        <p:spPr>
          <a:xfrm>
            <a:off x="5897880" y="4041648"/>
            <a:ext cx="292608" cy="292608"/>
          </a:xfrm>
          <a:prstGeom prst="ellipse">
            <a:avLst/>
          </a:prstGeom>
          <a:solidFill>
            <a:srgbClr val="1FB68A"/>
          </a:solidFill>
          <a:ln w="12700">
            <a:solidFill>
              <a:srgbClr val="1FB68A"/>
            </a:solidFill>
            <a:prstDash val="solid"/>
          </a:ln>
        </p:spPr>
      </p:sp>
      <p:pic>
        <p:nvPicPr>
          <p:cNvPr id="22" name="Image 3" descr="preencoded.png">    </p:cNvPr>
          <p:cNvPicPr>
            <a:picLocks noChangeAspect="1"/>
          </p:cNvPicPr>
          <p:nvPr/>
        </p:nvPicPr>
        <p:blipFill>
          <a:blip r:embed="rId4"/>
          <a:stretch>
            <a:fillRect/>
          </a:stretch>
        </p:blipFill>
        <p:spPr>
          <a:xfrm>
            <a:off x="5962254" y="4106022"/>
            <a:ext cx="163860" cy="163860"/>
          </a:xfrm>
          <a:prstGeom prst="rect">
            <a:avLst/>
          </a:prstGeom>
        </p:spPr>
      </p:pic>
      <p:sp>
        <p:nvSpPr>
          <p:cNvPr id="23" name="Text 17"/>
          <p:cNvSpPr txBox="1"/>
          <p:nvPr/>
        </p:nvSpPr>
        <p:spPr>
          <a:xfrm>
            <a:off x="6309360" y="4005072"/>
            <a:ext cx="2377440" cy="566928"/>
          </a:xfrm>
          <a:prstGeom prst="rect">
            <a:avLst/>
          </a:prstGeom>
          <a:noFill/>
          <a:ln/>
        </p:spPr>
        <p:txBody>
          <a:bodyPr wrap="square" lIns="0" tIns="0" rIns="0" bIns="0" rtlCol="0" anchor="t"/>
          <a:lstStyle/>
          <a:p>
            <a:pPr indent="0" marL="0">
              <a:buNone/>
            </a:pPr>
            <a:r>
              <a:rPr lang="en-US" sz="1200" dirty="0">
                <a:solidFill>
                  <a:srgbClr val="1B1F24"/>
                </a:solidFill>
              </a:rPr>
              <a:t>409s left to the database, not re-coded</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1F24"/>
                </a:solidFill>
              </a:rPr>
              <a:t>Instruction 3/3: notes, with sharing</a:t>
            </a:r>
            <a:endParaRPr lang="en-US" sz="3200" dirty="0"/>
          </a:p>
        </p:txBody>
      </p:sp>
      <p:sp>
        <p:nvSpPr>
          <p:cNvPr id="3" name="Shape 1"/>
          <p:cNvSpPr/>
          <p:nvPr/>
        </p:nvSpPr>
        <p:spPr>
          <a:xfrm>
            <a:off x="457200" y="1051560"/>
            <a:ext cx="73152" cy="548640"/>
          </a:xfrm>
          <a:prstGeom prst="rect">
            <a:avLst/>
          </a:prstGeom>
          <a:solidFill>
            <a:srgbClr val="1FB68A"/>
          </a:solidFill>
          <a:ln w="12700">
            <a:solidFill>
              <a:srgbClr val="1FB68A"/>
            </a:solidFill>
            <a:prstDash val="solid"/>
          </a:ln>
        </p:spPr>
      </p:sp>
      <p:sp>
        <p:nvSpPr>
          <p:cNvPr id="4" name="proctor"/>
          <p:cNvSpPr txBox="1"/>
          <p:nvPr/>
        </p:nvSpPr>
        <p:spPr>
          <a:xfrm>
            <a:off x="640080" y="1024128"/>
            <a:ext cx="8046720" cy="603504"/>
          </a:xfrm>
          <a:prstGeom prst="rect">
            <a:avLst/>
          </a:prstGeom>
          <a:noFill/>
          <a:ln/>
        </p:spPr>
        <p:txBody>
          <a:bodyPr wrap="square" lIns="0" tIns="0" rIns="0" bIns="0" rtlCol="0" anchor="ctr"/>
          <a:lstStyle/>
          <a:p>
            <a:pPr indent="0" marL="0">
              <a:buNone/>
            </a:pPr>
            <a:r>
              <a:rPr lang="en-US" sz="1400" b="1" i="1" dirty="0">
                <a:solidFill>
                  <a:srgbClr val="1B1F24"/>
                </a:solidFill>
              </a:rPr>
              <a:t>Proctor: </a:t>
            </a:r>
            <a:pPr indent="0" marL="0">
              <a:buNone/>
            </a:pPr>
            <a:r>
              <a:rPr lang="en-US" sz="1400" i="1" dirty="0">
                <a:solidFill>
                  <a:srgbClr val="2B3440"/>
                </a:solidFill>
              </a:rPr>
              <a:t>A user owns many notes; a note can be shared with many users. The rules decide where each piece goes.</a:t>
            </a:r>
            <a:endParaRPr lang="en-US" sz="1400" dirty="0"/>
          </a:p>
        </p:txBody>
      </p:sp>
      <p:sp>
        <p:nvSpPr>
          <p:cNvPr id="5" name="terminal"/>
          <p:cNvSpPr/>
          <p:nvPr/>
        </p:nvSpPr>
        <p:spPr>
          <a:xfrm>
            <a:off x="457200" y="1737360"/>
            <a:ext cx="5212080" cy="2880360"/>
          </a:xfrm>
          <a:prstGeom prst="roundRect">
            <a:avLst>
              <a:gd name="adj" fmla="val 2540"/>
            </a:avLst>
          </a:prstGeom>
          <a:solidFill>
            <a:srgbClr val="1B1F24"/>
          </a:solidFill>
          <a:ln w="12700">
            <a:solidFill>
              <a:srgbClr val="1B1F24"/>
            </a:solidFill>
            <a:prstDash val="solid"/>
          </a:ln>
        </p:spPr>
      </p:sp>
      <p:sp>
        <p:nvSpPr>
          <p:cNvPr id="6" name="Shape 4"/>
          <p:cNvSpPr/>
          <p:nvPr/>
        </p:nvSpPr>
        <p:spPr>
          <a:xfrm>
            <a:off x="640080" y="1865376"/>
            <a:ext cx="109728" cy="109728"/>
          </a:xfrm>
          <a:prstGeom prst="ellipse">
            <a:avLst/>
          </a:prstGeom>
          <a:solidFill>
            <a:srgbClr val="E5484D"/>
          </a:solidFill>
          <a:ln w="12700">
            <a:solidFill>
              <a:srgbClr val="E5484D"/>
            </a:solidFill>
            <a:prstDash val="solid"/>
          </a:ln>
        </p:spPr>
      </p:sp>
      <p:sp>
        <p:nvSpPr>
          <p:cNvPr id="7" name="Shape 5"/>
          <p:cNvSpPr/>
          <p:nvPr/>
        </p:nvSpPr>
        <p:spPr>
          <a:xfrm>
            <a:off x="822960" y="1865376"/>
            <a:ext cx="109728" cy="109728"/>
          </a:xfrm>
          <a:prstGeom prst="ellipse">
            <a:avLst/>
          </a:prstGeom>
          <a:solidFill>
            <a:srgbClr val="E69A28"/>
          </a:solidFill>
          <a:ln w="12700">
            <a:solidFill>
              <a:srgbClr val="E69A28"/>
            </a:solidFill>
            <a:prstDash val="solid"/>
          </a:ln>
        </p:spPr>
      </p:sp>
      <p:sp>
        <p:nvSpPr>
          <p:cNvPr id="8" name="Shape 6"/>
          <p:cNvSpPr/>
          <p:nvPr/>
        </p:nvSpPr>
        <p:spPr>
          <a:xfrm>
            <a:off x="1005840" y="1865376"/>
            <a:ext cx="109728" cy="109728"/>
          </a:xfrm>
          <a:prstGeom prst="ellipse">
            <a:avLst/>
          </a:prstGeom>
          <a:solidFill>
            <a:srgbClr val="1FB68A"/>
          </a:solidFill>
          <a:ln w="12700">
            <a:solidFill>
              <a:srgbClr val="1FB68A"/>
            </a:solidFill>
            <a:prstDash val="solid"/>
          </a:ln>
        </p:spPr>
      </p:sp>
      <p:sp>
        <p:nvSpPr>
          <p:cNvPr id="9" name="Text 7"/>
          <p:cNvSpPr txBox="1"/>
          <p:nvPr/>
        </p:nvSpPr>
        <p:spPr>
          <a:xfrm>
            <a:off x="1280160" y="1792224"/>
            <a:ext cx="4206240" cy="256032"/>
          </a:xfrm>
          <a:prstGeom prst="rect">
            <a:avLst/>
          </a:prstGeom>
          <a:noFill/>
          <a:ln/>
        </p:spPr>
        <p:txBody>
          <a:bodyPr wrap="square" lIns="0" tIns="0" rIns="0" bIns="0" rtlCol="0" anchor="ctr"/>
          <a:lstStyle/>
          <a:p>
            <a:pPr algn="r" indent="0" marL="0">
              <a:buNone/>
            </a:pPr>
            <a:r>
              <a:rPr lang="en-US" sz="1000" dirty="0">
                <a:solidFill>
                  <a:srgbClr val="8B98A5"/>
                </a:solidFill>
                <a:latin typeface="Calibri" pitchFamily="34" charset="0"/>
                <a:ea typeface="Calibri" pitchFamily="34" charset="-122"/>
                <a:cs typeface="Calibri" pitchFamily="34" charset="-120"/>
              </a:rPr>
              <a:t>steps/03-notes.md · give it to your agent</a:t>
            </a:r>
            <a:endParaRPr lang="en-US" sz="1000" dirty="0"/>
          </a:p>
        </p:txBody>
      </p:sp>
      <p:sp>
        <p:nvSpPr>
          <p:cNvPr id="10" name="terminal-text"/>
          <p:cNvSpPr txBox="1"/>
          <p:nvPr/>
        </p:nvSpPr>
        <p:spPr>
          <a:xfrm>
            <a:off x="685800" y="2121408"/>
            <a:ext cx="4754880" cy="237744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&gt; Read steps/03-notes.md and do what it says.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8B98A5"/>
                </a:solidFill>
                <a:latin typeface="Courier New" pitchFamily="34" charset="0"/>
                <a:ea typeface="Courier New" pitchFamily="34" charset="-122"/>
                <a:cs typeface="Courier New" pitchFamily="34" charset="-120"/>
              </a:rPr>
              <a:t># steps/03-notes.md says: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Now the notes resource, with sharing: specs/notes.md. Done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when npm run lab 01 and npm run verify are green. Then</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stop and wait for my next instruction.</a:t>
            </a:r>
            <a:endParaRPr lang="en-US" sz="1000" dirty="0"/>
          </a:p>
        </p:txBody>
      </p:sp>
      <p:sp>
        <p:nvSpPr>
          <p:cNvPr id="11" name="Text 9"/>
          <p:cNvSpPr txBox="1"/>
          <p:nvPr/>
        </p:nvSpPr>
        <p:spPr>
          <a:xfrm>
            <a:off x="5897880" y="1737360"/>
            <a:ext cx="2788920" cy="365760"/>
          </a:xfrm>
          <a:prstGeom prst="rect">
            <a:avLst/>
          </a:prstGeom>
          <a:noFill/>
          <a:ln/>
        </p:spPr>
        <p:txBody>
          <a:bodyPr wrap="square" lIns="0" tIns="0" rIns="0" bIns="0" rtlCol="0" anchor="ctr"/>
          <a:lstStyle/>
          <a:p>
            <a:pPr indent="0" marL="0">
              <a:buNone/>
            </a:pPr>
            <a:r>
              <a:rPr lang="en-US" sz="1600" b="1" dirty="0">
                <a:solidFill>
                  <a:srgbClr val="1B1F24"/>
                </a:solidFill>
              </a:rPr>
              <a:t>Watch its approach</a:t>
            </a:r>
            <a:endParaRPr lang="en-US" sz="1600" dirty="0"/>
          </a:p>
        </p:txBody>
      </p:sp>
      <p:sp>
        <p:nvSpPr>
          <p:cNvPr id="12" name="Shape 10"/>
          <p:cNvSpPr/>
          <p:nvPr/>
        </p:nvSpPr>
        <p:spPr>
          <a:xfrm>
            <a:off x="5897880" y="2231136"/>
            <a:ext cx="292608" cy="292608"/>
          </a:xfrm>
          <a:prstGeom prst="ellipse">
            <a:avLst/>
          </a:prstGeom>
          <a:solidFill>
            <a:srgbClr val="1FB68A"/>
          </a:solidFill>
          <a:ln w="12700">
            <a:solidFill>
              <a:srgbClr val="1FB68A"/>
            </a:solidFill>
            <a:prstDash val="solid"/>
          </a:ln>
        </p:spPr>
      </p:sp>
      <p:pic>
        <p:nvPicPr>
          <p:cNvPr id="13" name="Image 0" descr="preencoded.png">    </p:cNvPr>
          <p:cNvPicPr>
            <a:picLocks noChangeAspect="1"/>
          </p:cNvPicPr>
          <p:nvPr/>
        </p:nvPicPr>
        <p:blipFill>
          <a:blip r:embed="rId1"/>
          <a:stretch>
            <a:fillRect/>
          </a:stretch>
        </p:blipFill>
        <p:spPr>
          <a:xfrm>
            <a:off x="5962254" y="2295510"/>
            <a:ext cx="163860" cy="163860"/>
          </a:xfrm>
          <a:prstGeom prst="rect">
            <a:avLst/>
          </a:prstGeom>
        </p:spPr>
      </p:pic>
      <p:sp>
        <p:nvSpPr>
          <p:cNvPr id="14" name="Text 11"/>
          <p:cNvSpPr txBox="1"/>
          <p:nvPr/>
        </p:nvSpPr>
        <p:spPr>
          <a:xfrm>
            <a:off x="6309360" y="2194560"/>
            <a:ext cx="2377440" cy="566928"/>
          </a:xfrm>
          <a:prstGeom prst="rect">
            <a:avLst/>
          </a:prstGeom>
          <a:noFill/>
          <a:ln/>
        </p:spPr>
        <p:txBody>
          <a:bodyPr wrap="square" lIns="0" tIns="0" rIns="0" bIns="0" rtlCol="0" anchor="t"/>
          <a:lstStyle/>
          <a:p>
            <a:pPr indent="0" marL="0">
              <a:buNone/>
            </a:pPr>
            <a:r>
              <a:rPr lang="en-US" sz="1200" dirty="0">
                <a:solidFill>
                  <a:srgbClr val="1B1F24"/>
                </a:solidFill>
              </a:rPr>
              <a:t>stored-state rules in the service (422)</a:t>
            </a:r>
            <a:endParaRPr lang="en-US" sz="1200" dirty="0"/>
          </a:p>
        </p:txBody>
      </p:sp>
      <p:sp>
        <p:nvSpPr>
          <p:cNvPr id="15" name="Shape 12"/>
          <p:cNvSpPr/>
          <p:nvPr/>
        </p:nvSpPr>
        <p:spPr>
          <a:xfrm>
            <a:off x="5897880" y="2834640"/>
            <a:ext cx="292608" cy="292608"/>
          </a:xfrm>
          <a:prstGeom prst="ellipse">
            <a:avLst/>
          </a:prstGeom>
          <a:solidFill>
            <a:srgbClr val="1FB68A"/>
          </a:solidFill>
          <a:ln w="12700">
            <a:solidFill>
              <a:srgbClr val="1FB68A"/>
            </a:solidFill>
            <a:prstDash val="solid"/>
          </a:ln>
        </p:spPr>
      </p:sp>
      <p:pic>
        <p:nvPicPr>
          <p:cNvPr id="16" name="Image 1" descr="preencoded.png">    </p:cNvPr>
          <p:cNvPicPr>
            <a:picLocks noChangeAspect="1"/>
          </p:cNvPicPr>
          <p:nvPr/>
        </p:nvPicPr>
        <p:blipFill>
          <a:blip r:embed="rId2"/>
          <a:stretch>
            <a:fillRect/>
          </a:stretch>
        </p:blipFill>
        <p:spPr>
          <a:xfrm>
            <a:off x="5962254" y="2899014"/>
            <a:ext cx="163860" cy="163860"/>
          </a:xfrm>
          <a:prstGeom prst="rect">
            <a:avLst/>
          </a:prstGeom>
        </p:spPr>
      </p:pic>
      <p:sp>
        <p:nvSpPr>
          <p:cNvPr id="17" name="Text 13"/>
          <p:cNvSpPr txBox="1"/>
          <p:nvPr/>
        </p:nvSpPr>
        <p:spPr>
          <a:xfrm>
            <a:off x="6309360" y="2798064"/>
            <a:ext cx="2377440" cy="566928"/>
          </a:xfrm>
          <a:prstGeom prst="rect">
            <a:avLst/>
          </a:prstGeom>
          <a:noFill/>
          <a:ln/>
        </p:spPr>
        <p:txBody>
          <a:bodyPr wrap="square" lIns="0" tIns="0" rIns="0" bIns="0" rtlCol="0" anchor="t"/>
          <a:lstStyle/>
          <a:p>
            <a:pPr indent="0" marL="0">
              <a:buNone/>
            </a:pPr>
            <a:r>
              <a:rPr lang="en-US" sz="1200" dirty="0">
                <a:solidFill>
                  <a:srgbClr val="1B1F24"/>
                </a:solidFill>
              </a:rPr>
              <a:t>filters and /shares routes, with e2e tests</a:t>
            </a:r>
            <a:endParaRPr lang="en-US" sz="1200" dirty="0"/>
          </a:p>
        </p:txBody>
      </p:sp>
      <p:sp>
        <p:nvSpPr>
          <p:cNvPr id="18" name="Shape 14"/>
          <p:cNvSpPr/>
          <p:nvPr/>
        </p:nvSpPr>
        <p:spPr>
          <a:xfrm>
            <a:off x="5897880" y="3438144"/>
            <a:ext cx="292608" cy="292608"/>
          </a:xfrm>
          <a:prstGeom prst="ellipse">
            <a:avLst/>
          </a:prstGeom>
          <a:solidFill>
            <a:srgbClr val="1FB68A"/>
          </a:solidFill>
          <a:ln w="12700">
            <a:solidFill>
              <a:srgbClr val="1FB68A"/>
            </a:solidFill>
            <a:prstDash val="solid"/>
          </a:ln>
        </p:spPr>
      </p:sp>
      <p:pic>
        <p:nvPicPr>
          <p:cNvPr id="19" name="Image 2" descr="preencoded.png">    </p:cNvPr>
          <p:cNvPicPr>
            <a:picLocks noChangeAspect="1"/>
          </p:cNvPicPr>
          <p:nvPr/>
        </p:nvPicPr>
        <p:blipFill>
          <a:blip r:embed="rId3"/>
          <a:stretch>
            <a:fillRect/>
          </a:stretch>
        </p:blipFill>
        <p:spPr>
          <a:xfrm>
            <a:off x="5962254" y="3502518"/>
            <a:ext cx="163860" cy="163860"/>
          </a:xfrm>
          <a:prstGeom prst="rect">
            <a:avLst/>
          </a:prstGeom>
        </p:spPr>
      </p:pic>
      <p:sp>
        <p:nvSpPr>
          <p:cNvPr id="20" name="Text 15"/>
          <p:cNvSpPr txBox="1"/>
          <p:nvPr/>
        </p:nvSpPr>
        <p:spPr>
          <a:xfrm>
            <a:off x="6309360" y="3401568"/>
            <a:ext cx="2377440" cy="566928"/>
          </a:xfrm>
          <a:prstGeom prst="rect">
            <a:avLst/>
          </a:prstGeom>
          <a:noFill/>
          <a:ln/>
        </p:spPr>
        <p:txBody>
          <a:bodyPr wrap="square" lIns="0" tIns="0" rIns="0" bIns="0" rtlCol="0" anchor="t"/>
          <a:lstStyle/>
          <a:p>
            <a:pPr indent="0" marL="0">
              <a:buNone/>
            </a:pPr>
            <a:r>
              <a:rPr lang="en-US" sz="1200" dirty="0">
                <a:solidFill>
                  <a:srgbClr val="1B1F24"/>
                </a:solidFill>
              </a:rPr>
              <a:t>a bad dueAt is 400, not 500</a:t>
            </a:r>
            <a:endParaRPr lang="en-US" sz="1200" dirty="0"/>
          </a:p>
        </p:txBody>
      </p:sp>
      <p:sp>
        <p:nvSpPr>
          <p:cNvPr id="21" name="Shape 16"/>
          <p:cNvSpPr/>
          <p:nvPr/>
        </p:nvSpPr>
        <p:spPr>
          <a:xfrm>
            <a:off x="5897880" y="4041648"/>
            <a:ext cx="292608" cy="292608"/>
          </a:xfrm>
          <a:prstGeom prst="ellipse">
            <a:avLst/>
          </a:prstGeom>
          <a:solidFill>
            <a:srgbClr val="1FB68A"/>
          </a:solidFill>
          <a:ln w="12700">
            <a:solidFill>
              <a:srgbClr val="1FB68A"/>
            </a:solidFill>
            <a:prstDash val="solid"/>
          </a:ln>
        </p:spPr>
      </p:sp>
      <p:pic>
        <p:nvPicPr>
          <p:cNvPr id="22" name="Image 3" descr="preencoded.png">    </p:cNvPr>
          <p:cNvPicPr>
            <a:picLocks noChangeAspect="1"/>
          </p:cNvPicPr>
          <p:nvPr/>
        </p:nvPicPr>
        <p:blipFill>
          <a:blip r:embed="rId4"/>
          <a:stretch>
            <a:fillRect/>
          </a:stretch>
        </p:blipFill>
        <p:spPr>
          <a:xfrm>
            <a:off x="5962254" y="4106022"/>
            <a:ext cx="163860" cy="163860"/>
          </a:xfrm>
          <a:prstGeom prst="rect">
            <a:avLst/>
          </a:prstGeom>
        </p:spPr>
      </p:pic>
      <p:sp>
        <p:nvSpPr>
          <p:cNvPr id="23" name="Text 17"/>
          <p:cNvSpPr txBox="1"/>
          <p:nvPr/>
        </p:nvSpPr>
        <p:spPr>
          <a:xfrm>
            <a:off x="6309360" y="4005072"/>
            <a:ext cx="2377440" cy="566928"/>
          </a:xfrm>
          <a:prstGeom prst="rect">
            <a:avLst/>
          </a:prstGeom>
          <a:noFill/>
          <a:ln/>
        </p:spPr>
        <p:txBody>
          <a:bodyPr wrap="square" lIns="0" tIns="0" rIns="0" bIns="0" rtlCol="0" anchor="t"/>
          <a:lstStyle/>
          <a:p>
            <a:pPr indent="0" marL="0">
              <a:buNone/>
            </a:pPr>
            <a:r>
              <a:rPr lang="en-US" sz="1200" dirty="0">
                <a:solidFill>
                  <a:srgbClr val="1B1F24"/>
                </a:solidFill>
              </a:rPr>
              <a:t>every rule broken once to see red</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1F24"/>
                </a:solidFill>
              </a:rPr>
              <a:t>Check it: module 1</a:t>
            </a:r>
            <a:endParaRPr lang="en-US" sz="3200" dirty="0"/>
          </a:p>
        </p:txBody>
      </p:sp>
      <p:sp>
        <p:nvSpPr>
          <p:cNvPr id="3" name="terminal"/>
          <p:cNvSpPr/>
          <p:nvPr/>
        </p:nvSpPr>
        <p:spPr>
          <a:xfrm>
            <a:off x="457200" y="1097280"/>
            <a:ext cx="5212080" cy="3520440"/>
          </a:xfrm>
          <a:prstGeom prst="roundRect">
            <a:avLst>
              <a:gd name="adj" fmla="val 2078"/>
            </a:avLst>
          </a:prstGeom>
          <a:solidFill>
            <a:srgbClr val="1B1F24"/>
          </a:solidFill>
          <a:ln w="12700">
            <a:solidFill>
              <a:srgbClr val="1B1F24"/>
            </a:solidFill>
            <a:prstDash val="solid"/>
          </a:ln>
        </p:spPr>
      </p:sp>
      <p:sp>
        <p:nvSpPr>
          <p:cNvPr id="4" name="Shape 2"/>
          <p:cNvSpPr/>
          <p:nvPr/>
        </p:nvSpPr>
        <p:spPr>
          <a:xfrm>
            <a:off x="640080" y="1225296"/>
            <a:ext cx="109728" cy="109728"/>
          </a:xfrm>
          <a:prstGeom prst="ellipse">
            <a:avLst/>
          </a:prstGeom>
          <a:solidFill>
            <a:srgbClr val="E5484D"/>
          </a:solidFill>
          <a:ln w="12700">
            <a:solidFill>
              <a:srgbClr val="E5484D"/>
            </a:solidFill>
            <a:prstDash val="solid"/>
          </a:ln>
        </p:spPr>
      </p:sp>
      <p:sp>
        <p:nvSpPr>
          <p:cNvPr id="5" name="Shape 3"/>
          <p:cNvSpPr/>
          <p:nvPr/>
        </p:nvSpPr>
        <p:spPr>
          <a:xfrm>
            <a:off x="822960" y="1225296"/>
            <a:ext cx="109728" cy="109728"/>
          </a:xfrm>
          <a:prstGeom prst="ellipse">
            <a:avLst/>
          </a:prstGeom>
          <a:solidFill>
            <a:srgbClr val="E69A28"/>
          </a:solidFill>
          <a:ln w="12700">
            <a:solidFill>
              <a:srgbClr val="E69A28"/>
            </a:solidFill>
            <a:prstDash val="solid"/>
          </a:ln>
        </p:spPr>
      </p:sp>
      <p:sp>
        <p:nvSpPr>
          <p:cNvPr id="6" name="Shape 4"/>
          <p:cNvSpPr/>
          <p:nvPr/>
        </p:nvSpPr>
        <p:spPr>
          <a:xfrm>
            <a:off x="1005840" y="1225296"/>
            <a:ext cx="109728" cy="109728"/>
          </a:xfrm>
          <a:prstGeom prst="ellipse">
            <a:avLst/>
          </a:prstGeom>
          <a:solidFill>
            <a:srgbClr val="1FB68A"/>
          </a:solidFill>
          <a:ln w="12700">
            <a:solidFill>
              <a:srgbClr val="1FB68A"/>
            </a:solidFill>
            <a:prstDash val="solid"/>
          </a:ln>
        </p:spPr>
      </p:sp>
      <p:sp>
        <p:nvSpPr>
          <p:cNvPr id="7" name="Text 5"/>
          <p:cNvSpPr txBox="1"/>
          <p:nvPr/>
        </p:nvSpPr>
        <p:spPr>
          <a:xfrm>
            <a:off x="1280160" y="1152144"/>
            <a:ext cx="4206240" cy="256032"/>
          </a:xfrm>
          <a:prstGeom prst="rect">
            <a:avLst/>
          </a:prstGeom>
          <a:noFill/>
          <a:ln/>
        </p:spPr>
        <p:txBody>
          <a:bodyPr wrap="square" lIns="0" tIns="0" rIns="0" bIns="0" rtlCol="0" anchor="ctr"/>
          <a:lstStyle/>
          <a:p>
            <a:pPr algn="r" indent="0" marL="0">
              <a:buNone/>
            </a:pPr>
            <a:r>
              <a:rPr lang="en-US" sz="1000" dirty="0">
                <a:solidFill>
                  <a:srgbClr val="8B98A5"/>
                </a:solidFill>
                <a:latin typeface="Calibri" pitchFamily="34" charset="0"/>
                <a:ea typeface="Calibri" pitchFamily="34" charset="-122"/>
                <a:cs typeface="Calibri" pitchFamily="34" charset="-120"/>
              </a:rPr>
              <a:t>module 1 · run this</a:t>
            </a:r>
            <a:endParaRPr lang="en-US" sz="1000" dirty="0"/>
          </a:p>
        </p:txBody>
      </p:sp>
      <p:sp>
        <p:nvSpPr>
          <p:cNvPr id="8" name="terminal-text"/>
          <p:cNvSpPr txBox="1"/>
          <p:nvPr/>
        </p:nvSpPr>
        <p:spPr>
          <a:xfrm>
            <a:off x="685800" y="1481328"/>
            <a:ext cx="4754880" cy="3017520"/>
          </a:xfrm>
          <a:prstGeom prst="rect">
            <a:avLst/>
          </a:prstGeom>
          <a:noFill/>
          <a:ln/>
        </p:spPr>
        <p:txBody>
          <a:bodyPr wrap="square" lIns="0" tIns="0" rIns="0" bIns="0" rtlCol="0" anchor="t"/>
          <a:lstStyle/>
          <a:p>
            <a:pPr indent="0" marL="0">
              <a:buNone/>
            </a:pPr>
            <a:r>
              <a:rPr lang="en-US" sz="1100" dirty="0">
                <a:solidFill>
                  <a:srgbClr val="8B98A5"/>
                </a:solidFill>
                <a:latin typeface="Courier New" pitchFamily="34" charset="0"/>
                <a:ea typeface="Courier New" pitchFamily="34" charset="-122"/>
                <a:cs typeface="Courier New" pitchFamily="34" charset="-120"/>
              </a:rPr>
              <a:t># 1. the tests first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npm run verify       # read both Tests lines</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npm run lab 01       # the lab check: all green?</a:t>
            </a:r>
            <a:endParaRPr lang="en-US" sz="1100" dirty="0"/>
          </a:p>
          <a:p>
            <a:pPr indent="0" marL="0">
              <a:buNone/>
            </a:pPr>
            <a:r>
              <a:rPr lang="en-US" sz="1100" dirty="0">
                <a:solidFill>
                  <a:srgbClr val="8B98A5"/>
                </a:solidFill>
                <a:latin typeface="Courier New" pitchFamily="34" charset="0"/>
                <a:ea typeface="Courier New" pitchFamily="34" charset="-122"/>
                <a:cs typeface="Courier New" pitchFamily="34" charset="-120"/>
              </a:rPr>
              <a:t># 2. then the app on the seeded data</a:t>
            </a:r>
            <a:endParaRPr lang="en-US" sz="1100" dirty="0"/>
          </a:p>
          <a:p>
            <a:pPr indent="0" marL="0">
              <a:buNone/>
            </a:pPr>
            <a:r>
              <a:rPr lang="en-US" sz="1100" dirty="0">
                <a:solidFill>
                  <a:srgbClr val="8B98A5"/>
                </a:solidFill>
                <a:latin typeface="Courier New" pitchFamily="34" charset="0"/>
                <a:ea typeface="Courier New" pitchFamily="34" charset="-122"/>
                <a:cs typeface="Courier New" pitchFamily="34" charset="-120"/>
              </a:rPr>
              <a:t>#    (port taken? the last line says so: PORT= in .env)</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npm run build</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npm start</a:t>
            </a:r>
            <a:endParaRPr lang="en-US" sz="1100" dirty="0"/>
          </a:p>
          <a:p>
            <a:pPr indent="0" marL="0">
              <a:buNone/>
            </a:pPr>
            <a:r>
              <a:rPr lang="en-US" sz="1100" dirty="0">
                <a:solidFill>
                  <a:srgbClr val="8B98A5"/>
                </a:solidFill>
                <a:latin typeface="Courier New" pitchFamily="34" charset="0"/>
                <a:ea typeface="Courier New" pitchFamily="34" charset="-122"/>
                <a:cs typeface="Courier New" pitchFamily="34" charset="-120"/>
              </a:rPr>
              <a:t># 3. open localhost:3000/playground (or your PORT)</a:t>
            </a:r>
            <a:endParaRPr lang="en-US" sz="1100" dirty="0"/>
          </a:p>
          <a:p>
            <a:pPr indent="0" marL="0">
              <a:buNone/>
            </a:pPr>
            <a:r>
              <a:rPr lang="en-US" sz="1100" dirty="0">
                <a:solidFill>
                  <a:srgbClr val="8B98A5"/>
                </a:solidFill>
                <a:latin typeface="Courier New" pitchFamily="34" charset="0"/>
                <a:ea typeface="Courier New" pitchFamily="34" charset="-122"/>
                <a:cs typeface="Courier New" pitchFamily="34" charset="-120"/>
              </a:rPr>
              <a:t>#    and click Run all in order</a:t>
            </a:r>
            <a:endParaRPr lang="en-US" sz="1100" dirty="0"/>
          </a:p>
        </p:txBody>
      </p:sp>
      <p:sp>
        <p:nvSpPr>
          <p:cNvPr id="9" name="playground"/>
          <p:cNvSpPr/>
          <p:nvPr/>
        </p:nvSpPr>
        <p:spPr>
          <a:xfrm>
            <a:off x="5852160" y="1097280"/>
            <a:ext cx="2834640" cy="3520440"/>
          </a:xfrm>
          <a:prstGeom prst="roundRect">
            <a:avLst>
              <a:gd name="adj" fmla="val 2581"/>
            </a:avLst>
          </a:prstGeom>
          <a:solidFill>
            <a:srgbClr val="0E7490"/>
          </a:solidFill>
          <a:ln w="12700">
            <a:solidFill>
              <a:srgbClr val="0E7490"/>
            </a:solidFill>
            <a:prstDash val="solid"/>
          </a:ln>
        </p:spPr>
      </p:sp>
      <p:pic>
        <p:nvPicPr>
          <p:cNvPr id="10" name="Image 0" descr="preencoded.png">    </p:cNvPr>
          <p:cNvPicPr>
            <a:picLocks noChangeAspect="1"/>
          </p:cNvPicPr>
          <p:nvPr/>
        </p:nvPicPr>
        <p:blipFill>
          <a:blip r:embed="rId1"/>
          <a:stretch>
            <a:fillRect/>
          </a:stretch>
        </p:blipFill>
        <p:spPr>
          <a:xfrm>
            <a:off x="6035040" y="1252728"/>
            <a:ext cx="237744" cy="237744"/>
          </a:xfrm>
          <a:prstGeom prst="rect">
            <a:avLst/>
          </a:prstGeom>
        </p:spPr>
      </p:pic>
      <p:sp>
        <p:nvSpPr>
          <p:cNvPr id="11" name="Text 8"/>
          <p:cNvSpPr txBox="1"/>
          <p:nvPr/>
        </p:nvSpPr>
        <p:spPr>
          <a:xfrm>
            <a:off x="6355080" y="1207008"/>
            <a:ext cx="2148840" cy="329184"/>
          </a:xfrm>
          <a:prstGeom prst="rect">
            <a:avLst/>
          </a:prstGeom>
          <a:noFill/>
          <a:ln/>
        </p:spPr>
        <p:txBody>
          <a:bodyPr wrap="square" lIns="0" tIns="0" rIns="0" bIns="0" rtlCol="0" anchor="ctr"/>
          <a:lstStyle/>
          <a:p>
            <a:pPr indent="0" marL="0">
              <a:buNone/>
            </a:pPr>
            <a:r>
              <a:rPr lang="en-US" sz="1600" b="1" dirty="0">
                <a:solidFill>
                  <a:srgbClr val="FFFFFF"/>
                </a:solidFill>
              </a:rPr>
              <a:t>In the playground</a:t>
            </a:r>
            <a:endParaRPr lang="en-US" sz="1600" dirty="0"/>
          </a:p>
        </p:txBody>
      </p:sp>
      <p:sp>
        <p:nvSpPr>
          <p:cNvPr id="12" name="panel-steps"/>
          <p:cNvSpPr txBox="1"/>
          <p:nvPr/>
        </p:nvSpPr>
        <p:spPr>
          <a:xfrm>
            <a:off x="6035040" y="1645920"/>
            <a:ext cx="2468880" cy="2834640"/>
          </a:xfrm>
          <a:prstGeom prst="rect">
            <a:avLst/>
          </a:prstGeom>
          <a:noFill/>
          <a:ln/>
        </p:spPr>
        <p:txBody>
          <a:bodyPr wrap="square" lIns="0" tIns="0" rIns="0" bIns="0" rtlCol="0" anchor="t"/>
          <a:lstStyle/>
          <a:p>
            <a:pPr indent="0" marL="0">
              <a:buNone/>
            </a:pPr>
            <a:r>
              <a:rPr lang="en-US" sz="1300" b="1" dirty="0">
                <a:solidFill>
                  <a:srgbClr val="FFFFFF"/>
                </a:solidFill>
              </a:rPr>
              <a:t>localhost:3000/playground</a:t>
            </a:r>
            <a:endParaRPr lang="en-US" sz="1300" dirty="0"/>
          </a:p>
          <a:p>
            <a:pPr indent="0" marL="0">
              <a:buNone/>
            </a:pPr>
            <a:r>
              <a:rPr lang="en-US" sz="1300" dirty="0">
                <a:solidFill>
                  <a:srgbClr val="FFFFFF"/>
                </a:solidFill>
              </a:rPr>
              <a:t>1. Health</a:t>
            </a:r>
            <a:endParaRPr lang="en-US" sz="1300" dirty="0"/>
          </a:p>
          <a:p>
            <a:pPr indent="0" marL="0">
              <a:buNone/>
            </a:pPr>
            <a:r>
              <a:rPr lang="en-US" sz="1300" dirty="0">
                <a:solidFill>
                  <a:srgbClr val="FFFFFF"/>
                </a:solidFill>
              </a:rPr>
              <a:t>2. List users (seeded)</a:t>
            </a:r>
            <a:endParaRPr lang="en-US" sz="1300" dirty="0"/>
          </a:p>
          <a:p>
            <a:pPr indent="0" marL="0">
              <a:buNone/>
            </a:pPr>
            <a:r>
              <a:rPr lang="en-US" sz="1300" dirty="0">
                <a:solidFill>
                  <a:srgbClr val="FFFFFF"/>
                </a:solidFill>
              </a:rPr>
              <a:t>3. Create user</a:t>
            </a:r>
            <a:endParaRPr lang="en-US" sz="1300" dirty="0"/>
          </a:p>
          <a:p>
            <a:pPr indent="0" marL="0">
              <a:buNone/>
            </a:pPr>
            <a:r>
              <a:rPr lang="en-US" sz="1300" dirty="0">
                <a:solidFill>
                  <a:srgbClr val="FFFFFF"/>
                </a:solidFill>
              </a:rPr>
              <a:t>4. Create note</a:t>
            </a:r>
            <a:endParaRPr lang="en-US" sz="1300" dirty="0"/>
          </a:p>
          <a:p>
            <a:pPr indent="0" marL="0">
              <a:buNone/>
            </a:pPr>
            <a:r>
              <a:rPr lang="en-US" sz="1300" dirty="0">
                <a:solidFill>
                  <a:srgbClr val="FFFFFF"/>
                </a:solidFill>
              </a:rPr>
              <a:t>5. Mark done</a:t>
            </a:r>
            <a:endParaRPr lang="en-US" sz="1300" dirty="0"/>
          </a:p>
          <a:p>
            <a:pPr indent="0" marL="0">
              <a:buNone/>
            </a:pPr>
            <a:r>
              <a:rPr lang="en-US" sz="1300" dirty="0">
                <a:solidFill>
                  <a:srgbClr val="FFFFFF"/>
                </a:solidFill>
              </a:rPr>
              <a:t>6. Edit a done note → 422 (R2)</a:t>
            </a:r>
            <a:endParaRPr lang="en-US" sz="1300" dirty="0"/>
          </a:p>
          <a:p>
            <a:pPr indent="0" marL="0">
              <a:buNone/>
            </a:pPr>
            <a:r>
              <a:rPr lang="en-US" sz="1300" dirty="0">
                <a:solidFill>
                  <a:srgbClr val="FFFFFF"/>
                </a:solidFill>
              </a:rPr>
              <a:t>7. Share with a friend</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1F24"/>
                </a:solidFill>
              </a:rPr>
              <a:t>What to expect: the playground after Run all</a:t>
            </a:r>
            <a:endParaRPr lang="en-US" sz="3200" dirty="0"/>
          </a:p>
        </p:txBody>
      </p:sp>
      <p:sp>
        <p:nvSpPr>
          <p:cNvPr id="3" name="Shape 1"/>
          <p:cNvSpPr/>
          <p:nvPr/>
        </p:nvSpPr>
        <p:spPr>
          <a:xfrm>
            <a:off x="429768" y="1069848"/>
            <a:ext cx="6150864" cy="3483864"/>
          </a:xfrm>
          <a:prstGeom prst="rect">
            <a:avLst/>
          </a:prstGeom>
          <a:solidFill>
            <a:srgbClr val="CBD5E1"/>
          </a:solidFill>
          <a:ln w="12700">
            <a:solidFill>
              <a:srgbClr val="CBD5E1"/>
            </a:solidFill>
            <a:prstDash val="solid"/>
          </a:ln>
        </p:spPr>
      </p:sp>
      <p:pic>
        <p:nvPicPr>
          <p:cNvPr id="4" name="Image 0" descr="The playground after Run all in order: the four variables filled, Health and List users answered 200 with a check mark.">    </p:cNvPr>
          <p:cNvPicPr>
            <a:picLocks noChangeAspect="1"/>
          </p:cNvPicPr>
          <p:nvPr/>
        </p:nvPicPr>
        <p:blipFill>
          <a:blip r:embed="rId1"/>
          <a:stretch>
            <a:fillRect/>
          </a:stretch>
        </p:blipFill>
        <p:spPr>
          <a:xfrm>
            <a:off x="457200" y="1097280"/>
            <a:ext cx="6096000" cy="3429000"/>
          </a:xfrm>
          <a:prstGeom prst="rect">
            <a:avLst/>
          </a:prstGeom>
        </p:spPr>
      </p:pic>
      <p:sp>
        <p:nvSpPr>
          <p:cNvPr id="5" name="Text 2"/>
          <p:cNvSpPr txBox="1"/>
          <p:nvPr/>
        </p:nvSpPr>
        <p:spPr>
          <a:xfrm>
            <a:off x="6827520" y="1097280"/>
            <a:ext cx="1859280" cy="365760"/>
          </a:xfrm>
          <a:prstGeom prst="rect">
            <a:avLst/>
          </a:prstGeom>
          <a:noFill/>
          <a:ln/>
        </p:spPr>
        <p:txBody>
          <a:bodyPr wrap="square" lIns="0" tIns="0" rIns="0" bIns="0" rtlCol="0" anchor="ctr"/>
          <a:lstStyle/>
          <a:p>
            <a:pPr indent="0" marL="0">
              <a:buNone/>
            </a:pPr>
            <a:r>
              <a:rPr lang="en-US" sz="1600" b="1" dirty="0">
                <a:solidFill>
                  <a:srgbClr val="1B1F24"/>
                </a:solidFill>
              </a:rPr>
              <a:t>Look for</a:t>
            </a:r>
            <a:endParaRPr lang="en-US" sz="1600" dirty="0"/>
          </a:p>
        </p:txBody>
      </p:sp>
      <p:sp>
        <p:nvSpPr>
          <p:cNvPr id="6" name="Shape 3"/>
          <p:cNvSpPr/>
          <p:nvPr/>
        </p:nvSpPr>
        <p:spPr>
          <a:xfrm>
            <a:off x="6827520" y="1572768"/>
            <a:ext cx="274320" cy="274320"/>
          </a:xfrm>
          <a:prstGeom prst="ellipse">
            <a:avLst/>
          </a:prstGeom>
          <a:solidFill>
            <a:srgbClr val="1FB68A"/>
          </a:solidFill>
          <a:ln w="12700">
            <a:solidFill>
              <a:srgbClr val="1FB68A"/>
            </a:solidFill>
            <a:prstDash val="solid"/>
          </a:ln>
        </p:spPr>
      </p:sp>
      <p:pic>
        <p:nvPicPr>
          <p:cNvPr id="7" name="Image 1" descr="preencoded.png">    </p:cNvPr>
          <p:cNvPicPr>
            <a:picLocks noChangeAspect="1"/>
          </p:cNvPicPr>
          <p:nvPr/>
        </p:nvPicPr>
        <p:blipFill>
          <a:blip r:embed="rId2"/>
          <a:stretch>
            <a:fillRect/>
          </a:stretch>
        </p:blipFill>
        <p:spPr>
          <a:xfrm>
            <a:off x="6887870" y="1633118"/>
            <a:ext cx="153619" cy="153619"/>
          </a:xfrm>
          <a:prstGeom prst="rect">
            <a:avLst/>
          </a:prstGeom>
        </p:spPr>
      </p:pic>
      <p:sp>
        <p:nvSpPr>
          <p:cNvPr id="8" name="Text 4"/>
          <p:cNvSpPr txBox="1"/>
          <p:nvPr/>
        </p:nvSpPr>
        <p:spPr>
          <a:xfrm>
            <a:off x="7193280" y="1508760"/>
            <a:ext cx="1493520" cy="685800"/>
          </a:xfrm>
          <a:prstGeom prst="rect">
            <a:avLst/>
          </a:prstGeom>
          <a:noFill/>
          <a:ln/>
        </p:spPr>
        <p:txBody>
          <a:bodyPr wrap="square" lIns="0" tIns="0" rIns="0" bIns="0" rtlCol="0" anchor="t"/>
          <a:lstStyle/>
          <a:p>
            <a:pPr indent="0" marL="0">
              <a:buNone/>
            </a:pPr>
            <a:r>
              <a:rPr lang="en-US" sz="1200" dirty="0">
                <a:solidFill>
                  <a:srgbClr val="2B3440"/>
                </a:solidFill>
              </a:rPr>
              <a:t>19 of 19 cards ✓ in our dry run</a:t>
            </a:r>
            <a:endParaRPr lang="en-US" sz="1200" dirty="0"/>
          </a:p>
        </p:txBody>
      </p:sp>
      <p:sp>
        <p:nvSpPr>
          <p:cNvPr id="9" name="Shape 5"/>
          <p:cNvSpPr/>
          <p:nvPr/>
        </p:nvSpPr>
        <p:spPr>
          <a:xfrm>
            <a:off x="6827520" y="2176272"/>
            <a:ext cx="274320" cy="274320"/>
          </a:xfrm>
          <a:prstGeom prst="ellipse">
            <a:avLst/>
          </a:prstGeom>
          <a:solidFill>
            <a:srgbClr val="1FB68A"/>
          </a:solidFill>
          <a:ln w="12700">
            <a:solidFill>
              <a:srgbClr val="1FB68A"/>
            </a:solidFill>
            <a:prstDash val="solid"/>
          </a:ln>
        </p:spPr>
      </p:sp>
      <p:pic>
        <p:nvPicPr>
          <p:cNvPr id="10" name="Image 2" descr="preencoded.png">    </p:cNvPr>
          <p:cNvPicPr>
            <a:picLocks noChangeAspect="1"/>
          </p:cNvPicPr>
          <p:nvPr/>
        </p:nvPicPr>
        <p:blipFill>
          <a:blip r:embed="rId3"/>
          <a:stretch>
            <a:fillRect/>
          </a:stretch>
        </p:blipFill>
        <p:spPr>
          <a:xfrm>
            <a:off x="6887870" y="2236622"/>
            <a:ext cx="153619" cy="153619"/>
          </a:xfrm>
          <a:prstGeom prst="rect">
            <a:avLst/>
          </a:prstGeom>
        </p:spPr>
      </p:pic>
      <p:sp>
        <p:nvSpPr>
          <p:cNvPr id="11" name="Text 6"/>
          <p:cNvSpPr txBox="1"/>
          <p:nvPr/>
        </p:nvSpPr>
        <p:spPr>
          <a:xfrm>
            <a:off x="7193280" y="2112264"/>
            <a:ext cx="1493520" cy="685800"/>
          </a:xfrm>
          <a:prstGeom prst="rect">
            <a:avLst/>
          </a:prstGeom>
          <a:noFill/>
          <a:ln/>
        </p:spPr>
        <p:txBody>
          <a:bodyPr wrap="square" lIns="0" tIns="0" rIns="0" bIns="0" rtlCol="0" anchor="t"/>
          <a:lstStyle/>
          <a:p>
            <a:pPr indent="0" marL="0">
              <a:buNone/>
            </a:pPr>
            <a:r>
              <a:rPr lang="en-US" sz="1200" dirty="0">
                <a:solidFill>
                  <a:srgbClr val="2B3440"/>
                </a:solidFill>
              </a:rPr>
              <a:t>Variables filled: the ids carry over</a:t>
            </a:r>
            <a:endParaRPr lang="en-US" sz="1200" dirty="0"/>
          </a:p>
        </p:txBody>
      </p:sp>
      <p:sp>
        <p:nvSpPr>
          <p:cNvPr id="12" name="Shape 7"/>
          <p:cNvSpPr/>
          <p:nvPr/>
        </p:nvSpPr>
        <p:spPr>
          <a:xfrm>
            <a:off x="6827520" y="2779776"/>
            <a:ext cx="274320" cy="274320"/>
          </a:xfrm>
          <a:prstGeom prst="ellipse">
            <a:avLst/>
          </a:prstGeom>
          <a:solidFill>
            <a:srgbClr val="1FB68A"/>
          </a:solidFill>
          <a:ln w="12700">
            <a:solidFill>
              <a:srgbClr val="1FB68A"/>
            </a:solidFill>
            <a:prstDash val="solid"/>
          </a:ln>
        </p:spPr>
      </p:sp>
      <p:pic>
        <p:nvPicPr>
          <p:cNvPr id="13" name="Image 3" descr="preencoded.png">    </p:cNvPr>
          <p:cNvPicPr>
            <a:picLocks noChangeAspect="1"/>
          </p:cNvPicPr>
          <p:nvPr/>
        </p:nvPicPr>
        <p:blipFill>
          <a:blip r:embed="rId4"/>
          <a:stretch>
            <a:fillRect/>
          </a:stretch>
        </p:blipFill>
        <p:spPr>
          <a:xfrm>
            <a:off x="6887870" y="2840126"/>
            <a:ext cx="153619" cy="153619"/>
          </a:xfrm>
          <a:prstGeom prst="rect">
            <a:avLst/>
          </a:prstGeom>
        </p:spPr>
      </p:pic>
      <p:sp>
        <p:nvSpPr>
          <p:cNvPr id="14" name="Text 8"/>
          <p:cNvSpPr txBox="1"/>
          <p:nvPr/>
        </p:nvSpPr>
        <p:spPr>
          <a:xfrm>
            <a:off x="7193280" y="2715768"/>
            <a:ext cx="1493520" cy="685800"/>
          </a:xfrm>
          <a:prstGeom prst="rect">
            <a:avLst/>
          </a:prstGeom>
          <a:noFill/>
          <a:ln/>
        </p:spPr>
        <p:txBody>
          <a:bodyPr wrap="square" lIns="0" tIns="0" rIns="0" bIns="0" rtlCol="0" anchor="t"/>
          <a:lstStyle/>
          <a:p>
            <a:pPr indent="0" marL="0">
              <a:buNone/>
            </a:pPr>
            <a:r>
              <a:rPr lang="en-US" sz="1200" dirty="0">
                <a:solidFill>
                  <a:srgbClr val="2B3440"/>
                </a:solidFill>
              </a:rPr>
              <a:t>409 and 422 cards ✓ too: the rule said no</a:t>
            </a:r>
            <a:endParaRPr lang="en-US" sz="1200" dirty="0"/>
          </a:p>
        </p:txBody>
      </p:sp>
      <p:sp>
        <p:nvSpPr>
          <p:cNvPr id="15" name="Shape 9"/>
          <p:cNvSpPr/>
          <p:nvPr/>
        </p:nvSpPr>
        <p:spPr>
          <a:xfrm>
            <a:off x="6827520" y="3383280"/>
            <a:ext cx="274320" cy="274320"/>
          </a:xfrm>
          <a:prstGeom prst="ellipse">
            <a:avLst/>
          </a:prstGeom>
          <a:solidFill>
            <a:srgbClr val="1FB68A"/>
          </a:solidFill>
          <a:ln w="12700">
            <a:solidFill>
              <a:srgbClr val="1FB68A"/>
            </a:solidFill>
            <a:prstDash val="solid"/>
          </a:ln>
        </p:spPr>
      </p:sp>
      <p:pic>
        <p:nvPicPr>
          <p:cNvPr id="16" name="Image 4" descr="preencoded.png">    </p:cNvPr>
          <p:cNvPicPr>
            <a:picLocks noChangeAspect="1"/>
          </p:cNvPicPr>
          <p:nvPr/>
        </p:nvPicPr>
        <p:blipFill>
          <a:blip r:embed="rId5"/>
          <a:stretch>
            <a:fillRect/>
          </a:stretch>
        </p:blipFill>
        <p:spPr>
          <a:xfrm>
            <a:off x="6887870" y="3443630"/>
            <a:ext cx="153619" cy="153619"/>
          </a:xfrm>
          <a:prstGeom prst="rect">
            <a:avLst/>
          </a:prstGeom>
        </p:spPr>
      </p:pic>
      <p:sp>
        <p:nvSpPr>
          <p:cNvPr id="17" name="Text 10"/>
          <p:cNvSpPr txBox="1"/>
          <p:nvPr/>
        </p:nvSpPr>
        <p:spPr>
          <a:xfrm>
            <a:off x="7193280" y="3319272"/>
            <a:ext cx="1493520" cy="685800"/>
          </a:xfrm>
          <a:prstGeom prst="rect">
            <a:avLst/>
          </a:prstGeom>
          <a:noFill/>
          <a:ln/>
        </p:spPr>
        <p:txBody>
          <a:bodyPr wrap="square" lIns="0" tIns="0" rIns="0" bIns="0" rtlCol="0" anchor="t"/>
          <a:lstStyle/>
          <a:p>
            <a:pPr indent="0" marL="0">
              <a:buNone/>
            </a:pPr>
            <a:r>
              <a:rPr lang="en-US" sz="1200" dirty="0">
                <a:solidFill>
                  <a:srgbClr val="2B3440"/>
                </a:solidFill>
              </a:rPr>
              <a:t>Red in DevTools for those: expected</a:t>
            </a:r>
            <a:endParaRPr lang="en-US" sz="1200" dirty="0"/>
          </a:p>
        </p:txBody>
      </p:sp>
      <p:sp>
        <p:nvSpPr>
          <p:cNvPr id="18" name="Shape 11"/>
          <p:cNvSpPr/>
          <p:nvPr/>
        </p:nvSpPr>
        <p:spPr>
          <a:xfrm>
            <a:off x="6827520" y="3986784"/>
            <a:ext cx="274320" cy="274320"/>
          </a:xfrm>
          <a:prstGeom prst="ellipse">
            <a:avLst/>
          </a:prstGeom>
          <a:solidFill>
            <a:srgbClr val="1FB68A"/>
          </a:solidFill>
          <a:ln w="12700">
            <a:solidFill>
              <a:srgbClr val="1FB68A"/>
            </a:solidFill>
            <a:prstDash val="solid"/>
          </a:ln>
        </p:spPr>
      </p:sp>
      <p:pic>
        <p:nvPicPr>
          <p:cNvPr id="19" name="Image 5" descr="preencoded.png">    </p:cNvPr>
          <p:cNvPicPr>
            <a:picLocks noChangeAspect="1"/>
          </p:cNvPicPr>
          <p:nvPr/>
        </p:nvPicPr>
        <p:blipFill>
          <a:blip r:embed="rId6"/>
          <a:stretch>
            <a:fillRect/>
          </a:stretch>
        </p:blipFill>
        <p:spPr>
          <a:xfrm>
            <a:off x="6887870" y="4047134"/>
            <a:ext cx="153619" cy="153619"/>
          </a:xfrm>
          <a:prstGeom prst="rect">
            <a:avLst/>
          </a:prstGeom>
        </p:spPr>
      </p:pic>
      <p:sp>
        <p:nvSpPr>
          <p:cNvPr id="20" name="Text 12"/>
          <p:cNvSpPr txBox="1"/>
          <p:nvPr/>
        </p:nvSpPr>
        <p:spPr>
          <a:xfrm>
            <a:off x="7193280" y="3922776"/>
            <a:ext cx="1493520" cy="685800"/>
          </a:xfrm>
          <a:prstGeom prst="rect">
            <a:avLst/>
          </a:prstGeom>
          <a:noFill/>
          <a:ln/>
        </p:spPr>
        <p:txBody>
          <a:bodyPr wrap="square" lIns="0" tIns="0" rIns="0" bIns="0" rtlCol="0" anchor="t"/>
          <a:lstStyle/>
          <a:p>
            <a:pPr indent="0" marL="0">
              <a:buNone/>
            </a:pPr>
            <a:r>
              <a:rPr lang="en-US" sz="1200" dirty="0">
                <a:solidFill>
                  <a:srgbClr val="2B3440"/>
                </a:solidFill>
              </a:rPr>
              <a:t>List users shows the 25 seeded users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1F24"/>
                </a:solidFill>
              </a:rPr>
              <a:t>Checkpoint: two MVCs on real data</a:t>
            </a:r>
            <a:endParaRPr lang="en-US" sz="3200" dirty="0"/>
          </a:p>
        </p:txBody>
      </p:sp>
      <p:sp>
        <p:nvSpPr>
          <p:cNvPr id="3" name="terminal"/>
          <p:cNvSpPr/>
          <p:nvPr/>
        </p:nvSpPr>
        <p:spPr>
          <a:xfrm>
            <a:off x="457200" y="1097280"/>
            <a:ext cx="5029200" cy="3520440"/>
          </a:xfrm>
          <a:prstGeom prst="roundRect">
            <a:avLst>
              <a:gd name="adj" fmla="val 2078"/>
            </a:avLst>
          </a:prstGeom>
          <a:solidFill>
            <a:srgbClr val="1B1F24"/>
          </a:solidFill>
          <a:ln w="12700">
            <a:solidFill>
              <a:srgbClr val="1B1F24"/>
            </a:solidFill>
            <a:prstDash val="solid"/>
          </a:ln>
        </p:spPr>
      </p:sp>
      <p:sp>
        <p:nvSpPr>
          <p:cNvPr id="4" name="Shape 2"/>
          <p:cNvSpPr/>
          <p:nvPr/>
        </p:nvSpPr>
        <p:spPr>
          <a:xfrm>
            <a:off x="640080" y="1225296"/>
            <a:ext cx="109728" cy="109728"/>
          </a:xfrm>
          <a:prstGeom prst="ellipse">
            <a:avLst/>
          </a:prstGeom>
          <a:solidFill>
            <a:srgbClr val="E5484D"/>
          </a:solidFill>
          <a:ln w="12700">
            <a:solidFill>
              <a:srgbClr val="E5484D"/>
            </a:solidFill>
            <a:prstDash val="solid"/>
          </a:ln>
        </p:spPr>
      </p:sp>
      <p:sp>
        <p:nvSpPr>
          <p:cNvPr id="5" name="Shape 3"/>
          <p:cNvSpPr/>
          <p:nvPr/>
        </p:nvSpPr>
        <p:spPr>
          <a:xfrm>
            <a:off x="822960" y="1225296"/>
            <a:ext cx="109728" cy="109728"/>
          </a:xfrm>
          <a:prstGeom prst="ellipse">
            <a:avLst/>
          </a:prstGeom>
          <a:solidFill>
            <a:srgbClr val="E69A28"/>
          </a:solidFill>
          <a:ln w="12700">
            <a:solidFill>
              <a:srgbClr val="E69A28"/>
            </a:solidFill>
            <a:prstDash val="solid"/>
          </a:ln>
        </p:spPr>
      </p:sp>
      <p:sp>
        <p:nvSpPr>
          <p:cNvPr id="6" name="Shape 4"/>
          <p:cNvSpPr/>
          <p:nvPr/>
        </p:nvSpPr>
        <p:spPr>
          <a:xfrm>
            <a:off x="1005840" y="1225296"/>
            <a:ext cx="109728" cy="109728"/>
          </a:xfrm>
          <a:prstGeom prst="ellipse">
            <a:avLst/>
          </a:prstGeom>
          <a:solidFill>
            <a:srgbClr val="1FB68A"/>
          </a:solidFill>
          <a:ln w="12700">
            <a:solidFill>
              <a:srgbClr val="1FB68A"/>
            </a:solidFill>
            <a:prstDash val="solid"/>
          </a:ln>
        </p:spPr>
      </p:sp>
      <p:sp>
        <p:nvSpPr>
          <p:cNvPr id="7" name="Text 5"/>
          <p:cNvSpPr txBox="1"/>
          <p:nvPr/>
        </p:nvSpPr>
        <p:spPr>
          <a:xfrm>
            <a:off x="1280160" y="1152144"/>
            <a:ext cx="4023360" cy="256032"/>
          </a:xfrm>
          <a:prstGeom prst="rect">
            <a:avLst/>
          </a:prstGeom>
          <a:noFill/>
          <a:ln/>
        </p:spPr>
        <p:txBody>
          <a:bodyPr wrap="square" lIns="0" tIns="0" rIns="0" bIns="0" rtlCol="0" anchor="ctr"/>
          <a:lstStyle/>
          <a:p>
            <a:pPr algn="r" indent="0" marL="0">
              <a:buNone/>
            </a:pPr>
            <a:r>
              <a:rPr lang="en-US" sz="1000" dirty="0">
                <a:solidFill>
                  <a:srgbClr val="8B98A5"/>
                </a:solidFill>
                <a:latin typeface="Calibri" pitchFamily="34" charset="0"/>
                <a:ea typeface="Calibri" pitchFamily="34" charset="-122"/>
                <a:cs typeface="Calibri" pitchFamily="34" charset="-120"/>
              </a:rPr>
              <a:t>output: captured</a:t>
            </a:r>
            <a:endParaRPr lang="en-US" sz="1000" dirty="0"/>
          </a:p>
        </p:txBody>
      </p:sp>
      <p:sp>
        <p:nvSpPr>
          <p:cNvPr id="8" name="terminal-text"/>
          <p:cNvSpPr txBox="1"/>
          <p:nvPr/>
        </p:nvSpPr>
        <p:spPr>
          <a:xfrm>
            <a:off x="685800" y="1481328"/>
            <a:ext cx="4572000" cy="3017520"/>
          </a:xfrm>
          <a:prstGeom prst="rect">
            <a:avLst/>
          </a:prstGeom>
          <a:noFill/>
          <a:ln/>
        </p:spPr>
        <p:txBody>
          <a:bodyPr wrap="square" lIns="0" tIns="0" rIns="0" bIns="0" rtlCol="0" anchor="t"/>
          <a:lstStyle/>
          <a:p>
            <a:pPr indent="0" marL="0">
              <a:buNone/>
            </a:pPr>
            <a:r>
              <a:rPr lang="en-US" sz="1200" dirty="0">
                <a:solidFill>
                  <a:srgbClr val="8B98A5"/>
                </a:solidFill>
                <a:latin typeface="Courier New" pitchFamily="34" charset="0"/>
                <a:ea typeface="Courier New" pitchFamily="34" charset="-122"/>
                <a:cs typeface="Courier New" pitchFamily="34" charset="-120"/>
              </a:rPr>
              <a:t># npm run verify (base: 21 unit, 5 e2e)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Tests  44 passed (44)</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Tests  49 passed (49)</a:t>
            </a:r>
            <a:endParaRPr lang="en-US" sz="1200" dirty="0"/>
          </a:p>
          <a:p>
            <a:pPr indent="0" marL="0">
              <a:buNone/>
            </a:pPr>
            <a:r>
              <a:rPr lang="en-US" sz="1200" dirty="0">
                <a:solidFill>
                  <a:srgbClr val="8B98A5"/>
                </a:solidFill>
                <a:latin typeface="Courier New" pitchFamily="34" charset="0"/>
                <a:ea typeface="Courier New" pitchFamily="34" charset="-122"/>
                <a:cs typeface="Courier New" pitchFamily="34" charset="-120"/>
              </a:rPr>
              <a:t># npm run lab 01</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Tests  15 passed (15)</a:t>
            </a:r>
            <a:endParaRPr lang="en-US" sz="1200" dirty="0"/>
          </a:p>
          <a:p>
            <a:pPr indent="0" marL="0">
              <a:buNone/>
            </a:pPr>
            <a:r>
              <a:rPr lang="en-US" sz="1200" dirty="0">
                <a:solidFill>
                  <a:srgbClr val="8B98A5"/>
                </a:solidFill>
                <a:latin typeface="Courier New" pitchFamily="34" charset="0"/>
                <a:ea typeface="Courier New" pitchFamily="34" charset="-122"/>
                <a:cs typeface="Courier New" pitchFamily="34" charset="-120"/>
              </a:rPr>
              <a:t># /playground on the seeded file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users total=25  notes total=200</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notes?status=done total=85</a:t>
            </a:r>
            <a:endParaRPr lang="en-US" sz="1200" dirty="0"/>
          </a:p>
        </p:txBody>
      </p:sp>
      <p:sp>
        <p:nvSpPr>
          <p:cNvPr id="9" name="Text 7"/>
          <p:cNvSpPr txBox="1"/>
          <p:nvPr/>
        </p:nvSpPr>
        <p:spPr>
          <a:xfrm>
            <a:off x="5852160" y="1097280"/>
            <a:ext cx="2834640" cy="411480"/>
          </a:xfrm>
          <a:prstGeom prst="rect">
            <a:avLst/>
          </a:prstGeom>
          <a:noFill/>
          <a:ln/>
        </p:spPr>
        <p:txBody>
          <a:bodyPr wrap="square" lIns="0" tIns="0" rIns="0" bIns="0" rtlCol="0" anchor="ctr"/>
          <a:lstStyle/>
          <a:p>
            <a:pPr indent="0" marL="0">
              <a:buNone/>
            </a:pPr>
            <a:r>
              <a:rPr lang="en-US" sz="2000" b="1" dirty="0">
                <a:solidFill>
                  <a:srgbClr val="1B1F24"/>
                </a:solidFill>
              </a:rPr>
              <a:t>Done when</a:t>
            </a:r>
            <a:endParaRPr lang="en-US" sz="2000" dirty="0"/>
          </a:p>
        </p:txBody>
      </p:sp>
      <p:sp>
        <p:nvSpPr>
          <p:cNvPr id="10" name="Shape 8"/>
          <p:cNvSpPr/>
          <p:nvPr/>
        </p:nvSpPr>
        <p:spPr>
          <a:xfrm>
            <a:off x="5852160" y="1645920"/>
            <a:ext cx="384048" cy="384048"/>
          </a:xfrm>
          <a:prstGeom prst="ellipse">
            <a:avLst/>
          </a:prstGeom>
          <a:solidFill>
            <a:srgbClr val="1FB68A"/>
          </a:solidFill>
          <a:ln w="12700">
            <a:solidFill>
              <a:srgbClr val="1FB68A"/>
            </a:solidFill>
            <a:prstDash val="solid"/>
          </a:ln>
        </p:spPr>
      </p:sp>
      <p:pic>
        <p:nvPicPr>
          <p:cNvPr id="11" name="Image 0" descr="preencoded.png">    </p:cNvPr>
          <p:cNvPicPr>
            <a:picLocks noChangeAspect="1"/>
          </p:cNvPicPr>
          <p:nvPr/>
        </p:nvPicPr>
        <p:blipFill>
          <a:blip r:embed="rId1"/>
          <a:stretch>
            <a:fillRect/>
          </a:stretch>
        </p:blipFill>
        <p:spPr>
          <a:xfrm>
            <a:off x="5936651" y="1730411"/>
            <a:ext cx="215067" cy="215067"/>
          </a:xfrm>
          <a:prstGeom prst="rect">
            <a:avLst/>
          </a:prstGeom>
        </p:spPr>
      </p:pic>
      <p:sp>
        <p:nvSpPr>
          <p:cNvPr id="12" name="Text 9"/>
          <p:cNvSpPr txBox="1"/>
          <p:nvPr/>
        </p:nvSpPr>
        <p:spPr>
          <a:xfrm>
            <a:off x="6355080" y="1609344"/>
            <a:ext cx="2331720" cy="868680"/>
          </a:xfrm>
          <a:prstGeom prst="rect">
            <a:avLst/>
          </a:prstGeom>
          <a:noFill/>
          <a:ln/>
        </p:spPr>
        <p:txBody>
          <a:bodyPr wrap="square" lIns="0" tIns="0" rIns="0" bIns="0" rtlCol="0" anchor="t"/>
          <a:lstStyle/>
          <a:p>
            <a:pPr indent="0" marL="0">
              <a:buNone/>
            </a:pPr>
            <a:pPr indent="0" marL="0">
              <a:buNone/>
            </a:pPr>
            <a:r>
              <a:rPr lang="en-US" sz="1400" dirty="0">
                <a:solidFill>
                  <a:srgbClr val="1B1F24"/>
                </a:solidFill>
                <a:latin typeface="Courier New" pitchFamily="34" charset="0"/>
                <a:ea typeface="Courier New" pitchFamily="34" charset="-122"/>
                <a:cs typeface="Courier New" pitchFamily="34" charset="-120"/>
              </a:rPr>
              <a:t>npm run lab 01</a:t>
            </a:r>
            <a:pPr indent="0" marL="0">
              <a:buNone/>
            </a:pPr>
            <a:r>
              <a:rPr lang="en-US" sz="1400" dirty="0">
                <a:solidFill>
                  <a:srgbClr val="1B1F24"/>
                </a:solidFill>
              </a:rPr>
              <a:t>: every test passes</a:t>
            </a:r>
            <a:endParaRPr lang="en-US" sz="1400" dirty="0"/>
          </a:p>
        </p:txBody>
      </p:sp>
      <p:sp>
        <p:nvSpPr>
          <p:cNvPr id="13" name="Shape 10"/>
          <p:cNvSpPr/>
          <p:nvPr/>
        </p:nvSpPr>
        <p:spPr>
          <a:xfrm>
            <a:off x="5852160" y="2377440"/>
            <a:ext cx="384048" cy="384048"/>
          </a:xfrm>
          <a:prstGeom prst="ellipse">
            <a:avLst/>
          </a:prstGeom>
          <a:solidFill>
            <a:srgbClr val="1FB68A"/>
          </a:solidFill>
          <a:ln w="12700">
            <a:solidFill>
              <a:srgbClr val="1FB68A"/>
            </a:solidFill>
            <a:prstDash val="solid"/>
          </a:ln>
        </p:spPr>
      </p:sp>
      <p:pic>
        <p:nvPicPr>
          <p:cNvPr id="14" name="Image 1" descr="preencoded.png">    </p:cNvPr>
          <p:cNvPicPr>
            <a:picLocks noChangeAspect="1"/>
          </p:cNvPicPr>
          <p:nvPr/>
        </p:nvPicPr>
        <p:blipFill>
          <a:blip r:embed="rId2"/>
          <a:stretch>
            <a:fillRect/>
          </a:stretch>
        </p:blipFill>
        <p:spPr>
          <a:xfrm>
            <a:off x="5936651" y="2461931"/>
            <a:ext cx="215067" cy="215067"/>
          </a:xfrm>
          <a:prstGeom prst="rect">
            <a:avLst/>
          </a:prstGeom>
        </p:spPr>
      </p:pic>
      <p:sp>
        <p:nvSpPr>
          <p:cNvPr id="15" name="Text 11"/>
          <p:cNvSpPr txBox="1"/>
          <p:nvPr/>
        </p:nvSpPr>
        <p:spPr>
          <a:xfrm>
            <a:off x="6355080" y="2340864"/>
            <a:ext cx="2331720" cy="868680"/>
          </a:xfrm>
          <a:prstGeom prst="rect">
            <a:avLst/>
          </a:prstGeom>
          <a:noFill/>
          <a:ln/>
        </p:spPr>
        <p:txBody>
          <a:bodyPr wrap="square" lIns="0" tIns="0" rIns="0" bIns="0" rtlCol="0" anchor="t"/>
          <a:lstStyle/>
          <a:p>
            <a:pPr indent="0" marL="0">
              <a:buNone/>
            </a:pPr>
            <a:r>
              <a:rPr lang="en-US" sz="1400" dirty="0">
                <a:solidFill>
                  <a:srgbClr val="1B1F24"/>
                </a:solidFill>
              </a:rPr>
              <a:t>deleting a rule turns a test red</a:t>
            </a:r>
            <a:endParaRPr lang="en-US" sz="1400" dirty="0"/>
          </a:p>
        </p:txBody>
      </p:sp>
      <p:sp>
        <p:nvSpPr>
          <p:cNvPr id="16" name="Shape 12"/>
          <p:cNvSpPr/>
          <p:nvPr/>
        </p:nvSpPr>
        <p:spPr>
          <a:xfrm>
            <a:off x="5852160" y="3108960"/>
            <a:ext cx="384048" cy="384048"/>
          </a:xfrm>
          <a:prstGeom prst="ellipse">
            <a:avLst/>
          </a:prstGeom>
          <a:solidFill>
            <a:srgbClr val="1FB68A"/>
          </a:solidFill>
          <a:ln w="12700">
            <a:solidFill>
              <a:srgbClr val="1FB68A"/>
            </a:solidFill>
            <a:prstDash val="solid"/>
          </a:ln>
        </p:spPr>
      </p:sp>
      <p:pic>
        <p:nvPicPr>
          <p:cNvPr id="17" name="Image 2" descr="preencoded.png">    </p:cNvPr>
          <p:cNvPicPr>
            <a:picLocks noChangeAspect="1"/>
          </p:cNvPicPr>
          <p:nvPr/>
        </p:nvPicPr>
        <p:blipFill>
          <a:blip r:embed="rId3"/>
          <a:stretch>
            <a:fillRect/>
          </a:stretch>
        </p:blipFill>
        <p:spPr>
          <a:xfrm>
            <a:off x="5936651" y="3193451"/>
            <a:ext cx="215067" cy="215067"/>
          </a:xfrm>
          <a:prstGeom prst="rect">
            <a:avLst/>
          </a:prstGeom>
        </p:spPr>
      </p:pic>
      <p:sp>
        <p:nvSpPr>
          <p:cNvPr id="18" name="Text 13"/>
          <p:cNvSpPr txBox="1"/>
          <p:nvPr/>
        </p:nvSpPr>
        <p:spPr>
          <a:xfrm>
            <a:off x="6355080" y="3072384"/>
            <a:ext cx="2331720" cy="868680"/>
          </a:xfrm>
          <a:prstGeom prst="rect">
            <a:avLst/>
          </a:prstGeom>
          <a:noFill/>
          <a:ln/>
        </p:spPr>
        <p:txBody>
          <a:bodyPr wrap="square" lIns="0" tIns="0" rIns="0" bIns="0" rtlCol="0" anchor="t"/>
          <a:lstStyle/>
          <a:p>
            <a:pPr indent="0" marL="0">
              <a:buNone/>
            </a:pPr>
            <a:r>
              <a:rPr lang="en-US" sz="1400" dirty="0">
                <a:solidFill>
                  <a:srgbClr val="1B1F24"/>
                </a:solidFill>
              </a:rPr>
              <a:t>the app lists the seeded rows</a:t>
            </a:r>
            <a:endParaRPr lang="en-US" sz="1400" dirty="0"/>
          </a:p>
        </p:txBody>
      </p:sp>
      <p:sp>
        <p:nvSpPr>
          <p:cNvPr id="19" name="Shape 14"/>
          <p:cNvSpPr/>
          <p:nvPr/>
        </p:nvSpPr>
        <p:spPr>
          <a:xfrm>
            <a:off x="5852160" y="3840480"/>
            <a:ext cx="384048" cy="384048"/>
          </a:xfrm>
          <a:prstGeom prst="ellipse">
            <a:avLst/>
          </a:prstGeom>
          <a:solidFill>
            <a:srgbClr val="1FB68A"/>
          </a:solidFill>
          <a:ln w="12700">
            <a:solidFill>
              <a:srgbClr val="1FB68A"/>
            </a:solidFill>
            <a:prstDash val="solid"/>
          </a:ln>
        </p:spPr>
      </p:sp>
      <p:pic>
        <p:nvPicPr>
          <p:cNvPr id="20" name="Image 3" descr="preencoded.png">    </p:cNvPr>
          <p:cNvPicPr>
            <a:picLocks noChangeAspect="1"/>
          </p:cNvPicPr>
          <p:nvPr/>
        </p:nvPicPr>
        <p:blipFill>
          <a:blip r:embed="rId4"/>
          <a:stretch>
            <a:fillRect/>
          </a:stretch>
        </p:blipFill>
        <p:spPr>
          <a:xfrm>
            <a:off x="5936651" y="3924971"/>
            <a:ext cx="215067" cy="215067"/>
          </a:xfrm>
          <a:prstGeom prst="rect">
            <a:avLst/>
          </a:prstGeom>
        </p:spPr>
      </p:pic>
      <p:sp>
        <p:nvSpPr>
          <p:cNvPr id="21" name="Text 15"/>
          <p:cNvSpPr txBox="1"/>
          <p:nvPr/>
        </p:nvSpPr>
        <p:spPr>
          <a:xfrm>
            <a:off x="6355080" y="3803904"/>
            <a:ext cx="2331720" cy="868680"/>
          </a:xfrm>
          <a:prstGeom prst="rect">
            <a:avLst/>
          </a:prstGeom>
          <a:noFill/>
          <a:ln/>
        </p:spPr>
        <p:txBody>
          <a:bodyPr wrap="square" lIns="0" tIns="0" rIns="0" bIns="0" rtlCol="0" anchor="t"/>
          <a:lstStyle/>
          <a:p>
            <a:pPr indent="0" marL="0">
              <a:buNone/>
            </a:pPr>
            <a:r>
              <a:rPr lang="en-US" sz="1400" dirty="0">
                <a:solidFill>
                  <a:srgbClr val="1B1F24"/>
                </a:solidFill>
              </a:rPr>
              <a:t>your agent stopped: no MCP server yet, lab 02 still red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1F24"/>
                </a:solidFill>
              </a:rPr>
              <a:t>When the agent goes wrong: module 1</a:t>
            </a:r>
            <a:endParaRPr lang="en-US" sz="3200" dirty="0"/>
          </a:p>
        </p:txBody>
      </p:sp>
      <p:sp>
        <p:nvSpPr>
          <p:cNvPr id="3" name="snag-1"/>
          <p:cNvSpPr/>
          <p:nvPr/>
        </p:nvSpPr>
        <p:spPr>
          <a:xfrm>
            <a:off x="457200" y="1097280"/>
            <a:ext cx="8229600" cy="1051560"/>
          </a:xfrm>
          <a:prstGeom prst="roundRect">
            <a:avLst>
              <a:gd name="adj" fmla="val 6957"/>
            </a:avLst>
          </a:prstGeom>
          <a:solidFill>
            <a:srgbClr val="F1F5F9"/>
          </a:solidFill>
          <a:ln w="12700">
            <a:solidFill>
              <a:srgbClr val="F1F5F9"/>
            </a:solidFill>
            <a:prstDash val="solid"/>
          </a:ln>
        </p:spPr>
      </p:sp>
      <p:sp>
        <p:nvSpPr>
          <p:cNvPr id="4" name="Shape 2"/>
          <p:cNvSpPr/>
          <p:nvPr/>
        </p:nvSpPr>
        <p:spPr>
          <a:xfrm>
            <a:off x="685800" y="1371600"/>
            <a:ext cx="502920" cy="502920"/>
          </a:xfrm>
          <a:prstGeom prst="ellipse">
            <a:avLst/>
          </a:prstGeom>
          <a:solidFill>
            <a:srgbClr val="E69A28"/>
          </a:solidFill>
          <a:ln w="12700">
            <a:solidFill>
              <a:srgbClr val="E69A28"/>
            </a:solidFill>
            <a:prstDash val="solid"/>
          </a:ln>
        </p:spPr>
      </p:sp>
      <p:pic>
        <p:nvPicPr>
          <p:cNvPr id="5" name="Image 0" descr="preencoded.png">    </p:cNvPr>
          <p:cNvPicPr>
            <a:picLocks noChangeAspect="1"/>
          </p:cNvPicPr>
          <p:nvPr/>
        </p:nvPicPr>
        <p:blipFill>
          <a:blip r:embed="rId1"/>
          <a:stretch>
            <a:fillRect/>
          </a:stretch>
        </p:blipFill>
        <p:spPr>
          <a:xfrm>
            <a:off x="796442" y="1482242"/>
            <a:ext cx="281635" cy="281635"/>
          </a:xfrm>
          <a:prstGeom prst="rect">
            <a:avLst/>
          </a:prstGeom>
        </p:spPr>
      </p:pic>
      <p:sp>
        <p:nvSpPr>
          <p:cNvPr id="6" name="Text 3"/>
          <p:cNvSpPr txBox="1"/>
          <p:nvPr/>
        </p:nvSpPr>
        <p:spPr>
          <a:xfrm>
            <a:off x="1417320" y="1188720"/>
            <a:ext cx="7086600" cy="868680"/>
          </a:xfrm>
          <a:prstGeom prst="rect">
            <a:avLst/>
          </a:prstGeom>
          <a:noFill/>
          <a:ln/>
        </p:spPr>
        <p:txBody>
          <a:bodyPr wrap="square" lIns="0" tIns="0" rIns="0" bIns="0" rtlCol="0" anchor="ctr"/>
          <a:lstStyle/>
          <a:p>
            <a:pPr indent="0" marL="0">
              <a:buNone/>
            </a:pPr>
            <a:r>
              <a:rPr lang="en-US" sz="1600" b="1" dirty="0">
                <a:solidFill>
                  <a:srgbClr val="1B1F24"/>
                </a:solidFill>
              </a:rPr>
              <a:t>It runs db:generate for users</a:t>
            </a:r>
            <a:endParaRPr lang="en-US" sz="1600" dirty="0"/>
          </a:p>
          <a:p>
            <a:pPr indent="0" marL="0">
              <a:buNone/>
            </a:pPr>
            <a:r>
              <a:rPr lang="en-US" sz="1400" dirty="0">
                <a:solidFill>
                  <a:srgbClr val="2B3440"/>
                </a:solidFill>
              </a:rPr>
              <a:t>The table is provided: there is nothing to generate. npm run verify (check:migrations) proves it.</a:t>
            </a:r>
            <a:endParaRPr lang="en-US" sz="1600" dirty="0"/>
          </a:p>
        </p:txBody>
      </p:sp>
      <p:sp>
        <p:nvSpPr>
          <p:cNvPr id="7" name="snag-2"/>
          <p:cNvSpPr/>
          <p:nvPr/>
        </p:nvSpPr>
        <p:spPr>
          <a:xfrm>
            <a:off x="457200" y="2286000"/>
            <a:ext cx="8229600" cy="1051560"/>
          </a:xfrm>
          <a:prstGeom prst="roundRect">
            <a:avLst>
              <a:gd name="adj" fmla="val 6957"/>
            </a:avLst>
          </a:prstGeom>
          <a:solidFill>
            <a:srgbClr val="F1F5F9"/>
          </a:solidFill>
          <a:ln w="12700">
            <a:solidFill>
              <a:srgbClr val="F1F5F9"/>
            </a:solidFill>
            <a:prstDash val="solid"/>
          </a:ln>
        </p:spPr>
      </p:sp>
      <p:sp>
        <p:nvSpPr>
          <p:cNvPr id="8" name="Shape 5"/>
          <p:cNvSpPr/>
          <p:nvPr/>
        </p:nvSpPr>
        <p:spPr>
          <a:xfrm>
            <a:off x="685800" y="2560320"/>
            <a:ext cx="502920" cy="502920"/>
          </a:xfrm>
          <a:prstGeom prst="ellipse">
            <a:avLst/>
          </a:prstGeom>
          <a:solidFill>
            <a:srgbClr val="E69A28"/>
          </a:solidFill>
          <a:ln w="12700">
            <a:solidFill>
              <a:srgbClr val="E69A28"/>
            </a:solidFill>
            <a:prstDash val="solid"/>
          </a:ln>
        </p:spPr>
      </p:sp>
      <p:pic>
        <p:nvPicPr>
          <p:cNvPr id="9" name="Image 1" descr="preencoded.png">    </p:cNvPr>
          <p:cNvPicPr>
            <a:picLocks noChangeAspect="1"/>
          </p:cNvPicPr>
          <p:nvPr/>
        </p:nvPicPr>
        <p:blipFill>
          <a:blip r:embed="rId2"/>
          <a:stretch>
            <a:fillRect/>
          </a:stretch>
        </p:blipFill>
        <p:spPr>
          <a:xfrm>
            <a:off x="796442" y="2670962"/>
            <a:ext cx="281635" cy="281635"/>
          </a:xfrm>
          <a:prstGeom prst="rect">
            <a:avLst/>
          </a:prstGeom>
        </p:spPr>
      </p:pic>
      <p:sp>
        <p:nvSpPr>
          <p:cNvPr id="10" name="Text 6"/>
          <p:cNvSpPr txBox="1"/>
          <p:nvPr/>
        </p:nvSpPr>
        <p:spPr>
          <a:xfrm>
            <a:off x="1417320" y="2377440"/>
            <a:ext cx="7086600" cy="868680"/>
          </a:xfrm>
          <a:prstGeom prst="rect">
            <a:avLst/>
          </a:prstGeom>
          <a:noFill/>
          <a:ln/>
        </p:spPr>
        <p:txBody>
          <a:bodyPr wrap="square" lIns="0" tIns="0" rIns="0" bIns="0" rtlCol="0" anchor="ctr"/>
          <a:lstStyle/>
          <a:p>
            <a:pPr indent="0" marL="0">
              <a:buNone/>
            </a:pPr>
            <a:r>
              <a:rPr lang="en-US" sz="1600" b="1" dirty="0">
                <a:solidFill>
                  <a:srgbClr val="1B1F24"/>
                </a:solidFill>
              </a:rPr>
              <a:t>A bad dueAt answers 500</a:t>
            </a:r>
            <a:endParaRPr lang="en-US" sz="1600" dirty="0"/>
          </a:p>
          <a:p>
            <a:pPr indent="0" marL="0">
              <a:buNone/>
            </a:pPr>
            <a:r>
              <a:rPr lang="en-US" sz="1400" dirty="0">
                <a:solidFill>
                  <a:srgbClr val="2B3440"/>
                </a:solidFill>
              </a:rPr>
              <a:t>An .overwrite() still runs after the date check failed and throws. Use .transform(), or guard first; the scaffold skill lists it.</a:t>
            </a:r>
            <a:endParaRPr lang="en-US" sz="1600" dirty="0"/>
          </a:p>
        </p:txBody>
      </p:sp>
      <p:sp>
        <p:nvSpPr>
          <p:cNvPr id="11" name="snag-3"/>
          <p:cNvSpPr/>
          <p:nvPr/>
        </p:nvSpPr>
        <p:spPr>
          <a:xfrm>
            <a:off x="457200" y="3474720"/>
            <a:ext cx="8229600" cy="1051560"/>
          </a:xfrm>
          <a:prstGeom prst="roundRect">
            <a:avLst>
              <a:gd name="adj" fmla="val 6957"/>
            </a:avLst>
          </a:prstGeom>
          <a:solidFill>
            <a:srgbClr val="F1F5F9"/>
          </a:solidFill>
          <a:ln w="12700">
            <a:solidFill>
              <a:srgbClr val="F1F5F9"/>
            </a:solidFill>
            <a:prstDash val="solid"/>
          </a:ln>
        </p:spPr>
      </p:sp>
      <p:sp>
        <p:nvSpPr>
          <p:cNvPr id="12" name="Shape 8"/>
          <p:cNvSpPr/>
          <p:nvPr/>
        </p:nvSpPr>
        <p:spPr>
          <a:xfrm>
            <a:off x="685800" y="3749040"/>
            <a:ext cx="502920" cy="502920"/>
          </a:xfrm>
          <a:prstGeom prst="ellipse">
            <a:avLst/>
          </a:prstGeom>
          <a:solidFill>
            <a:srgbClr val="E69A28"/>
          </a:solidFill>
          <a:ln w="12700">
            <a:solidFill>
              <a:srgbClr val="E69A28"/>
            </a:solidFill>
            <a:prstDash val="solid"/>
          </a:ln>
        </p:spPr>
      </p:sp>
      <p:pic>
        <p:nvPicPr>
          <p:cNvPr id="13" name="Image 2" descr="preencoded.png">    </p:cNvPr>
          <p:cNvPicPr>
            <a:picLocks noChangeAspect="1"/>
          </p:cNvPicPr>
          <p:nvPr/>
        </p:nvPicPr>
        <p:blipFill>
          <a:blip r:embed="rId3"/>
          <a:stretch>
            <a:fillRect/>
          </a:stretch>
        </p:blipFill>
        <p:spPr>
          <a:xfrm>
            <a:off x="796442" y="3859682"/>
            <a:ext cx="281635" cy="281635"/>
          </a:xfrm>
          <a:prstGeom prst="rect">
            <a:avLst/>
          </a:prstGeom>
        </p:spPr>
      </p:pic>
      <p:sp>
        <p:nvSpPr>
          <p:cNvPr id="14" name="Text 9"/>
          <p:cNvSpPr txBox="1"/>
          <p:nvPr/>
        </p:nvSpPr>
        <p:spPr>
          <a:xfrm>
            <a:off x="1417320" y="3566160"/>
            <a:ext cx="7086600" cy="868680"/>
          </a:xfrm>
          <a:prstGeom prst="rect">
            <a:avLst/>
          </a:prstGeom>
          <a:noFill/>
          <a:ln/>
        </p:spPr>
        <p:txBody>
          <a:bodyPr wrap="square" lIns="0" tIns="0" rIns="0" bIns="0" rtlCol="0" anchor="ctr"/>
          <a:lstStyle/>
          <a:p>
            <a:pPr indent="0" marL="0">
              <a:buNone/>
            </a:pPr>
            <a:r>
              <a:rPr lang="en-US" sz="1600" b="1" dirty="0">
                <a:solidFill>
                  <a:srgbClr val="1B1F24"/>
                </a:solidFill>
              </a:rPr>
              <a:t>It counts notes before deleting a user</a:t>
            </a:r>
            <a:endParaRPr lang="en-US" sz="1600" dirty="0"/>
          </a:p>
          <a:p>
            <a:pPr indent="0" marL="0">
              <a:buNone/>
            </a:pPr>
            <a:r>
              <a:rPr lang="en-US" sz="1400" dirty="0">
                <a:solidFill>
                  <a:srgbClr val="2B3440"/>
                </a:solidFill>
              </a:rPr>
              <a:t>A second copy of a rule the foreign key already enforces. Let the database refuse; map the error.</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1097280"/>
            <a:ext cx="5486400" cy="365760"/>
          </a:xfrm>
          <a:prstGeom prst="rect">
            <a:avLst/>
          </a:prstGeom>
          <a:noFill/>
          <a:ln/>
        </p:spPr>
        <p:txBody>
          <a:bodyPr wrap="square" lIns="0" tIns="0" rIns="0" bIns="0" rtlCol="0"/>
          <a:lstStyle/>
          <a:p>
            <a:pPr indent="0" marL="0">
              <a:buNone/>
            </a:pPr>
            <a:r>
              <a:rPr lang="en-US" sz="1400" b="1" spc="300" kern="0" dirty="0">
                <a:solidFill>
                  <a:srgbClr val="1FB68A"/>
                </a:solidFill>
              </a:rPr>
              <a:t>MODULE 2</a:t>
            </a:r>
            <a:endParaRPr lang="en-US" sz="1400" dirty="0"/>
          </a:p>
        </p:txBody>
      </p:sp>
      <p:sp>
        <p:nvSpPr>
          <p:cNvPr id="3" name="Text 0"/>
          <p:cNvSpPr/>
          <p:nvPr>
            <p:ph idx="101" type="title" hasCustomPrompt="1"/>
          </p:nvPr>
        </p:nvSpPr>
        <p:spPr>
          <a:xfrm>
            <a:off x="548640" y="1508760"/>
            <a:ext cx="8046720" cy="914400"/>
          </a:xfrm>
          <a:prstGeom prst="rect">
            <a:avLst/>
          </a:prstGeom>
          <a:noFill/>
          <a:ln/>
        </p:spPr>
        <p:txBody>
          <a:bodyPr wrap="square" lIns="0" tIns="0" rIns="0" bIns="0" rtlCol="0" anchor="t"/>
          <a:lstStyle/>
          <a:p>
            <a:pPr algn="l" indent="0" marL="0">
              <a:buNone/>
            </a:pPr>
            <a:r>
              <a:rPr lang="en-US" sz="4000" b="1" dirty="0">
                <a:solidFill>
                  <a:srgbClr val="FFFFFF"/>
                </a:solidFill>
              </a:rPr>
              <a:t>An MCP server on your data</a:t>
            </a:r>
            <a:endParaRPr lang="en-US" sz="4000" dirty="0"/>
          </a:p>
        </p:txBody>
      </p:sp>
      <p:sp>
        <p:nvSpPr>
          <p:cNvPr id="4" name="Text 0"/>
          <p:cNvSpPr/>
          <p:nvPr>
            <p:ph idx="102" type="body" hasCustomPrompt="1"/>
          </p:nvPr>
        </p:nvSpPr>
        <p:spPr>
          <a:xfrm>
            <a:off x="548640" y="2560320"/>
            <a:ext cx="5669280" cy="1097280"/>
          </a:xfrm>
          <a:prstGeom prst="rect">
            <a:avLst/>
          </a:prstGeom>
          <a:noFill/>
          <a:ln/>
        </p:spPr>
        <p:txBody>
          <a:bodyPr wrap="square" lIns="0" tIns="0" rIns="0" bIns="0" rtlCol="0" anchor="t"/>
          <a:lstStyle/>
          <a:p>
            <a:pPr indent="0" marL="0">
              <a:buNone/>
            </a:pPr>
            <a:r>
              <a:rPr lang="en-US" sz="1800" dirty="0">
                <a:solidFill>
                  <a:srgbClr val="CBD5E1"/>
                </a:solidFill>
              </a:rPr>
              <a:t>Your agent builds an MCP server that queries and changes the database; you connect it to Claude Desktop and have Claude read and write your data.</a:t>
            </a:r>
            <a:endParaRPr lang="en-US" sz="1800" dirty="0"/>
          </a:p>
        </p:txBody>
      </p:sp>
      <p:sp>
        <p:nvSpPr>
          <p:cNvPr id="5" name="Shape 3"/>
          <p:cNvSpPr/>
          <p:nvPr/>
        </p:nvSpPr>
        <p:spPr>
          <a:xfrm>
            <a:off x="6675120" y="2560320"/>
            <a:ext cx="2011680" cy="1097280"/>
          </a:xfrm>
          <a:prstGeom prst="roundRect">
            <a:avLst>
              <a:gd name="adj" fmla="val 8333"/>
            </a:avLst>
          </a:prstGeom>
          <a:solidFill>
            <a:srgbClr val="2B3440"/>
          </a:solidFill>
          <a:ln w="12700">
            <a:solidFill>
              <a:srgbClr val="2B3440"/>
            </a:solidFill>
            <a:prstDash val="solid"/>
          </a:ln>
        </p:spPr>
      </p:sp>
      <p:sp>
        <p:nvSpPr>
          <p:cNvPr id="6" name="Shape 4"/>
          <p:cNvSpPr/>
          <p:nvPr/>
        </p:nvSpPr>
        <p:spPr>
          <a:xfrm>
            <a:off x="6858000" y="2788920"/>
            <a:ext cx="640080" cy="640080"/>
          </a:xfrm>
          <a:prstGeom prst="ellipse">
            <a:avLst/>
          </a:prstGeom>
          <a:solidFill>
            <a:srgbClr val="1FB68A"/>
          </a:solidFill>
          <a:ln w="12700">
            <a:solidFill>
              <a:srgbClr val="1FB68A"/>
            </a:solidFill>
            <a:prstDash val="solid"/>
          </a:ln>
        </p:spPr>
      </p:sp>
      <p:pic>
        <p:nvPicPr>
          <p:cNvPr id="7" name="Image 0" descr="preencoded.png">    </p:cNvPr>
          <p:cNvPicPr>
            <a:picLocks noChangeAspect="1"/>
          </p:cNvPicPr>
          <p:nvPr/>
        </p:nvPicPr>
        <p:blipFill>
          <a:blip r:embed="rId1"/>
          <a:stretch>
            <a:fillRect/>
          </a:stretch>
        </p:blipFill>
        <p:spPr>
          <a:xfrm>
            <a:off x="6998818" y="2929738"/>
            <a:ext cx="358445" cy="358445"/>
          </a:xfrm>
          <a:prstGeom prst="rect">
            <a:avLst/>
          </a:prstGeom>
        </p:spPr>
      </p:pic>
      <p:sp>
        <p:nvSpPr>
          <p:cNvPr id="8" name="Text 5"/>
          <p:cNvSpPr txBox="1"/>
          <p:nvPr/>
        </p:nvSpPr>
        <p:spPr>
          <a:xfrm>
            <a:off x="7589520" y="2697480"/>
            <a:ext cx="1051560" cy="822960"/>
          </a:xfrm>
          <a:prstGeom prst="rect">
            <a:avLst/>
          </a:prstGeom>
          <a:noFill/>
          <a:ln/>
        </p:spPr>
        <p:txBody>
          <a:bodyPr wrap="square" lIns="0" tIns="0" rIns="0" bIns="0" rtlCol="0" anchor="ctr"/>
          <a:lstStyle/>
          <a:p>
            <a:pPr indent="0" marL="0">
              <a:buNone/>
            </a:pPr>
            <a:r>
              <a:rPr lang="en-US" sz="2200" b="1" dirty="0">
                <a:solidFill>
                  <a:srgbClr val="FFFFFF"/>
                </a:solidFill>
              </a:rPr>
              <a:t>15 min</a:t>
            </a:r>
            <a:endParaRPr lang="en-US" sz="2200" dirty="0"/>
          </a:p>
          <a:p>
            <a:pPr indent="0" marL="0">
              <a:buNone/>
            </a:pPr>
            <a:r>
              <a:rPr lang="en-US" sz="1100" dirty="0">
                <a:solidFill>
                  <a:srgbClr val="CBD5E1"/>
                </a:solidFill>
              </a:rPr>
              <a:t>lab (draft)</a:t>
            </a:r>
            <a:endParaRPr lang="en-US" sz="2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1F24"/>
                </a:solidFill>
              </a:rPr>
              <a:t>MCP next to REST: a second front door</a:t>
            </a:r>
            <a:endParaRPr lang="en-US" sz="3200" dirty="0"/>
          </a:p>
        </p:txBody>
      </p:sp>
      <p:sp>
        <p:nvSpPr>
          <p:cNvPr id="3" name="Text 1"/>
          <p:cNvSpPr txBox="1"/>
          <p:nvPr/>
        </p:nvSpPr>
        <p:spPr>
          <a:xfrm>
            <a:off x="457200" y="914400"/>
            <a:ext cx="2743200" cy="274320"/>
          </a:xfrm>
          <a:prstGeom prst="rect">
            <a:avLst/>
          </a:prstGeom>
          <a:noFill/>
          <a:ln/>
        </p:spPr>
        <p:txBody>
          <a:bodyPr wrap="square" lIns="0" tIns="0" rIns="0" bIns="0" rtlCol="0" anchor="ctr"/>
          <a:lstStyle/>
          <a:p>
            <a:pPr indent="0" marL="0">
              <a:buNone/>
            </a:pPr>
            <a:r>
              <a:rPr lang="en-US" sz="1200" b="1" dirty="0">
                <a:solidFill>
                  <a:srgbClr val="1B1F24"/>
                </a:solidFill>
              </a:rPr>
              <a:t>REST · module 1</a:t>
            </a:r>
            <a:endParaRPr lang="en-US" sz="1200" dirty="0"/>
          </a:p>
        </p:txBody>
      </p:sp>
      <p:sp>
        <p:nvSpPr>
          <p:cNvPr id="4" name="Text 2"/>
          <p:cNvSpPr txBox="1"/>
          <p:nvPr/>
        </p:nvSpPr>
        <p:spPr>
          <a:xfrm>
            <a:off x="5943600" y="914400"/>
            <a:ext cx="2743200" cy="274320"/>
          </a:xfrm>
          <a:prstGeom prst="rect">
            <a:avLst/>
          </a:prstGeom>
          <a:noFill/>
          <a:ln/>
        </p:spPr>
        <p:txBody>
          <a:bodyPr wrap="square" lIns="0" tIns="0" rIns="0" bIns="0" rtlCol="0" anchor="ctr"/>
          <a:lstStyle/>
          <a:p>
            <a:pPr algn="r" indent="0" marL="0">
              <a:buNone/>
            </a:pPr>
            <a:r>
              <a:rPr lang="en-US" sz="1200" b="1" dirty="0">
                <a:solidFill>
                  <a:srgbClr val="1B1F24"/>
                </a:solidFill>
              </a:rPr>
              <a:t>MCP · module 2</a:t>
            </a:r>
            <a:endParaRPr lang="en-US" sz="1200" dirty="0"/>
          </a:p>
        </p:txBody>
      </p:sp>
      <p:sp>
        <p:nvSpPr>
          <p:cNvPr id="5" name="rest-client"/>
          <p:cNvSpPr/>
          <p:nvPr/>
        </p:nvSpPr>
        <p:spPr>
          <a:xfrm>
            <a:off x="457200" y="1234440"/>
            <a:ext cx="2743200" cy="502920"/>
          </a:xfrm>
          <a:prstGeom prst="roundRect">
            <a:avLst>
              <a:gd name="adj" fmla="val 18182"/>
            </a:avLst>
          </a:prstGeom>
          <a:solidFill>
            <a:srgbClr val="1B1F24"/>
          </a:solidFill>
          <a:ln w="12700">
            <a:solidFill>
              <a:srgbClr val="1B1F24"/>
            </a:solidFill>
            <a:prstDash val="solid"/>
          </a:ln>
        </p:spPr>
      </p:sp>
      <p:sp>
        <p:nvSpPr>
          <p:cNvPr id="6" name="Text 4"/>
          <p:cNvSpPr txBox="1"/>
          <p:nvPr/>
        </p:nvSpPr>
        <p:spPr>
          <a:xfrm>
            <a:off x="457200" y="1234440"/>
            <a:ext cx="2743200" cy="502920"/>
          </a:xfrm>
          <a:prstGeom prst="rect">
            <a:avLst/>
          </a:prstGeom>
          <a:noFill/>
          <a:ln/>
        </p:spPr>
        <p:txBody>
          <a:bodyPr wrap="square" lIns="25400" tIns="25400" rIns="25400" bIns="25400" rtlCol="0" anchor="ctr"/>
          <a:lstStyle/>
          <a:p>
            <a:pPr algn="ctr" indent="0" marL="0">
              <a:buNone/>
            </a:pPr>
            <a:r>
              <a:rPr lang="en-US" sz="1400" b="1" dirty="0">
                <a:solidFill>
                  <a:srgbClr val="FFFFFF"/>
                </a:solidFill>
              </a:rPr>
              <a:t>Browser · /playground</a:t>
            </a:r>
            <a:endParaRPr lang="en-US" sz="1400" dirty="0"/>
          </a:p>
        </p:txBody>
      </p:sp>
      <p:sp>
        <p:nvSpPr>
          <p:cNvPr id="7" name="mcp-client"/>
          <p:cNvSpPr/>
          <p:nvPr/>
        </p:nvSpPr>
        <p:spPr>
          <a:xfrm>
            <a:off x="5943600" y="1234440"/>
            <a:ext cx="2743200" cy="502920"/>
          </a:xfrm>
          <a:prstGeom prst="roundRect">
            <a:avLst>
              <a:gd name="adj" fmla="val 18182"/>
            </a:avLst>
          </a:prstGeom>
          <a:solidFill>
            <a:srgbClr val="1B1F24"/>
          </a:solidFill>
          <a:ln w="12700">
            <a:solidFill>
              <a:srgbClr val="1B1F24"/>
            </a:solidFill>
            <a:prstDash val="solid"/>
          </a:ln>
        </p:spPr>
      </p:sp>
      <p:sp>
        <p:nvSpPr>
          <p:cNvPr id="8" name="Text 6"/>
          <p:cNvSpPr txBox="1"/>
          <p:nvPr/>
        </p:nvSpPr>
        <p:spPr>
          <a:xfrm>
            <a:off x="5943600" y="1234440"/>
            <a:ext cx="2743200" cy="502920"/>
          </a:xfrm>
          <a:prstGeom prst="rect">
            <a:avLst/>
          </a:prstGeom>
          <a:noFill/>
          <a:ln/>
        </p:spPr>
        <p:txBody>
          <a:bodyPr wrap="square" lIns="25400" tIns="25400" rIns="25400" bIns="25400" rtlCol="0" anchor="ctr"/>
          <a:lstStyle/>
          <a:p>
            <a:pPr algn="ctr" indent="0" marL="0">
              <a:buNone/>
            </a:pPr>
            <a:r>
              <a:rPr lang="en-US" sz="1400" b="1" dirty="0">
                <a:solidFill>
                  <a:srgbClr val="FFFFFF"/>
                </a:solidFill>
              </a:rPr>
              <a:t>Claude Desktop</a:t>
            </a:r>
            <a:endParaRPr lang="en-US" sz="1400" dirty="0"/>
          </a:p>
        </p:txBody>
      </p:sp>
      <p:sp>
        <p:nvSpPr>
          <p:cNvPr id="9" name="Shape 7"/>
          <p:cNvSpPr/>
          <p:nvPr/>
        </p:nvSpPr>
        <p:spPr>
          <a:xfrm>
            <a:off x="1828800" y="1764792"/>
            <a:ext cx="0" cy="475488"/>
          </a:xfrm>
          <a:prstGeom prst="line">
            <a:avLst/>
          </a:prstGeom>
          <a:noFill/>
          <a:ln w="25400">
            <a:solidFill>
              <a:srgbClr val="64748B"/>
            </a:solidFill>
            <a:prstDash val="solid"/>
            <a:tailEnd type="triangle"/>
          </a:ln>
        </p:spPr>
      </p:sp>
      <p:sp>
        <p:nvSpPr>
          <p:cNvPr id="10" name="Text 8"/>
          <p:cNvSpPr txBox="1"/>
          <p:nvPr/>
        </p:nvSpPr>
        <p:spPr>
          <a:xfrm>
            <a:off x="1965960" y="1810512"/>
            <a:ext cx="1463040" cy="411480"/>
          </a:xfrm>
          <a:prstGeom prst="rect">
            <a:avLst/>
          </a:prstGeom>
          <a:noFill/>
          <a:ln/>
        </p:spPr>
        <p:txBody>
          <a:bodyPr wrap="square" lIns="0" tIns="0" rIns="0" bIns="0" rtlCol="0" anchor="ctr"/>
          <a:lstStyle/>
          <a:p>
            <a:pPr indent="0" marL="0">
              <a:buNone/>
            </a:pPr>
            <a:r>
              <a:rPr lang="en-US" sz="1000" dirty="0">
                <a:solidFill>
                  <a:srgbClr val="2B3440"/>
                </a:solidFill>
              </a:rPr>
              <a:t>HTTP: GET /api/v1/notes</a:t>
            </a:r>
            <a:endParaRPr lang="en-US" sz="1000" dirty="0"/>
          </a:p>
        </p:txBody>
      </p:sp>
      <p:sp>
        <p:nvSpPr>
          <p:cNvPr id="11" name="Shape 9"/>
          <p:cNvSpPr/>
          <p:nvPr/>
        </p:nvSpPr>
        <p:spPr>
          <a:xfrm>
            <a:off x="7315200" y="1764792"/>
            <a:ext cx="0" cy="475488"/>
          </a:xfrm>
          <a:prstGeom prst="line">
            <a:avLst/>
          </a:prstGeom>
          <a:noFill/>
          <a:ln w="25400">
            <a:solidFill>
              <a:srgbClr val="64748B"/>
            </a:solidFill>
            <a:prstDash val="solid"/>
            <a:tailEnd type="triangle"/>
          </a:ln>
        </p:spPr>
      </p:sp>
      <p:sp>
        <p:nvSpPr>
          <p:cNvPr id="12" name="Text 10"/>
          <p:cNvSpPr txBox="1"/>
          <p:nvPr/>
        </p:nvSpPr>
        <p:spPr>
          <a:xfrm>
            <a:off x="5394960" y="1810512"/>
            <a:ext cx="1783080" cy="411480"/>
          </a:xfrm>
          <a:prstGeom prst="rect">
            <a:avLst/>
          </a:prstGeom>
          <a:noFill/>
          <a:ln/>
        </p:spPr>
        <p:txBody>
          <a:bodyPr wrap="square" lIns="0" tIns="0" rIns="0" bIns="0" rtlCol="0" anchor="ctr"/>
          <a:lstStyle/>
          <a:p>
            <a:pPr algn="r" indent="0" marL="0">
              <a:buNone/>
            </a:pPr>
            <a:r>
              <a:rPr lang="en-US" sz="1000" dirty="0">
                <a:solidFill>
                  <a:srgbClr val="2B3440"/>
                </a:solidFill>
              </a:rPr>
              <a:t>JSON-RPC over stdio: tools/call</a:t>
            </a:r>
            <a:endParaRPr lang="en-US" sz="1000" dirty="0"/>
          </a:p>
        </p:txBody>
      </p:sp>
      <p:sp>
        <p:nvSpPr>
          <p:cNvPr id="13" name="controller"/>
          <p:cNvSpPr/>
          <p:nvPr/>
        </p:nvSpPr>
        <p:spPr>
          <a:xfrm>
            <a:off x="457200" y="2286000"/>
            <a:ext cx="2743200" cy="594360"/>
          </a:xfrm>
          <a:prstGeom prst="roundRect">
            <a:avLst>
              <a:gd name="adj" fmla="val 15385"/>
            </a:avLst>
          </a:prstGeom>
          <a:solidFill>
            <a:srgbClr val="1FB68A"/>
          </a:solidFill>
          <a:ln w="12700">
            <a:solidFill>
              <a:srgbClr val="1FB68A"/>
            </a:solidFill>
            <a:prstDash val="solid"/>
          </a:ln>
        </p:spPr>
      </p:sp>
      <p:sp>
        <p:nvSpPr>
          <p:cNvPr id="14" name="Text 12"/>
          <p:cNvSpPr txBox="1"/>
          <p:nvPr/>
        </p:nvSpPr>
        <p:spPr>
          <a:xfrm>
            <a:off x="457200" y="2286000"/>
            <a:ext cx="2743200" cy="594360"/>
          </a:xfrm>
          <a:prstGeom prst="rect">
            <a:avLst/>
          </a:prstGeom>
          <a:noFill/>
          <a:ln/>
        </p:spPr>
        <p:txBody>
          <a:bodyPr wrap="square" lIns="25400" tIns="25400" rIns="25400" bIns="25400" rtlCol="0" anchor="ctr"/>
          <a:lstStyle/>
          <a:p>
            <a:pPr algn="ctr" indent="0" marL="0">
              <a:buNone/>
            </a:pPr>
            <a:r>
              <a:rPr lang="en-US" sz="1500" b="1" dirty="0">
                <a:solidFill>
                  <a:srgbClr val="FFFFFF"/>
                </a:solidFill>
              </a:rPr>
              <a:t>Controller (routes)</a:t>
            </a:r>
            <a:endParaRPr lang="en-US" sz="1500" dirty="0"/>
          </a:p>
        </p:txBody>
      </p:sp>
      <p:sp>
        <p:nvSpPr>
          <p:cNvPr id="15" name="mcp-tools"/>
          <p:cNvSpPr/>
          <p:nvPr/>
        </p:nvSpPr>
        <p:spPr>
          <a:xfrm>
            <a:off x="5943600" y="2286000"/>
            <a:ext cx="2743200" cy="594360"/>
          </a:xfrm>
          <a:prstGeom prst="roundRect">
            <a:avLst>
              <a:gd name="adj" fmla="val 15385"/>
            </a:avLst>
          </a:prstGeom>
          <a:solidFill>
            <a:srgbClr val="E69A28"/>
          </a:solidFill>
          <a:ln w="12700">
            <a:solidFill>
              <a:srgbClr val="E69A28"/>
            </a:solidFill>
            <a:prstDash val="solid"/>
          </a:ln>
        </p:spPr>
      </p:sp>
      <p:sp>
        <p:nvSpPr>
          <p:cNvPr id="16" name="Text 14"/>
          <p:cNvSpPr txBox="1"/>
          <p:nvPr/>
        </p:nvSpPr>
        <p:spPr>
          <a:xfrm>
            <a:off x="5943600" y="2286000"/>
            <a:ext cx="2743200" cy="594360"/>
          </a:xfrm>
          <a:prstGeom prst="rect">
            <a:avLst/>
          </a:prstGeom>
          <a:noFill/>
          <a:ln/>
        </p:spPr>
        <p:txBody>
          <a:bodyPr wrap="square" lIns="25400" tIns="25400" rIns="25400" bIns="25400" rtlCol="0" anchor="ctr"/>
          <a:lstStyle/>
          <a:p>
            <a:pPr algn="ctr" indent="0" marL="0">
              <a:buNone/>
            </a:pPr>
            <a:r>
              <a:rPr lang="en-US" sz="1500" b="1" dirty="0">
                <a:solidFill>
                  <a:srgbClr val="FFFFFF"/>
                </a:solidFill>
              </a:rPr>
              <a:t>MCP server (tools)</a:t>
            </a:r>
            <a:endParaRPr lang="en-US" sz="1500" dirty="0"/>
          </a:p>
        </p:txBody>
      </p:sp>
      <p:sp>
        <p:nvSpPr>
          <p:cNvPr id="17" name="Shape 15"/>
          <p:cNvSpPr/>
          <p:nvPr/>
        </p:nvSpPr>
        <p:spPr>
          <a:xfrm>
            <a:off x="1828800" y="2907792"/>
            <a:ext cx="1828800" cy="338328"/>
          </a:xfrm>
          <a:prstGeom prst="line">
            <a:avLst/>
          </a:prstGeom>
          <a:noFill/>
          <a:ln w="25400">
            <a:solidFill>
              <a:srgbClr val="64748B"/>
            </a:solidFill>
            <a:prstDash val="solid"/>
            <a:tailEnd type="triangle"/>
          </a:ln>
        </p:spPr>
      </p:sp>
      <p:sp>
        <p:nvSpPr>
          <p:cNvPr id="18" name="Shape 16"/>
          <p:cNvSpPr/>
          <p:nvPr/>
        </p:nvSpPr>
        <p:spPr>
          <a:xfrm flipH="1">
            <a:off x="5486400" y="2907792"/>
            <a:ext cx="1828800" cy="338328"/>
          </a:xfrm>
          <a:prstGeom prst="line">
            <a:avLst/>
          </a:prstGeom>
          <a:noFill/>
          <a:ln w="25400">
            <a:solidFill>
              <a:srgbClr val="64748B"/>
            </a:solidFill>
            <a:prstDash val="solid"/>
            <a:tailEnd type="triangle"/>
          </a:ln>
        </p:spPr>
      </p:sp>
      <p:sp>
        <p:nvSpPr>
          <p:cNvPr id="19" name="services"/>
          <p:cNvSpPr/>
          <p:nvPr/>
        </p:nvSpPr>
        <p:spPr>
          <a:xfrm>
            <a:off x="2743200" y="3246120"/>
            <a:ext cx="3657600" cy="548640"/>
          </a:xfrm>
          <a:prstGeom prst="roundRect">
            <a:avLst>
              <a:gd name="adj" fmla="val 16667"/>
            </a:avLst>
          </a:prstGeom>
          <a:solidFill>
            <a:srgbClr val="1FB68A"/>
          </a:solidFill>
          <a:ln w="12700">
            <a:solidFill>
              <a:srgbClr val="1FB68A"/>
            </a:solidFill>
            <a:prstDash val="solid"/>
          </a:ln>
        </p:spPr>
      </p:sp>
      <p:sp>
        <p:nvSpPr>
          <p:cNvPr id="20" name="Text 18"/>
          <p:cNvSpPr txBox="1"/>
          <p:nvPr/>
        </p:nvSpPr>
        <p:spPr>
          <a:xfrm>
            <a:off x="2743200" y="3246120"/>
            <a:ext cx="3657600" cy="548640"/>
          </a:xfrm>
          <a:prstGeom prst="rect">
            <a:avLst/>
          </a:prstGeom>
          <a:noFill/>
          <a:ln/>
        </p:spPr>
        <p:txBody>
          <a:bodyPr wrap="square" lIns="25400" tIns="25400" rIns="25400" bIns="25400" rtlCol="0" anchor="ctr"/>
          <a:lstStyle/>
          <a:p>
            <a:pPr algn="ctr" indent="0" marL="0">
              <a:buNone/>
            </a:pPr>
            <a:r>
              <a:rPr lang="en-US" sz="1500" b="1" dirty="0">
                <a:solidFill>
                  <a:srgbClr val="FFFFFF"/>
                </a:solidFill>
              </a:rPr>
              <a:t>Services: the rules (module 1)</a:t>
            </a:r>
            <a:endParaRPr lang="en-US" sz="1500" dirty="0"/>
          </a:p>
        </p:txBody>
      </p:sp>
      <p:sp>
        <p:nvSpPr>
          <p:cNvPr id="21" name="Shape 19"/>
          <p:cNvSpPr/>
          <p:nvPr/>
        </p:nvSpPr>
        <p:spPr>
          <a:xfrm>
            <a:off x="4572000" y="3813048"/>
            <a:ext cx="0" cy="274320"/>
          </a:xfrm>
          <a:prstGeom prst="line">
            <a:avLst/>
          </a:prstGeom>
          <a:noFill/>
          <a:ln w="25400">
            <a:solidFill>
              <a:srgbClr val="64748B"/>
            </a:solidFill>
            <a:prstDash val="solid"/>
            <a:tailEnd type="triangle"/>
          </a:ln>
        </p:spPr>
      </p:sp>
      <p:sp>
        <p:nvSpPr>
          <p:cNvPr id="22" name="database"/>
          <p:cNvSpPr/>
          <p:nvPr/>
        </p:nvSpPr>
        <p:spPr>
          <a:xfrm>
            <a:off x="2743200" y="4114800"/>
            <a:ext cx="3657600" cy="457200"/>
          </a:xfrm>
          <a:prstGeom prst="roundRect">
            <a:avLst>
              <a:gd name="adj" fmla="val 20000"/>
            </a:avLst>
          </a:prstGeom>
          <a:solidFill>
            <a:srgbClr val="1B1F24"/>
          </a:solidFill>
          <a:ln w="12700">
            <a:solidFill>
              <a:srgbClr val="1B1F24"/>
            </a:solidFill>
            <a:prstDash val="solid"/>
          </a:ln>
        </p:spPr>
      </p:sp>
      <p:sp>
        <p:nvSpPr>
          <p:cNvPr id="23" name="Text 21"/>
          <p:cNvSpPr txBox="1"/>
          <p:nvPr/>
        </p:nvSpPr>
        <p:spPr>
          <a:xfrm>
            <a:off x="2743200" y="4114800"/>
            <a:ext cx="3657600" cy="457200"/>
          </a:xfrm>
          <a:prstGeom prst="rect">
            <a:avLst/>
          </a:prstGeom>
          <a:noFill/>
          <a:ln/>
        </p:spPr>
        <p:txBody>
          <a:bodyPr wrap="square" lIns="25400" tIns="25400" rIns="25400" bIns="25400" rtlCol="0" anchor="ctr"/>
          <a:lstStyle/>
          <a:p>
            <a:pPr algn="ctr" indent="0" marL="0">
              <a:buNone/>
            </a:pPr>
            <a:r>
              <a:rPr lang="en-US" sz="1400" b="1" dirty="0">
                <a:solidFill>
                  <a:srgbClr val="FFFFFF"/>
                </a:solidFill>
              </a:rPr>
              <a:t>Repository → data/app.db</a:t>
            </a:r>
            <a:endParaRPr lang="en-US" sz="1400" dirty="0"/>
          </a:p>
        </p:txBody>
      </p:sp>
      <p:sp>
        <p:nvSpPr>
          <p:cNvPr id="24" name="Shape 22"/>
          <p:cNvSpPr/>
          <p:nvPr/>
        </p:nvSpPr>
        <p:spPr>
          <a:xfrm>
            <a:off x="8412480" y="2907792"/>
            <a:ext cx="0" cy="1435608"/>
          </a:xfrm>
          <a:prstGeom prst="line">
            <a:avLst/>
          </a:prstGeom>
          <a:noFill/>
          <a:ln w="19050">
            <a:solidFill>
              <a:srgbClr val="E69A28"/>
            </a:solidFill>
            <a:prstDash val="dash"/>
          </a:ln>
        </p:spPr>
      </p:sp>
      <p:sp>
        <p:nvSpPr>
          <p:cNvPr id="25" name="Shape 23"/>
          <p:cNvSpPr/>
          <p:nvPr/>
        </p:nvSpPr>
        <p:spPr>
          <a:xfrm flipH="1">
            <a:off x="6428232" y="4343400"/>
            <a:ext cx="1984248" cy="0"/>
          </a:xfrm>
          <a:prstGeom prst="line">
            <a:avLst/>
          </a:prstGeom>
          <a:noFill/>
          <a:ln w="19050">
            <a:solidFill>
              <a:srgbClr val="E69A28"/>
            </a:solidFill>
            <a:prstDash val="dash"/>
            <a:tailEnd type="triangle"/>
          </a:ln>
        </p:spPr>
      </p:sp>
      <p:sp>
        <p:nvSpPr>
          <p:cNvPr id="26" name="Text 24"/>
          <p:cNvSpPr txBox="1"/>
          <p:nvPr/>
        </p:nvSpPr>
        <p:spPr>
          <a:xfrm>
            <a:off x="6583680" y="3246120"/>
            <a:ext cx="1737360" cy="548640"/>
          </a:xfrm>
          <a:prstGeom prst="rect">
            <a:avLst/>
          </a:prstGeom>
          <a:noFill/>
          <a:ln/>
        </p:spPr>
        <p:txBody>
          <a:bodyPr wrap="square" lIns="0" tIns="0" rIns="0" bIns="0" rtlCol="0" anchor="ctr"/>
          <a:lstStyle/>
          <a:p>
            <a:pPr indent="0" marL="0">
              <a:buNone/>
            </a:pPr>
            <a:r>
              <a:rPr lang="en-US" sz="1000" dirty="0">
                <a:solidFill>
                  <a:srgbClr val="2B3440"/>
                </a:solidFill>
              </a:rPr>
              <a:t>query · execute: SQL straight to the database, guarded by the server</a:t>
            </a:r>
            <a:endParaRPr lang="en-US" sz="1000" dirty="0"/>
          </a:p>
        </p:txBody>
      </p:sp>
      <p:sp>
        <p:nvSpPr>
          <p:cNvPr id="27" name="Text 25"/>
          <p:cNvSpPr txBox="1"/>
          <p:nvPr/>
        </p:nvSpPr>
        <p:spPr>
          <a:xfrm>
            <a:off x="457200" y="3291840"/>
            <a:ext cx="2148840" cy="1280160"/>
          </a:xfrm>
          <a:prstGeom prst="rect">
            <a:avLst/>
          </a:prstGeom>
          <a:noFill/>
          <a:ln/>
        </p:spPr>
        <p:txBody>
          <a:bodyPr wrap="square" lIns="0" tIns="0" rIns="0" bIns="0" rtlCol="0" anchor="ctr"/>
          <a:lstStyle/>
          <a:p>
            <a:pPr indent="0" marL="0">
              <a:buNone/>
            </a:pPr>
            <a:r>
              <a:rPr lang="en-US" sz="1000" dirty="0">
                <a:solidFill>
                  <a:srgbClr val="2B3440"/>
                </a:solidFill>
              </a:rPr>
              <a:t>Same services, same rules: MCP replaces the controller, not the app. MCP messages are JSON-RPC; the transport is stdio here (Claude Desktop starts the server) or Streamable HTTP for a remote server.</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1F24"/>
                </a:solidFill>
              </a:rPr>
              <a:t>Instruction: an MCP server on your data</a:t>
            </a:r>
            <a:endParaRPr lang="en-US" sz="3200" dirty="0"/>
          </a:p>
        </p:txBody>
      </p:sp>
      <p:sp>
        <p:nvSpPr>
          <p:cNvPr id="3" name="Shape 1"/>
          <p:cNvSpPr/>
          <p:nvPr/>
        </p:nvSpPr>
        <p:spPr>
          <a:xfrm>
            <a:off x="457200" y="1051560"/>
            <a:ext cx="73152" cy="548640"/>
          </a:xfrm>
          <a:prstGeom prst="rect">
            <a:avLst/>
          </a:prstGeom>
          <a:solidFill>
            <a:srgbClr val="1FB68A"/>
          </a:solidFill>
          <a:ln w="12700">
            <a:solidFill>
              <a:srgbClr val="1FB68A"/>
            </a:solidFill>
            <a:prstDash val="solid"/>
          </a:ln>
        </p:spPr>
      </p:sp>
      <p:sp>
        <p:nvSpPr>
          <p:cNvPr id="4" name="proctor"/>
          <p:cNvSpPr txBox="1"/>
          <p:nvPr/>
        </p:nvSpPr>
        <p:spPr>
          <a:xfrm>
            <a:off x="640080" y="1024128"/>
            <a:ext cx="8046720" cy="603504"/>
          </a:xfrm>
          <a:prstGeom prst="rect">
            <a:avLst/>
          </a:prstGeom>
          <a:noFill/>
          <a:ln/>
        </p:spPr>
        <p:txBody>
          <a:bodyPr wrap="square" lIns="0" tIns="0" rIns="0" bIns="0" rtlCol="0" anchor="ctr"/>
          <a:lstStyle/>
          <a:p>
            <a:pPr indent="0" marL="0">
              <a:buNone/>
            </a:pPr>
            <a:r>
              <a:rPr lang="en-US" sz="1400" b="1" i="1" dirty="0">
                <a:solidFill>
                  <a:srgbClr val="1B1F24"/>
                </a:solidFill>
              </a:rPr>
              <a:t>Proctor: </a:t>
            </a:r>
            <a:pPr indent="0" marL="0">
              <a:buNone/>
            </a:pPr>
            <a:r>
              <a:rPr lang="en-US" sz="1400" i="1" dirty="0">
                <a:solidFill>
                  <a:srgbClr val="2B3440"/>
                </a:solidFill>
              </a:rPr>
              <a:t>The goal: your Claude Desktop app queries and changes this database. The model writes the SQL, so the server decides what may run.</a:t>
            </a:r>
            <a:endParaRPr lang="en-US" sz="1400" dirty="0"/>
          </a:p>
        </p:txBody>
      </p:sp>
      <p:sp>
        <p:nvSpPr>
          <p:cNvPr id="5" name="terminal"/>
          <p:cNvSpPr/>
          <p:nvPr/>
        </p:nvSpPr>
        <p:spPr>
          <a:xfrm>
            <a:off x="457200" y="1737360"/>
            <a:ext cx="5212080" cy="2880360"/>
          </a:xfrm>
          <a:prstGeom prst="roundRect">
            <a:avLst>
              <a:gd name="adj" fmla="val 2540"/>
            </a:avLst>
          </a:prstGeom>
          <a:solidFill>
            <a:srgbClr val="1B1F24"/>
          </a:solidFill>
          <a:ln w="12700">
            <a:solidFill>
              <a:srgbClr val="1B1F24"/>
            </a:solidFill>
            <a:prstDash val="solid"/>
          </a:ln>
        </p:spPr>
      </p:sp>
      <p:sp>
        <p:nvSpPr>
          <p:cNvPr id="6" name="Shape 4"/>
          <p:cNvSpPr/>
          <p:nvPr/>
        </p:nvSpPr>
        <p:spPr>
          <a:xfrm>
            <a:off x="640080" y="1865376"/>
            <a:ext cx="109728" cy="109728"/>
          </a:xfrm>
          <a:prstGeom prst="ellipse">
            <a:avLst/>
          </a:prstGeom>
          <a:solidFill>
            <a:srgbClr val="E5484D"/>
          </a:solidFill>
          <a:ln w="12700">
            <a:solidFill>
              <a:srgbClr val="E5484D"/>
            </a:solidFill>
            <a:prstDash val="solid"/>
          </a:ln>
        </p:spPr>
      </p:sp>
      <p:sp>
        <p:nvSpPr>
          <p:cNvPr id="7" name="Shape 5"/>
          <p:cNvSpPr/>
          <p:nvPr/>
        </p:nvSpPr>
        <p:spPr>
          <a:xfrm>
            <a:off x="822960" y="1865376"/>
            <a:ext cx="109728" cy="109728"/>
          </a:xfrm>
          <a:prstGeom prst="ellipse">
            <a:avLst/>
          </a:prstGeom>
          <a:solidFill>
            <a:srgbClr val="E69A28"/>
          </a:solidFill>
          <a:ln w="12700">
            <a:solidFill>
              <a:srgbClr val="E69A28"/>
            </a:solidFill>
            <a:prstDash val="solid"/>
          </a:ln>
        </p:spPr>
      </p:sp>
      <p:sp>
        <p:nvSpPr>
          <p:cNvPr id="8" name="Shape 6"/>
          <p:cNvSpPr/>
          <p:nvPr/>
        </p:nvSpPr>
        <p:spPr>
          <a:xfrm>
            <a:off x="1005840" y="1865376"/>
            <a:ext cx="109728" cy="109728"/>
          </a:xfrm>
          <a:prstGeom prst="ellipse">
            <a:avLst/>
          </a:prstGeom>
          <a:solidFill>
            <a:srgbClr val="1FB68A"/>
          </a:solidFill>
          <a:ln w="12700">
            <a:solidFill>
              <a:srgbClr val="1FB68A"/>
            </a:solidFill>
            <a:prstDash val="solid"/>
          </a:ln>
        </p:spPr>
      </p:sp>
      <p:sp>
        <p:nvSpPr>
          <p:cNvPr id="9" name="Text 7"/>
          <p:cNvSpPr txBox="1"/>
          <p:nvPr/>
        </p:nvSpPr>
        <p:spPr>
          <a:xfrm>
            <a:off x="1280160" y="1792224"/>
            <a:ext cx="4206240" cy="256032"/>
          </a:xfrm>
          <a:prstGeom prst="rect">
            <a:avLst/>
          </a:prstGeom>
          <a:noFill/>
          <a:ln/>
        </p:spPr>
        <p:txBody>
          <a:bodyPr wrap="square" lIns="0" tIns="0" rIns="0" bIns="0" rtlCol="0" anchor="ctr"/>
          <a:lstStyle/>
          <a:p>
            <a:pPr algn="r" indent="0" marL="0">
              <a:buNone/>
            </a:pPr>
            <a:r>
              <a:rPr lang="en-US" sz="1000" dirty="0">
                <a:solidFill>
                  <a:srgbClr val="8B98A5"/>
                </a:solidFill>
                <a:latin typeface="Calibri" pitchFamily="34" charset="0"/>
                <a:ea typeface="Calibri" pitchFamily="34" charset="-122"/>
                <a:cs typeface="Calibri" pitchFamily="34" charset="-120"/>
              </a:rPr>
              <a:t>steps/04-mcp-server.md · give it to your agent</a:t>
            </a:r>
            <a:endParaRPr lang="en-US" sz="1000" dirty="0"/>
          </a:p>
        </p:txBody>
      </p:sp>
      <p:sp>
        <p:nvSpPr>
          <p:cNvPr id="10" name="terminal-text"/>
          <p:cNvSpPr txBox="1"/>
          <p:nvPr/>
        </p:nvSpPr>
        <p:spPr>
          <a:xfrm>
            <a:off x="685800" y="2121408"/>
            <a:ext cx="4754880" cy="237744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&gt; Read steps/04-mcp-server.md and do what it says.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8B98A5"/>
                </a:solidFill>
                <a:latin typeface="Courier New" pitchFamily="34" charset="0"/>
                <a:ea typeface="Courier New" pitchFamily="34" charset="-122"/>
                <a:cs typeface="Courier New" pitchFamily="34" charset="-120"/>
              </a:rPr>
              <a:t># steps/04-mcp-server.md says: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I want to use this data from Claude Desktop. Build the MCP</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server in specs/mcp.md. Done when npm run lab 02 and npm</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run verify are green. Then connect it to my Claude Desktop</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(keep any MCP servers I already have there), tell me to</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quit and reopen Claude Desktop so it picks the server up,</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and give me one question I could ask it and one change I</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could ask it to make. Then stop and wait for my next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instruction.</a:t>
            </a:r>
            <a:endParaRPr lang="en-US" sz="1000" dirty="0"/>
          </a:p>
        </p:txBody>
      </p:sp>
      <p:sp>
        <p:nvSpPr>
          <p:cNvPr id="11" name="Text 9"/>
          <p:cNvSpPr txBox="1"/>
          <p:nvPr/>
        </p:nvSpPr>
        <p:spPr>
          <a:xfrm>
            <a:off x="5897880" y="1737360"/>
            <a:ext cx="2788920" cy="365760"/>
          </a:xfrm>
          <a:prstGeom prst="rect">
            <a:avLst/>
          </a:prstGeom>
          <a:noFill/>
          <a:ln/>
        </p:spPr>
        <p:txBody>
          <a:bodyPr wrap="square" lIns="0" tIns="0" rIns="0" bIns="0" rtlCol="0" anchor="ctr"/>
          <a:lstStyle/>
          <a:p>
            <a:pPr indent="0" marL="0">
              <a:buNone/>
            </a:pPr>
            <a:r>
              <a:rPr lang="en-US" sz="1600" b="1" dirty="0">
                <a:solidFill>
                  <a:srgbClr val="1B1F24"/>
                </a:solidFill>
              </a:rPr>
              <a:t>Watch its approach</a:t>
            </a:r>
            <a:endParaRPr lang="en-US" sz="1600" dirty="0"/>
          </a:p>
        </p:txBody>
      </p:sp>
      <p:sp>
        <p:nvSpPr>
          <p:cNvPr id="12" name="Shape 10"/>
          <p:cNvSpPr/>
          <p:nvPr/>
        </p:nvSpPr>
        <p:spPr>
          <a:xfrm>
            <a:off x="5897880" y="2231136"/>
            <a:ext cx="292608" cy="292608"/>
          </a:xfrm>
          <a:prstGeom prst="ellipse">
            <a:avLst/>
          </a:prstGeom>
          <a:solidFill>
            <a:srgbClr val="1FB68A"/>
          </a:solidFill>
          <a:ln w="12700">
            <a:solidFill>
              <a:srgbClr val="1FB68A"/>
            </a:solidFill>
            <a:prstDash val="solid"/>
          </a:ln>
        </p:spPr>
      </p:sp>
      <p:pic>
        <p:nvPicPr>
          <p:cNvPr id="13" name="Image 0" descr="preencoded.png">    </p:cNvPr>
          <p:cNvPicPr>
            <a:picLocks noChangeAspect="1"/>
          </p:cNvPicPr>
          <p:nvPr/>
        </p:nvPicPr>
        <p:blipFill>
          <a:blip r:embed="rId1"/>
          <a:stretch>
            <a:fillRect/>
          </a:stretch>
        </p:blipFill>
        <p:spPr>
          <a:xfrm>
            <a:off x="5962254" y="2295510"/>
            <a:ext cx="163860" cy="163860"/>
          </a:xfrm>
          <a:prstGeom prst="rect">
            <a:avLst/>
          </a:prstGeom>
        </p:spPr>
      </p:pic>
      <p:sp>
        <p:nvSpPr>
          <p:cNvPr id="14" name="Text 11"/>
          <p:cNvSpPr txBox="1"/>
          <p:nvPr/>
        </p:nvSpPr>
        <p:spPr>
          <a:xfrm>
            <a:off x="6309360" y="2194560"/>
            <a:ext cx="2377440" cy="566928"/>
          </a:xfrm>
          <a:prstGeom prst="rect">
            <a:avLst/>
          </a:prstGeom>
          <a:noFill/>
          <a:ln/>
        </p:spPr>
        <p:txBody>
          <a:bodyPr wrap="square" lIns="0" tIns="0" rIns="0" bIns="0" rtlCol="0" anchor="t"/>
          <a:lstStyle/>
          <a:p>
            <a:pPr indent="0" marL="0">
              <a:buNone/>
            </a:pPr>
            <a:r>
              <a:rPr lang="en-US" sz="1200" dirty="0">
                <a:solidFill>
                  <a:srgbClr val="1B1F24"/>
                </a:solidFill>
              </a:rPr>
              <a:t>reads the installed SDK, not its memory</a:t>
            </a:r>
            <a:endParaRPr lang="en-US" sz="1200" dirty="0"/>
          </a:p>
        </p:txBody>
      </p:sp>
      <p:sp>
        <p:nvSpPr>
          <p:cNvPr id="15" name="Shape 12"/>
          <p:cNvSpPr/>
          <p:nvPr/>
        </p:nvSpPr>
        <p:spPr>
          <a:xfrm>
            <a:off x="5897880" y="2834640"/>
            <a:ext cx="292608" cy="292608"/>
          </a:xfrm>
          <a:prstGeom prst="ellipse">
            <a:avLst/>
          </a:prstGeom>
          <a:solidFill>
            <a:srgbClr val="1FB68A"/>
          </a:solidFill>
          <a:ln w="12700">
            <a:solidFill>
              <a:srgbClr val="1FB68A"/>
            </a:solidFill>
            <a:prstDash val="solid"/>
          </a:ln>
        </p:spPr>
      </p:sp>
      <p:pic>
        <p:nvPicPr>
          <p:cNvPr id="16" name="Image 1" descr="preencoded.png">    </p:cNvPr>
          <p:cNvPicPr>
            <a:picLocks noChangeAspect="1"/>
          </p:cNvPicPr>
          <p:nvPr/>
        </p:nvPicPr>
        <p:blipFill>
          <a:blip r:embed="rId2"/>
          <a:stretch>
            <a:fillRect/>
          </a:stretch>
        </p:blipFill>
        <p:spPr>
          <a:xfrm>
            <a:off x="5962254" y="2899014"/>
            <a:ext cx="163860" cy="163860"/>
          </a:xfrm>
          <a:prstGeom prst="rect">
            <a:avLst/>
          </a:prstGeom>
        </p:spPr>
      </p:pic>
      <p:sp>
        <p:nvSpPr>
          <p:cNvPr id="17" name="Text 13"/>
          <p:cNvSpPr txBox="1"/>
          <p:nvPr/>
        </p:nvSpPr>
        <p:spPr>
          <a:xfrm>
            <a:off x="6309360" y="2798064"/>
            <a:ext cx="2377440" cy="566928"/>
          </a:xfrm>
          <a:prstGeom prst="rect">
            <a:avLst/>
          </a:prstGeom>
          <a:noFill/>
          <a:ln/>
        </p:spPr>
        <p:txBody>
          <a:bodyPr wrap="square" lIns="0" tIns="0" rIns="0" bIns="0" rtlCol="0" anchor="t"/>
          <a:lstStyle/>
          <a:p>
            <a:pPr indent="0" marL="0">
              <a:buNone/>
            </a:pPr>
            <a:r>
              <a:rPr lang="en-US" sz="1200" dirty="0">
                <a:solidFill>
                  <a:srgbClr val="1B1F24"/>
                </a:solidFill>
              </a:rPr>
              <a:t>typed write tools call the module 1 services</a:t>
            </a:r>
            <a:endParaRPr lang="en-US" sz="1200" dirty="0"/>
          </a:p>
        </p:txBody>
      </p:sp>
      <p:sp>
        <p:nvSpPr>
          <p:cNvPr id="18" name="Shape 14"/>
          <p:cNvSpPr/>
          <p:nvPr/>
        </p:nvSpPr>
        <p:spPr>
          <a:xfrm>
            <a:off x="5897880" y="3438144"/>
            <a:ext cx="292608" cy="292608"/>
          </a:xfrm>
          <a:prstGeom prst="ellipse">
            <a:avLst/>
          </a:prstGeom>
          <a:solidFill>
            <a:srgbClr val="1FB68A"/>
          </a:solidFill>
          <a:ln w="12700">
            <a:solidFill>
              <a:srgbClr val="1FB68A"/>
            </a:solidFill>
            <a:prstDash val="solid"/>
          </a:ln>
        </p:spPr>
      </p:sp>
      <p:pic>
        <p:nvPicPr>
          <p:cNvPr id="19" name="Image 2" descr="preencoded.png">    </p:cNvPr>
          <p:cNvPicPr>
            <a:picLocks noChangeAspect="1"/>
          </p:cNvPicPr>
          <p:nvPr/>
        </p:nvPicPr>
        <p:blipFill>
          <a:blip r:embed="rId3"/>
          <a:stretch>
            <a:fillRect/>
          </a:stretch>
        </p:blipFill>
        <p:spPr>
          <a:xfrm>
            <a:off x="5962254" y="3502518"/>
            <a:ext cx="163860" cy="163860"/>
          </a:xfrm>
          <a:prstGeom prst="rect">
            <a:avLst/>
          </a:prstGeom>
        </p:spPr>
      </p:pic>
      <p:sp>
        <p:nvSpPr>
          <p:cNvPr id="20" name="Text 15"/>
          <p:cNvSpPr txBox="1"/>
          <p:nvPr/>
        </p:nvSpPr>
        <p:spPr>
          <a:xfrm>
            <a:off x="6309360" y="3401568"/>
            <a:ext cx="2377440" cy="566928"/>
          </a:xfrm>
          <a:prstGeom prst="rect">
            <a:avLst/>
          </a:prstGeom>
          <a:noFill/>
          <a:ln/>
        </p:spPr>
        <p:txBody>
          <a:bodyPr wrap="square" lIns="0" tIns="0" rIns="0" bIns="0" rtlCol="0" anchor="t"/>
          <a:lstStyle/>
          <a:p>
            <a:pPr indent="0" marL="0">
              <a:buNone/>
            </a:pPr>
            <a:r>
              <a:rPr lang="en-US" sz="1200" dirty="0">
                <a:solidFill>
                  <a:srgbClr val="1B1F24"/>
                </a:solidFill>
              </a:rPr>
              <a:t>query and execute each guarded in layers</a:t>
            </a:r>
            <a:endParaRPr lang="en-US" sz="1200" dirty="0"/>
          </a:p>
        </p:txBody>
      </p:sp>
      <p:sp>
        <p:nvSpPr>
          <p:cNvPr id="21" name="Shape 16"/>
          <p:cNvSpPr/>
          <p:nvPr/>
        </p:nvSpPr>
        <p:spPr>
          <a:xfrm>
            <a:off x="5897880" y="4041648"/>
            <a:ext cx="292608" cy="292608"/>
          </a:xfrm>
          <a:prstGeom prst="ellipse">
            <a:avLst/>
          </a:prstGeom>
          <a:solidFill>
            <a:srgbClr val="1FB68A"/>
          </a:solidFill>
          <a:ln w="12700">
            <a:solidFill>
              <a:srgbClr val="1FB68A"/>
            </a:solidFill>
            <a:prstDash val="solid"/>
          </a:ln>
        </p:spPr>
      </p:sp>
      <p:pic>
        <p:nvPicPr>
          <p:cNvPr id="22" name="Image 3" descr="preencoded.png">    </p:cNvPr>
          <p:cNvPicPr>
            <a:picLocks noChangeAspect="1"/>
          </p:cNvPicPr>
          <p:nvPr/>
        </p:nvPicPr>
        <p:blipFill>
          <a:blip r:embed="rId4"/>
          <a:stretch>
            <a:fillRect/>
          </a:stretch>
        </p:blipFill>
        <p:spPr>
          <a:xfrm>
            <a:off x="5962254" y="4106022"/>
            <a:ext cx="163860" cy="163860"/>
          </a:xfrm>
          <a:prstGeom prst="rect">
            <a:avLst/>
          </a:prstGeom>
        </p:spPr>
      </p:pic>
      <p:sp>
        <p:nvSpPr>
          <p:cNvPr id="23" name="Text 17"/>
          <p:cNvSpPr txBox="1"/>
          <p:nvPr/>
        </p:nvSpPr>
        <p:spPr>
          <a:xfrm>
            <a:off x="6309360" y="4005072"/>
            <a:ext cx="2377440" cy="566928"/>
          </a:xfrm>
          <a:prstGeom prst="rect">
            <a:avLst/>
          </a:prstGeom>
          <a:noFill/>
          <a:ln/>
        </p:spPr>
        <p:txBody>
          <a:bodyPr wrap="square" lIns="0" tIns="0" rIns="0" bIns="0" rtlCol="0" anchor="t"/>
          <a:lstStyle/>
          <a:p>
            <a:pPr indent="0" marL="0">
              <a:buNone/>
            </a:pPr>
            <a:r>
              <a:rPr lang="en-US" sz="1200" dirty="0">
                <a:solidFill>
                  <a:srgbClr val="1B1F24"/>
                </a:solidFill>
              </a:rPr>
              <a:t>connects it to Claude Desktop, keeps your other servers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1F24"/>
                </a:solidFill>
              </a:rPr>
              <a:t>Check it: module 2</a:t>
            </a:r>
            <a:endParaRPr lang="en-US" sz="3200" dirty="0"/>
          </a:p>
        </p:txBody>
      </p:sp>
      <p:sp>
        <p:nvSpPr>
          <p:cNvPr id="3" name="terminal"/>
          <p:cNvSpPr/>
          <p:nvPr/>
        </p:nvSpPr>
        <p:spPr>
          <a:xfrm>
            <a:off x="457200" y="1097280"/>
            <a:ext cx="8229600" cy="3520440"/>
          </a:xfrm>
          <a:prstGeom prst="roundRect">
            <a:avLst>
              <a:gd name="adj" fmla="val 2078"/>
            </a:avLst>
          </a:prstGeom>
          <a:solidFill>
            <a:srgbClr val="1B1F24"/>
          </a:solidFill>
          <a:ln w="12700">
            <a:solidFill>
              <a:srgbClr val="1B1F24"/>
            </a:solidFill>
            <a:prstDash val="solid"/>
          </a:ln>
        </p:spPr>
      </p:sp>
      <p:sp>
        <p:nvSpPr>
          <p:cNvPr id="4" name="Shape 2"/>
          <p:cNvSpPr/>
          <p:nvPr/>
        </p:nvSpPr>
        <p:spPr>
          <a:xfrm>
            <a:off x="640080" y="1225296"/>
            <a:ext cx="109728" cy="109728"/>
          </a:xfrm>
          <a:prstGeom prst="ellipse">
            <a:avLst/>
          </a:prstGeom>
          <a:solidFill>
            <a:srgbClr val="E5484D"/>
          </a:solidFill>
          <a:ln w="12700">
            <a:solidFill>
              <a:srgbClr val="E5484D"/>
            </a:solidFill>
            <a:prstDash val="solid"/>
          </a:ln>
        </p:spPr>
      </p:sp>
      <p:sp>
        <p:nvSpPr>
          <p:cNvPr id="5" name="Shape 3"/>
          <p:cNvSpPr/>
          <p:nvPr/>
        </p:nvSpPr>
        <p:spPr>
          <a:xfrm>
            <a:off x="822960" y="1225296"/>
            <a:ext cx="109728" cy="109728"/>
          </a:xfrm>
          <a:prstGeom prst="ellipse">
            <a:avLst/>
          </a:prstGeom>
          <a:solidFill>
            <a:srgbClr val="E69A28"/>
          </a:solidFill>
          <a:ln w="12700">
            <a:solidFill>
              <a:srgbClr val="E69A28"/>
            </a:solidFill>
            <a:prstDash val="solid"/>
          </a:ln>
        </p:spPr>
      </p:sp>
      <p:sp>
        <p:nvSpPr>
          <p:cNvPr id="6" name="Shape 4"/>
          <p:cNvSpPr/>
          <p:nvPr/>
        </p:nvSpPr>
        <p:spPr>
          <a:xfrm>
            <a:off x="1005840" y="1225296"/>
            <a:ext cx="109728" cy="109728"/>
          </a:xfrm>
          <a:prstGeom prst="ellipse">
            <a:avLst/>
          </a:prstGeom>
          <a:solidFill>
            <a:srgbClr val="1FB68A"/>
          </a:solidFill>
          <a:ln w="12700">
            <a:solidFill>
              <a:srgbClr val="1FB68A"/>
            </a:solidFill>
            <a:prstDash val="solid"/>
          </a:ln>
        </p:spPr>
      </p:sp>
      <p:sp>
        <p:nvSpPr>
          <p:cNvPr id="7" name="Text 5"/>
          <p:cNvSpPr txBox="1"/>
          <p:nvPr/>
        </p:nvSpPr>
        <p:spPr>
          <a:xfrm>
            <a:off x="1280160" y="1152144"/>
            <a:ext cx="7223760" cy="256032"/>
          </a:xfrm>
          <a:prstGeom prst="rect">
            <a:avLst/>
          </a:prstGeom>
          <a:noFill/>
          <a:ln/>
        </p:spPr>
        <p:txBody>
          <a:bodyPr wrap="square" lIns="0" tIns="0" rIns="0" bIns="0" rtlCol="0" anchor="ctr"/>
          <a:lstStyle/>
          <a:p>
            <a:pPr algn="r" indent="0" marL="0">
              <a:buNone/>
            </a:pPr>
            <a:r>
              <a:rPr lang="en-US" sz="1000" dirty="0">
                <a:solidFill>
                  <a:srgbClr val="8B98A5"/>
                </a:solidFill>
                <a:latin typeface="Calibri" pitchFamily="34" charset="0"/>
                <a:ea typeface="Calibri" pitchFamily="34" charset="-122"/>
                <a:cs typeface="Calibri" pitchFamily="34" charset="-120"/>
              </a:rPr>
              <a:t>module 2 · run this</a:t>
            </a:r>
            <a:endParaRPr lang="en-US" sz="1000" dirty="0"/>
          </a:p>
        </p:txBody>
      </p:sp>
      <p:sp>
        <p:nvSpPr>
          <p:cNvPr id="8" name="terminal-text"/>
          <p:cNvSpPr txBox="1"/>
          <p:nvPr/>
        </p:nvSpPr>
        <p:spPr>
          <a:xfrm>
            <a:off x="685800" y="1481328"/>
            <a:ext cx="7772400" cy="3017520"/>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npm run verify</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npm run lab 02       # the lab check: all green?</a:t>
            </a:r>
            <a:endParaRPr lang="en-US" sz="1400" dirty="0"/>
          </a:p>
          <a:p>
            <a:pPr indent="0" marL="0">
              <a:buNone/>
            </a:pPr>
            <a:r>
              <a:rPr lang="en-US" sz="1400" dirty="0">
                <a:solidFill>
                  <a:srgbClr val="8B98A5"/>
                </a:solidFill>
                <a:latin typeface="Courier New" pitchFamily="34" charset="0"/>
                <a:ea typeface="Courier New" pitchFamily="34" charset="-122"/>
                <a:cs typeface="Courier New" pitchFamily="34" charset="-120"/>
              </a:rPr>
              <a:t># your agent connected it: claude-desktop-config.mjs</a:t>
            </a:r>
            <a:endParaRPr lang="en-US" sz="1400" dirty="0"/>
          </a:p>
          <a:p>
            <a:pPr indent="0" marL="0">
              <a:buNone/>
            </a:pPr>
            <a:r>
              <a:rPr lang="en-US" sz="1400" dirty="0">
                <a:solidFill>
                  <a:srgbClr val="8B98A5"/>
                </a:solidFill>
                <a:latin typeface="Courier New" pitchFamily="34" charset="0"/>
                <a:ea typeface="Courier New" pitchFamily="34" charset="-122"/>
                <a:cs typeface="Courier New" pitchFamily="34" charset="-120"/>
              </a:rPr>
              <a:t>#   --install (your other servers are kept)</a:t>
            </a:r>
            <a:endParaRPr lang="en-US" sz="1400" dirty="0"/>
          </a:p>
          <a:p>
            <a:pPr indent="0" marL="0">
              <a:buNone/>
            </a:pPr>
            <a:r>
              <a:rPr lang="en-US" sz="1400" dirty="0">
                <a:solidFill>
                  <a:srgbClr val="8B98A5"/>
                </a:solidFill>
                <a:latin typeface="Courier New" pitchFamily="34" charset="0"/>
                <a:ea typeface="Courier New" pitchFamily="34" charset="-122"/>
                <a:cs typeface="Courier New" pitchFamily="34" charset="-120"/>
              </a:rPr>
              <a:t># YOU: quit Claude Desktop completely (tray too)</a:t>
            </a:r>
            <a:endParaRPr lang="en-US" sz="1400" dirty="0"/>
          </a:p>
          <a:p>
            <a:pPr indent="0" marL="0">
              <a:buNone/>
            </a:pPr>
            <a:r>
              <a:rPr lang="en-US" sz="1400" dirty="0">
                <a:solidFill>
                  <a:srgbClr val="8B98A5"/>
                </a:solidFill>
                <a:latin typeface="Courier New" pitchFamily="34" charset="0"/>
                <a:ea typeface="Courier New" pitchFamily="34" charset="-122"/>
                <a:cs typeface="Courier New" pitchFamily="34" charset="-120"/>
              </a:rPr>
              <a:t>#   and reopen it: notes-db is in the tools menu</a:t>
            </a:r>
            <a:endParaRPr lang="en-US" sz="1400" dirty="0"/>
          </a:p>
          <a:p>
            <a:pPr indent="0" marL="0">
              <a:buNone/>
            </a:pPr>
            <a:r>
              <a:rPr lang="en-US" sz="1400" dirty="0">
                <a:solidFill>
                  <a:srgbClr val="8B98A5"/>
                </a:solidFill>
                <a:latin typeface="Courier New" pitchFamily="34" charset="0"/>
                <a:ea typeface="Courier New" pitchFamily="34" charset="-122"/>
                <a:cs typeface="Courier New" pitchFamily="34" charset="-120"/>
              </a:rPr>
              <a:t># then ask: "Which open notes are shared with more</a:t>
            </a:r>
            <a:endParaRPr lang="en-US" sz="1400" dirty="0"/>
          </a:p>
          <a:p>
            <a:pPr indent="0" marL="0">
              <a:buNone/>
            </a:pPr>
            <a:r>
              <a:rPr lang="en-US" sz="1400" dirty="0">
                <a:solidFill>
                  <a:srgbClr val="8B98A5"/>
                </a:solidFill>
                <a:latin typeface="Courier New" pitchFamily="34" charset="0"/>
                <a:ea typeface="Courier New" pitchFamily="34" charset="-122"/>
                <a:cs typeface="Courier New" pitchFamily="34" charset="-120"/>
              </a:rPr>
              <a:t>#   than one person?"</a:t>
            </a:r>
            <a:endParaRPr lang="en-US" sz="1400" dirty="0"/>
          </a:p>
          <a:p>
            <a:pPr indent="0" marL="0">
              <a:buNone/>
            </a:pPr>
            <a:r>
              <a:rPr lang="en-US" sz="1400" dirty="0">
                <a:solidFill>
                  <a:srgbClr val="8B98A5"/>
                </a:solidFill>
                <a:latin typeface="Courier New" pitchFamily="34" charset="0"/>
                <a:ea typeface="Courier New" pitchFamily="34" charset="-122"/>
                <a:cs typeface="Courier New" pitchFamily="34" charset="-120"/>
              </a:rPr>
              <a:t># "Add a user Ada, ada@example.com, with</a:t>
            </a:r>
            <a:endParaRPr lang="en-US" sz="1400" dirty="0"/>
          </a:p>
          <a:p>
            <a:pPr indent="0" marL="0">
              <a:buNone/>
            </a:pPr>
            <a:r>
              <a:rPr lang="en-US" sz="1400" dirty="0">
                <a:solidFill>
                  <a:srgbClr val="8B98A5"/>
                </a:solidFill>
                <a:latin typeface="Courier New" pitchFamily="34" charset="0"/>
                <a:ea typeface="Courier New" pitchFamily="34" charset="-122"/>
                <a:cs typeface="Courier New" pitchFamily="34" charset="-120"/>
              </a:rPr>
              <a:t>#   a note due next Friday"</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1F24"/>
                </a:solidFill>
              </a:rPr>
              <a:t>Checkpoint: Claude Desktop, your data</a:t>
            </a:r>
            <a:endParaRPr lang="en-US" sz="3200" dirty="0"/>
          </a:p>
        </p:txBody>
      </p:sp>
      <p:sp>
        <p:nvSpPr>
          <p:cNvPr id="3" name="terminal"/>
          <p:cNvSpPr/>
          <p:nvPr/>
        </p:nvSpPr>
        <p:spPr>
          <a:xfrm>
            <a:off x="457200" y="1097280"/>
            <a:ext cx="5029200" cy="3520440"/>
          </a:xfrm>
          <a:prstGeom prst="roundRect">
            <a:avLst>
              <a:gd name="adj" fmla="val 2078"/>
            </a:avLst>
          </a:prstGeom>
          <a:solidFill>
            <a:srgbClr val="1B1F24"/>
          </a:solidFill>
          <a:ln w="12700">
            <a:solidFill>
              <a:srgbClr val="1B1F24"/>
            </a:solidFill>
            <a:prstDash val="solid"/>
          </a:ln>
        </p:spPr>
      </p:sp>
      <p:sp>
        <p:nvSpPr>
          <p:cNvPr id="4" name="Shape 2"/>
          <p:cNvSpPr/>
          <p:nvPr/>
        </p:nvSpPr>
        <p:spPr>
          <a:xfrm>
            <a:off x="640080" y="1225296"/>
            <a:ext cx="109728" cy="109728"/>
          </a:xfrm>
          <a:prstGeom prst="ellipse">
            <a:avLst/>
          </a:prstGeom>
          <a:solidFill>
            <a:srgbClr val="E5484D"/>
          </a:solidFill>
          <a:ln w="12700">
            <a:solidFill>
              <a:srgbClr val="E5484D"/>
            </a:solidFill>
            <a:prstDash val="solid"/>
          </a:ln>
        </p:spPr>
      </p:sp>
      <p:sp>
        <p:nvSpPr>
          <p:cNvPr id="5" name="Shape 3"/>
          <p:cNvSpPr/>
          <p:nvPr/>
        </p:nvSpPr>
        <p:spPr>
          <a:xfrm>
            <a:off x="822960" y="1225296"/>
            <a:ext cx="109728" cy="109728"/>
          </a:xfrm>
          <a:prstGeom prst="ellipse">
            <a:avLst/>
          </a:prstGeom>
          <a:solidFill>
            <a:srgbClr val="E69A28"/>
          </a:solidFill>
          <a:ln w="12700">
            <a:solidFill>
              <a:srgbClr val="E69A28"/>
            </a:solidFill>
            <a:prstDash val="solid"/>
          </a:ln>
        </p:spPr>
      </p:sp>
      <p:sp>
        <p:nvSpPr>
          <p:cNvPr id="6" name="Shape 4"/>
          <p:cNvSpPr/>
          <p:nvPr/>
        </p:nvSpPr>
        <p:spPr>
          <a:xfrm>
            <a:off x="1005840" y="1225296"/>
            <a:ext cx="109728" cy="109728"/>
          </a:xfrm>
          <a:prstGeom prst="ellipse">
            <a:avLst/>
          </a:prstGeom>
          <a:solidFill>
            <a:srgbClr val="1FB68A"/>
          </a:solidFill>
          <a:ln w="12700">
            <a:solidFill>
              <a:srgbClr val="1FB68A"/>
            </a:solidFill>
            <a:prstDash val="solid"/>
          </a:ln>
        </p:spPr>
      </p:sp>
      <p:sp>
        <p:nvSpPr>
          <p:cNvPr id="7" name="Text 5"/>
          <p:cNvSpPr txBox="1"/>
          <p:nvPr/>
        </p:nvSpPr>
        <p:spPr>
          <a:xfrm>
            <a:off x="1280160" y="1152144"/>
            <a:ext cx="4023360" cy="256032"/>
          </a:xfrm>
          <a:prstGeom prst="rect">
            <a:avLst/>
          </a:prstGeom>
          <a:noFill/>
          <a:ln/>
        </p:spPr>
        <p:txBody>
          <a:bodyPr wrap="square" lIns="0" tIns="0" rIns="0" bIns="0" rtlCol="0" anchor="ctr"/>
          <a:lstStyle/>
          <a:p>
            <a:pPr algn="r" indent="0" marL="0">
              <a:buNone/>
            </a:pPr>
            <a:r>
              <a:rPr lang="en-US" sz="1000" dirty="0">
                <a:solidFill>
                  <a:srgbClr val="8B98A5"/>
                </a:solidFill>
                <a:latin typeface="Calibri" pitchFamily="34" charset="0"/>
                <a:ea typeface="Calibri" pitchFamily="34" charset="-122"/>
                <a:cs typeface="Calibri" pitchFamily="34" charset="-120"/>
              </a:rPr>
              <a:t>output: captured</a:t>
            </a:r>
            <a:endParaRPr lang="en-US" sz="1000" dirty="0"/>
          </a:p>
        </p:txBody>
      </p:sp>
      <p:sp>
        <p:nvSpPr>
          <p:cNvPr id="8" name="terminal-text"/>
          <p:cNvSpPr txBox="1"/>
          <p:nvPr/>
        </p:nvSpPr>
        <p:spPr>
          <a:xfrm>
            <a:off x="685800" y="1481328"/>
            <a:ext cx="4572000" cy="3017520"/>
          </a:xfrm>
          <a:prstGeom prst="rect">
            <a:avLst/>
          </a:prstGeom>
          <a:noFill/>
          <a:ln/>
        </p:spPr>
        <p:txBody>
          <a:bodyPr wrap="square" lIns="0" tIns="0" rIns="0" bIns="0" rtlCol="0" anchor="t"/>
          <a:lstStyle/>
          <a:p>
            <a:pPr indent="0" marL="0">
              <a:buNone/>
            </a:pPr>
            <a:r>
              <a:rPr lang="en-US" sz="1200" dirty="0">
                <a:solidFill>
                  <a:srgbClr val="8B98A5"/>
                </a:solidFill>
                <a:latin typeface="Courier New" pitchFamily="34" charset="0"/>
                <a:ea typeface="Courier New" pitchFamily="34" charset="-122"/>
                <a:cs typeface="Courier New" pitchFamily="34" charset="-120"/>
              </a:rPr>
              <a:t># npm run verify; npm run lab</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Tests  47 passed (47) · 58 passed (58)</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Tests  31 passed (31)</a:t>
            </a:r>
            <a:endParaRPr lang="en-US" sz="1200" dirty="0"/>
          </a:p>
          <a:p>
            <a:pPr indent="0" marL="0">
              <a:buNone/>
            </a:pPr>
            <a:r>
              <a:rPr lang="en-US" sz="1200" dirty="0">
                <a:solidFill>
                  <a:srgbClr val="8B98A5"/>
                </a:solidFill>
                <a:latin typeface="Courier New" pitchFamily="34" charset="0"/>
                <a:ea typeface="Courier New" pitchFamily="34" charset="-122"/>
                <a:cs typeface="Courier New" pitchFamily="34" charset="-120"/>
              </a:rPr>
              <a:t># started as Claude Desktop does it</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create-user · create-note · share-note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execute update … where id = … → 1 row</a:t>
            </a:r>
            <a:endParaRPr lang="en-US" sz="1200" dirty="0"/>
          </a:p>
          <a:p>
            <a:pPr indent="0" marL="0">
              <a:buNone/>
            </a:pPr>
            <a:r>
              <a:rPr lang="en-US" sz="1200" dirty="0">
                <a:solidFill>
                  <a:srgbClr val="8B98A5"/>
                </a:solidFill>
                <a:latin typeface="Courier New" pitchFamily="34" charset="0"/>
                <a:ea typeface="Courier New" pitchFamily="34" charset="-122"/>
                <a:cs typeface="Courier New" pitchFamily="34" charset="-120"/>
              </a:rPr>
              <a:t># execute: delete from notes</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NOT_ALLOWED: DELETE without a WHERE …</a:t>
            </a:r>
            <a:endParaRPr lang="en-US" sz="1200" dirty="0"/>
          </a:p>
        </p:txBody>
      </p:sp>
      <p:sp>
        <p:nvSpPr>
          <p:cNvPr id="9" name="Text 7"/>
          <p:cNvSpPr txBox="1"/>
          <p:nvPr/>
        </p:nvSpPr>
        <p:spPr>
          <a:xfrm>
            <a:off x="5852160" y="1097280"/>
            <a:ext cx="2834640" cy="411480"/>
          </a:xfrm>
          <a:prstGeom prst="rect">
            <a:avLst/>
          </a:prstGeom>
          <a:noFill/>
          <a:ln/>
        </p:spPr>
        <p:txBody>
          <a:bodyPr wrap="square" lIns="0" tIns="0" rIns="0" bIns="0" rtlCol="0" anchor="ctr"/>
          <a:lstStyle/>
          <a:p>
            <a:pPr indent="0" marL="0">
              <a:buNone/>
            </a:pPr>
            <a:r>
              <a:rPr lang="en-US" sz="2000" b="1" dirty="0">
                <a:solidFill>
                  <a:srgbClr val="1B1F24"/>
                </a:solidFill>
              </a:rPr>
              <a:t>Done when</a:t>
            </a:r>
            <a:endParaRPr lang="en-US" sz="2000" dirty="0"/>
          </a:p>
        </p:txBody>
      </p:sp>
      <p:sp>
        <p:nvSpPr>
          <p:cNvPr id="10" name="Shape 8"/>
          <p:cNvSpPr/>
          <p:nvPr/>
        </p:nvSpPr>
        <p:spPr>
          <a:xfrm>
            <a:off x="5852160" y="1645920"/>
            <a:ext cx="384048" cy="384048"/>
          </a:xfrm>
          <a:prstGeom prst="ellipse">
            <a:avLst/>
          </a:prstGeom>
          <a:solidFill>
            <a:srgbClr val="1FB68A"/>
          </a:solidFill>
          <a:ln w="12700">
            <a:solidFill>
              <a:srgbClr val="1FB68A"/>
            </a:solidFill>
            <a:prstDash val="solid"/>
          </a:ln>
        </p:spPr>
      </p:sp>
      <p:pic>
        <p:nvPicPr>
          <p:cNvPr id="11" name="Image 0" descr="preencoded.png">    </p:cNvPr>
          <p:cNvPicPr>
            <a:picLocks noChangeAspect="1"/>
          </p:cNvPicPr>
          <p:nvPr/>
        </p:nvPicPr>
        <p:blipFill>
          <a:blip r:embed="rId1"/>
          <a:stretch>
            <a:fillRect/>
          </a:stretch>
        </p:blipFill>
        <p:spPr>
          <a:xfrm>
            <a:off x="5936651" y="1730411"/>
            <a:ext cx="215067" cy="215067"/>
          </a:xfrm>
          <a:prstGeom prst="rect">
            <a:avLst/>
          </a:prstGeom>
        </p:spPr>
      </p:pic>
      <p:sp>
        <p:nvSpPr>
          <p:cNvPr id="12" name="Text 9"/>
          <p:cNvSpPr txBox="1"/>
          <p:nvPr/>
        </p:nvSpPr>
        <p:spPr>
          <a:xfrm>
            <a:off x="6355080" y="1609344"/>
            <a:ext cx="2331720" cy="868680"/>
          </a:xfrm>
          <a:prstGeom prst="rect">
            <a:avLst/>
          </a:prstGeom>
          <a:noFill/>
          <a:ln/>
        </p:spPr>
        <p:txBody>
          <a:bodyPr wrap="square" lIns="0" tIns="0" rIns="0" bIns="0" rtlCol="0" anchor="t"/>
          <a:lstStyle/>
          <a:p>
            <a:pPr indent="0" marL="0">
              <a:buNone/>
            </a:pPr>
            <a:pPr indent="0" marL="0">
              <a:buNone/>
            </a:pPr>
            <a:r>
              <a:rPr lang="en-US" sz="1400" dirty="0">
                <a:solidFill>
                  <a:srgbClr val="1B1F24"/>
                </a:solidFill>
                <a:latin typeface="Courier New" pitchFamily="34" charset="0"/>
                <a:ea typeface="Courier New" pitchFamily="34" charset="-122"/>
                <a:cs typeface="Courier New" pitchFamily="34" charset="-120"/>
              </a:rPr>
              <a:t>npm run lab 02</a:t>
            </a:r>
            <a:pPr indent="0" marL="0">
              <a:buNone/>
            </a:pPr>
            <a:r>
              <a:rPr lang="en-US" sz="1400" dirty="0">
                <a:solidFill>
                  <a:srgbClr val="1B1F24"/>
                </a:solidFill>
              </a:rPr>
              <a:t>: every test passes</a:t>
            </a:r>
            <a:endParaRPr lang="en-US" sz="1400" dirty="0"/>
          </a:p>
        </p:txBody>
      </p:sp>
      <p:sp>
        <p:nvSpPr>
          <p:cNvPr id="13" name="Shape 10"/>
          <p:cNvSpPr/>
          <p:nvPr/>
        </p:nvSpPr>
        <p:spPr>
          <a:xfrm>
            <a:off x="5852160" y="2377440"/>
            <a:ext cx="384048" cy="384048"/>
          </a:xfrm>
          <a:prstGeom prst="ellipse">
            <a:avLst/>
          </a:prstGeom>
          <a:solidFill>
            <a:srgbClr val="1FB68A"/>
          </a:solidFill>
          <a:ln w="12700">
            <a:solidFill>
              <a:srgbClr val="1FB68A"/>
            </a:solidFill>
            <a:prstDash val="solid"/>
          </a:ln>
        </p:spPr>
      </p:sp>
      <p:pic>
        <p:nvPicPr>
          <p:cNvPr id="14" name="Image 1" descr="preencoded.png">    </p:cNvPr>
          <p:cNvPicPr>
            <a:picLocks noChangeAspect="1"/>
          </p:cNvPicPr>
          <p:nvPr/>
        </p:nvPicPr>
        <p:blipFill>
          <a:blip r:embed="rId2"/>
          <a:stretch>
            <a:fillRect/>
          </a:stretch>
        </p:blipFill>
        <p:spPr>
          <a:xfrm>
            <a:off x="5936651" y="2461931"/>
            <a:ext cx="215067" cy="215067"/>
          </a:xfrm>
          <a:prstGeom prst="rect">
            <a:avLst/>
          </a:prstGeom>
        </p:spPr>
      </p:pic>
      <p:sp>
        <p:nvSpPr>
          <p:cNvPr id="15" name="Text 11"/>
          <p:cNvSpPr txBox="1"/>
          <p:nvPr/>
        </p:nvSpPr>
        <p:spPr>
          <a:xfrm>
            <a:off x="6355080" y="2340864"/>
            <a:ext cx="2331720" cy="868680"/>
          </a:xfrm>
          <a:prstGeom prst="rect">
            <a:avLst/>
          </a:prstGeom>
          <a:noFill/>
          <a:ln/>
        </p:spPr>
        <p:txBody>
          <a:bodyPr wrap="square" lIns="0" tIns="0" rIns="0" bIns="0" rtlCol="0" anchor="t"/>
          <a:lstStyle/>
          <a:p>
            <a:pPr indent="0" marL="0">
              <a:buNone/>
            </a:pPr>
            <a:r>
              <a:rPr lang="en-US" sz="1400" dirty="0">
                <a:solidFill>
                  <a:srgbClr val="1B1F24"/>
                </a:solidFill>
              </a:rPr>
              <a:t>query refuses a write, execute an unbounded one</a:t>
            </a:r>
            <a:endParaRPr lang="en-US" sz="1400" dirty="0"/>
          </a:p>
        </p:txBody>
      </p:sp>
      <p:sp>
        <p:nvSpPr>
          <p:cNvPr id="16" name="Shape 12"/>
          <p:cNvSpPr/>
          <p:nvPr/>
        </p:nvSpPr>
        <p:spPr>
          <a:xfrm>
            <a:off x="5852160" y="3108960"/>
            <a:ext cx="384048" cy="384048"/>
          </a:xfrm>
          <a:prstGeom prst="ellipse">
            <a:avLst/>
          </a:prstGeom>
          <a:solidFill>
            <a:srgbClr val="1FB68A"/>
          </a:solidFill>
          <a:ln w="12700">
            <a:solidFill>
              <a:srgbClr val="1FB68A"/>
            </a:solidFill>
            <a:prstDash val="solid"/>
          </a:ln>
        </p:spPr>
      </p:sp>
      <p:pic>
        <p:nvPicPr>
          <p:cNvPr id="17" name="Image 2" descr="preencoded.png">    </p:cNvPr>
          <p:cNvPicPr>
            <a:picLocks noChangeAspect="1"/>
          </p:cNvPicPr>
          <p:nvPr/>
        </p:nvPicPr>
        <p:blipFill>
          <a:blip r:embed="rId3"/>
          <a:stretch>
            <a:fillRect/>
          </a:stretch>
        </p:blipFill>
        <p:spPr>
          <a:xfrm>
            <a:off x="5936651" y="3193451"/>
            <a:ext cx="215067" cy="215067"/>
          </a:xfrm>
          <a:prstGeom prst="rect">
            <a:avLst/>
          </a:prstGeom>
        </p:spPr>
      </p:pic>
      <p:sp>
        <p:nvSpPr>
          <p:cNvPr id="18" name="Text 13"/>
          <p:cNvSpPr txBox="1"/>
          <p:nvPr/>
        </p:nvSpPr>
        <p:spPr>
          <a:xfrm>
            <a:off x="6355080" y="3072384"/>
            <a:ext cx="2331720" cy="868680"/>
          </a:xfrm>
          <a:prstGeom prst="rect">
            <a:avLst/>
          </a:prstGeom>
          <a:noFill/>
          <a:ln/>
        </p:spPr>
        <p:txBody>
          <a:bodyPr wrap="square" lIns="0" tIns="0" rIns="0" bIns="0" rtlCol="0" anchor="t"/>
          <a:lstStyle/>
          <a:p>
            <a:pPr indent="0" marL="0">
              <a:buNone/>
            </a:pPr>
            <a:r>
              <a:rPr lang="en-US" sz="1400" dirty="0">
                <a:solidFill>
                  <a:srgbClr val="1B1F24"/>
                </a:solidFill>
              </a:rPr>
              <a:t>Claude Desktop answers a question and makes a change</a:t>
            </a:r>
            <a:endParaRPr lang="en-US" sz="1400" dirty="0"/>
          </a:p>
        </p:txBody>
      </p:sp>
      <p:sp>
        <p:nvSpPr>
          <p:cNvPr id="19" name="Shape 14"/>
          <p:cNvSpPr/>
          <p:nvPr/>
        </p:nvSpPr>
        <p:spPr>
          <a:xfrm>
            <a:off x="5852160" y="3840480"/>
            <a:ext cx="384048" cy="384048"/>
          </a:xfrm>
          <a:prstGeom prst="ellipse">
            <a:avLst/>
          </a:prstGeom>
          <a:solidFill>
            <a:srgbClr val="1FB68A"/>
          </a:solidFill>
          <a:ln w="12700">
            <a:solidFill>
              <a:srgbClr val="1FB68A"/>
            </a:solidFill>
            <a:prstDash val="solid"/>
          </a:ln>
        </p:spPr>
      </p:sp>
      <p:pic>
        <p:nvPicPr>
          <p:cNvPr id="20" name="Image 3" descr="preencoded.png">    </p:cNvPr>
          <p:cNvPicPr>
            <a:picLocks noChangeAspect="1"/>
          </p:cNvPicPr>
          <p:nvPr/>
        </p:nvPicPr>
        <p:blipFill>
          <a:blip r:embed="rId4"/>
          <a:stretch>
            <a:fillRect/>
          </a:stretch>
        </p:blipFill>
        <p:spPr>
          <a:xfrm>
            <a:off x="5936651" y="3924971"/>
            <a:ext cx="215067" cy="215067"/>
          </a:xfrm>
          <a:prstGeom prst="rect">
            <a:avLst/>
          </a:prstGeom>
        </p:spPr>
      </p:pic>
      <p:sp>
        <p:nvSpPr>
          <p:cNvPr id="21" name="Text 15"/>
          <p:cNvSpPr txBox="1"/>
          <p:nvPr/>
        </p:nvSpPr>
        <p:spPr>
          <a:xfrm>
            <a:off x="6355080" y="3803904"/>
            <a:ext cx="2331720" cy="868680"/>
          </a:xfrm>
          <a:prstGeom prst="rect">
            <a:avLst/>
          </a:prstGeom>
          <a:noFill/>
          <a:ln/>
        </p:spPr>
        <p:txBody>
          <a:bodyPr wrap="square" lIns="0" tIns="0" rIns="0" bIns="0" rtlCol="0" anchor="t"/>
          <a:lstStyle/>
          <a:p>
            <a:pPr indent="0" marL="0">
              <a:buNone/>
            </a:pPr>
            <a:r>
              <a:rPr lang="en-US" sz="1400" dirty="0">
                <a:solidFill>
                  <a:srgbClr val="1B1F24"/>
                </a:solidFill>
              </a:rPr>
              <a:t>your agent stopped and is waiting</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1B1F24"/>
                </a:solidFill>
              </a:rPr>
              <a:t>When the agent goes wrong: module 2</a:t>
            </a:r>
            <a:endParaRPr lang="en-US" sz="3200" dirty="0"/>
          </a:p>
        </p:txBody>
      </p:sp>
      <p:sp>
        <p:nvSpPr>
          <p:cNvPr id="3" name="snag-1"/>
          <p:cNvSpPr/>
          <p:nvPr/>
        </p:nvSpPr>
        <p:spPr>
          <a:xfrm>
            <a:off x="457200" y="1097280"/>
            <a:ext cx="8229600" cy="1051560"/>
          </a:xfrm>
          <a:prstGeom prst="roundRect">
            <a:avLst>
              <a:gd name="adj" fmla="val 6957"/>
            </a:avLst>
          </a:prstGeom>
          <a:solidFill>
            <a:srgbClr val="F1F5F9"/>
          </a:solidFill>
          <a:ln w="12700">
            <a:solidFill>
              <a:srgbClr val="F1F5F9"/>
            </a:solidFill>
            <a:prstDash val="solid"/>
          </a:ln>
        </p:spPr>
      </p:sp>
      <p:sp>
        <p:nvSpPr>
          <p:cNvPr id="4" name="Shape 2"/>
          <p:cNvSpPr/>
          <p:nvPr/>
        </p:nvSpPr>
        <p:spPr>
          <a:xfrm>
            <a:off x="685800" y="1371600"/>
            <a:ext cx="502920" cy="502920"/>
          </a:xfrm>
          <a:prstGeom prst="ellipse">
            <a:avLst/>
          </a:prstGeom>
          <a:solidFill>
            <a:srgbClr val="E69A28"/>
          </a:solidFill>
          <a:ln w="12700">
            <a:solidFill>
              <a:srgbClr val="E69A28"/>
            </a:solidFill>
            <a:prstDash val="solid"/>
          </a:ln>
        </p:spPr>
      </p:sp>
      <p:pic>
        <p:nvPicPr>
          <p:cNvPr id="5" name="Image 0" descr="preencoded.png">    </p:cNvPr>
          <p:cNvPicPr>
            <a:picLocks noChangeAspect="1"/>
          </p:cNvPicPr>
          <p:nvPr/>
        </p:nvPicPr>
        <p:blipFill>
          <a:blip r:embed="rId1"/>
          <a:stretch>
            <a:fillRect/>
          </a:stretch>
        </p:blipFill>
        <p:spPr>
          <a:xfrm>
            <a:off x="796442" y="1482242"/>
            <a:ext cx="281635" cy="281635"/>
          </a:xfrm>
          <a:prstGeom prst="rect">
            <a:avLst/>
          </a:prstGeom>
        </p:spPr>
      </p:pic>
      <p:sp>
        <p:nvSpPr>
          <p:cNvPr id="6" name="Text 3"/>
          <p:cNvSpPr txBox="1"/>
          <p:nvPr/>
        </p:nvSpPr>
        <p:spPr>
          <a:xfrm>
            <a:off x="1417320" y="1188720"/>
            <a:ext cx="7086600" cy="868680"/>
          </a:xfrm>
          <a:prstGeom prst="rect">
            <a:avLst/>
          </a:prstGeom>
          <a:noFill/>
          <a:ln/>
        </p:spPr>
        <p:txBody>
          <a:bodyPr wrap="square" lIns="0" tIns="0" rIns="0" bIns="0" rtlCol="0" anchor="ctr"/>
          <a:lstStyle/>
          <a:p>
            <a:pPr indent="0" marL="0">
              <a:buNone/>
            </a:pPr>
            <a:r>
              <a:rPr lang="en-US" sz="1600" b="1" dirty="0">
                <a:solidFill>
                  <a:srgbClr val="1B1F24"/>
                </a:solidFill>
              </a:rPr>
              <a:t>query checks the SQL string only</a:t>
            </a:r>
            <a:endParaRPr lang="en-US" sz="1600" dirty="0"/>
          </a:p>
          <a:p>
            <a:pPr indent="0" marL="0">
              <a:buNone/>
            </a:pPr>
            <a:r>
              <a:rPr lang="en-US" sz="1400" dirty="0">
                <a:solidFill>
                  <a:srgbClr val="2B3440"/>
                </a:solidFill>
              </a:rPr>
              <a:t>A write can hide inside a WITH. Ask for PRAGMA query_only too, and a test that tries it.</a:t>
            </a:r>
            <a:endParaRPr lang="en-US" sz="1600" dirty="0"/>
          </a:p>
        </p:txBody>
      </p:sp>
      <p:sp>
        <p:nvSpPr>
          <p:cNvPr id="7" name="snag-2"/>
          <p:cNvSpPr/>
          <p:nvPr/>
        </p:nvSpPr>
        <p:spPr>
          <a:xfrm>
            <a:off x="457200" y="2286000"/>
            <a:ext cx="8229600" cy="1051560"/>
          </a:xfrm>
          <a:prstGeom prst="roundRect">
            <a:avLst>
              <a:gd name="adj" fmla="val 6957"/>
            </a:avLst>
          </a:prstGeom>
          <a:solidFill>
            <a:srgbClr val="F1F5F9"/>
          </a:solidFill>
          <a:ln w="12700">
            <a:solidFill>
              <a:srgbClr val="F1F5F9"/>
            </a:solidFill>
            <a:prstDash val="solid"/>
          </a:ln>
        </p:spPr>
      </p:sp>
      <p:sp>
        <p:nvSpPr>
          <p:cNvPr id="8" name="Shape 5"/>
          <p:cNvSpPr/>
          <p:nvPr/>
        </p:nvSpPr>
        <p:spPr>
          <a:xfrm>
            <a:off x="685800" y="2560320"/>
            <a:ext cx="502920" cy="502920"/>
          </a:xfrm>
          <a:prstGeom prst="ellipse">
            <a:avLst/>
          </a:prstGeom>
          <a:solidFill>
            <a:srgbClr val="E69A28"/>
          </a:solidFill>
          <a:ln w="12700">
            <a:solidFill>
              <a:srgbClr val="E69A28"/>
            </a:solidFill>
            <a:prstDash val="solid"/>
          </a:ln>
        </p:spPr>
      </p:sp>
      <p:pic>
        <p:nvPicPr>
          <p:cNvPr id="9" name="Image 1" descr="preencoded.png">    </p:cNvPr>
          <p:cNvPicPr>
            <a:picLocks noChangeAspect="1"/>
          </p:cNvPicPr>
          <p:nvPr/>
        </p:nvPicPr>
        <p:blipFill>
          <a:blip r:embed="rId2"/>
          <a:stretch>
            <a:fillRect/>
          </a:stretch>
        </p:blipFill>
        <p:spPr>
          <a:xfrm>
            <a:off x="796442" y="2670962"/>
            <a:ext cx="281635" cy="281635"/>
          </a:xfrm>
          <a:prstGeom prst="rect">
            <a:avLst/>
          </a:prstGeom>
        </p:spPr>
      </p:pic>
      <p:sp>
        <p:nvSpPr>
          <p:cNvPr id="10" name="Text 6"/>
          <p:cNvSpPr txBox="1"/>
          <p:nvPr/>
        </p:nvSpPr>
        <p:spPr>
          <a:xfrm>
            <a:off x="1417320" y="2377440"/>
            <a:ext cx="7086600" cy="868680"/>
          </a:xfrm>
          <a:prstGeom prst="rect">
            <a:avLst/>
          </a:prstGeom>
          <a:noFill/>
          <a:ln/>
        </p:spPr>
        <p:txBody>
          <a:bodyPr wrap="square" lIns="0" tIns="0" rIns="0" bIns="0" rtlCol="0" anchor="ctr"/>
          <a:lstStyle/>
          <a:p>
            <a:pPr indent="0" marL="0">
              <a:buNone/>
            </a:pPr>
            <a:r>
              <a:rPr lang="en-US" sz="1600" b="1" dirty="0">
                <a:solidFill>
                  <a:srgbClr val="1B1F24"/>
                </a:solidFill>
              </a:rPr>
              <a:t>execute runs any SQL it is given</a:t>
            </a:r>
            <a:endParaRPr lang="en-US" sz="1600" dirty="0"/>
          </a:p>
          <a:p>
            <a:pPr indent="0" marL="0">
              <a:buNone/>
            </a:pPr>
            <a:r>
              <a:rPr lang="en-US" sz="1400" dirty="0">
                <a:solidFill>
                  <a:srgbClr val="2B3440"/>
                </a:solidFill>
              </a:rPr>
              <a:t>One statement, INSERT/UPDATE/DELETE only, a WHERE on UPDATE and DELETE. Ask for a test per refusal.</a:t>
            </a:r>
            <a:endParaRPr lang="en-US" sz="1600" dirty="0"/>
          </a:p>
        </p:txBody>
      </p:sp>
      <p:sp>
        <p:nvSpPr>
          <p:cNvPr id="11" name="snag-3"/>
          <p:cNvSpPr/>
          <p:nvPr/>
        </p:nvSpPr>
        <p:spPr>
          <a:xfrm>
            <a:off x="457200" y="3474720"/>
            <a:ext cx="8229600" cy="1051560"/>
          </a:xfrm>
          <a:prstGeom prst="roundRect">
            <a:avLst>
              <a:gd name="adj" fmla="val 6957"/>
            </a:avLst>
          </a:prstGeom>
          <a:solidFill>
            <a:srgbClr val="F1F5F9"/>
          </a:solidFill>
          <a:ln w="12700">
            <a:solidFill>
              <a:srgbClr val="F1F5F9"/>
            </a:solidFill>
            <a:prstDash val="solid"/>
          </a:ln>
        </p:spPr>
      </p:sp>
      <p:sp>
        <p:nvSpPr>
          <p:cNvPr id="12" name="Shape 8"/>
          <p:cNvSpPr/>
          <p:nvPr/>
        </p:nvSpPr>
        <p:spPr>
          <a:xfrm>
            <a:off x="685800" y="3749040"/>
            <a:ext cx="502920" cy="502920"/>
          </a:xfrm>
          <a:prstGeom prst="ellipse">
            <a:avLst/>
          </a:prstGeom>
          <a:solidFill>
            <a:srgbClr val="E69A28"/>
          </a:solidFill>
          <a:ln w="12700">
            <a:solidFill>
              <a:srgbClr val="E69A28"/>
            </a:solidFill>
            <a:prstDash val="solid"/>
          </a:ln>
        </p:spPr>
      </p:sp>
      <p:pic>
        <p:nvPicPr>
          <p:cNvPr id="13" name="Image 2" descr="preencoded.png">    </p:cNvPr>
          <p:cNvPicPr>
            <a:picLocks noChangeAspect="1"/>
          </p:cNvPicPr>
          <p:nvPr/>
        </p:nvPicPr>
        <p:blipFill>
          <a:blip r:embed="rId3"/>
          <a:stretch>
            <a:fillRect/>
          </a:stretch>
        </p:blipFill>
        <p:spPr>
          <a:xfrm>
            <a:off x="796442" y="3859682"/>
            <a:ext cx="281635" cy="281635"/>
          </a:xfrm>
          <a:prstGeom prst="rect">
            <a:avLst/>
          </a:prstGeom>
        </p:spPr>
      </p:pic>
      <p:sp>
        <p:nvSpPr>
          <p:cNvPr id="14" name="Text 9"/>
          <p:cNvSpPr txBox="1"/>
          <p:nvPr/>
        </p:nvSpPr>
        <p:spPr>
          <a:xfrm>
            <a:off x="1417320" y="3566160"/>
            <a:ext cx="7086600" cy="868680"/>
          </a:xfrm>
          <a:prstGeom prst="rect">
            <a:avLst/>
          </a:prstGeom>
          <a:noFill/>
          <a:ln/>
        </p:spPr>
        <p:txBody>
          <a:bodyPr wrap="square" lIns="0" tIns="0" rIns="0" bIns="0" rtlCol="0" anchor="ctr"/>
          <a:lstStyle/>
          <a:p>
            <a:pPr indent="0" marL="0">
              <a:buNone/>
            </a:pPr>
            <a:r>
              <a:rPr lang="en-US" sz="1600" b="1" dirty="0">
                <a:solidFill>
                  <a:srgbClr val="1B1F24"/>
                </a:solidFill>
              </a:rPr>
              <a:t>Claude sees no tables</a:t>
            </a:r>
            <a:endParaRPr lang="en-US" sz="1600" dirty="0"/>
          </a:p>
          <a:p>
            <a:pPr indent="0" marL="0">
              <a:buNone/>
            </a:pPr>
            <a:r>
              <a:rPr lang="en-US" sz="1400" dirty="0">
                <a:solidFill>
                  <a:srgbClr val="2B3440"/>
                </a:solidFill>
              </a:rPr>
              <a:t>The server started in another folder and got an empty database. Use absolute paths; the server should exit when the file is missing.</a:t>
            </a:r>
            <a:endParaRPr lang="en-US" sz="1600" dirty="0"/>
          </a:p>
        </p:txBody>
      </p:sp>
      <p:sp>
        <p:nvSpPr>
          <p:cNvPr id="15" name="snag-4"/>
          <p:cNvSpPr/>
          <p:nvPr/>
        </p:nvSpPr>
        <p:spPr>
          <a:xfrm>
            <a:off x="457200" y="4663440"/>
            <a:ext cx="8229600" cy="1051560"/>
          </a:xfrm>
          <a:prstGeom prst="roundRect">
            <a:avLst>
              <a:gd name="adj" fmla="val 6957"/>
            </a:avLst>
          </a:prstGeom>
          <a:solidFill>
            <a:srgbClr val="F1F5F9"/>
          </a:solidFill>
          <a:ln w="12700">
            <a:solidFill>
              <a:srgbClr val="F1F5F9"/>
            </a:solidFill>
            <a:prstDash val="solid"/>
          </a:ln>
        </p:spPr>
      </p:sp>
      <p:sp>
        <p:nvSpPr>
          <p:cNvPr id="16" name="Shape 11"/>
          <p:cNvSpPr/>
          <p:nvPr/>
        </p:nvSpPr>
        <p:spPr>
          <a:xfrm>
            <a:off x="685800" y="4937760"/>
            <a:ext cx="502920" cy="502920"/>
          </a:xfrm>
          <a:prstGeom prst="ellipse">
            <a:avLst/>
          </a:prstGeom>
          <a:solidFill>
            <a:srgbClr val="E69A28"/>
          </a:solidFill>
          <a:ln w="12700">
            <a:solidFill>
              <a:srgbClr val="E69A28"/>
            </a:solidFill>
            <a:prstDash val="solid"/>
          </a:ln>
        </p:spPr>
      </p:sp>
      <p:pic>
        <p:nvPicPr>
          <p:cNvPr id="17" name="Image 3" descr="preencoded.png">    </p:cNvPr>
          <p:cNvPicPr>
            <a:picLocks noChangeAspect="1"/>
          </p:cNvPicPr>
          <p:nvPr/>
        </p:nvPicPr>
        <p:blipFill>
          <a:blip r:embed="rId4"/>
          <a:stretch>
            <a:fillRect/>
          </a:stretch>
        </p:blipFill>
        <p:spPr>
          <a:xfrm>
            <a:off x="796442" y="5048402"/>
            <a:ext cx="281635" cy="281635"/>
          </a:xfrm>
          <a:prstGeom prst="rect">
            <a:avLst/>
          </a:prstGeom>
        </p:spPr>
      </p:pic>
      <p:sp>
        <p:nvSpPr>
          <p:cNvPr id="18" name="Text 12"/>
          <p:cNvSpPr txBox="1"/>
          <p:nvPr/>
        </p:nvSpPr>
        <p:spPr>
          <a:xfrm>
            <a:off x="1417320" y="4754880"/>
            <a:ext cx="7086600" cy="868680"/>
          </a:xfrm>
          <a:prstGeom prst="rect">
            <a:avLst/>
          </a:prstGeom>
          <a:noFill/>
          <a:ln/>
        </p:spPr>
        <p:txBody>
          <a:bodyPr wrap="square" lIns="0" tIns="0" rIns="0" bIns="0" rtlCol="0" anchor="ctr"/>
          <a:lstStyle/>
          <a:p>
            <a:pPr indent="0" marL="0">
              <a:buNone/>
            </a:pPr>
            <a:r>
              <a:rPr lang="en-US" sz="1600" b="1" dirty="0">
                <a:solidFill>
                  <a:srgbClr val="1B1F24"/>
                </a:solidFill>
              </a:rPr>
              <a:t>Claude Desktop shows no notes-db tools</a:t>
            </a:r>
            <a:endParaRPr lang="en-US" sz="1600" dirty="0"/>
          </a:p>
          <a:p>
            <a:pPr indent="0" marL="0">
              <a:buNone/>
            </a:pPr>
            <a:r>
              <a:rPr lang="en-US" sz="1400" dirty="0">
                <a:solidFill>
                  <a:srgbClr val="2B3440"/>
                </a:solidFill>
              </a:rPr>
              <a:t>A relative path or a bare node in the entry. Use the script's absolute paths, then quit Claude Desktop fully and reopen.</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188720"/>
          </a:xfrm>
          <a:prstGeom prst="rect">
            <a:avLst/>
          </a:prstGeom>
          <a:noFill/>
          <a:ln/>
        </p:spPr>
        <p:txBody>
          <a:bodyPr wrap="square" lIns="0" tIns="0" rIns="0" bIns="0" rtlCol="0" anchor="b"/>
          <a:lstStyle/>
          <a:p>
            <a:pPr algn="l" indent="0" marL="0">
              <a:buNone/>
            </a:pPr>
            <a:r>
              <a:rPr lang="en-US" sz="4400" b="1" dirty="0">
                <a:solidFill>
                  <a:srgbClr val="FFFFFF"/>
                </a:solidFill>
              </a:rPr>
              <a:t>What you built</a:t>
            </a:r>
            <a:endParaRPr lang="en-US" sz="4400" dirty="0"/>
          </a:p>
        </p:txBody>
      </p:sp>
      <p:sp>
        <p:nvSpPr>
          <p:cNvPr id="3" name="Shape 1"/>
          <p:cNvSpPr/>
          <p:nvPr/>
        </p:nvSpPr>
        <p:spPr>
          <a:xfrm>
            <a:off x="548640" y="2743200"/>
            <a:ext cx="1481328" cy="685800"/>
          </a:xfrm>
          <a:prstGeom prst="roundRect">
            <a:avLst>
              <a:gd name="adj" fmla="val 10667"/>
            </a:avLst>
          </a:prstGeom>
          <a:solidFill>
            <a:srgbClr val="2B3440"/>
          </a:solidFill>
          <a:ln w="12700">
            <a:solidFill>
              <a:srgbClr val="2B3440"/>
            </a:solidFill>
            <a:prstDash val="solid"/>
          </a:ln>
        </p:spPr>
      </p:sp>
      <p:sp>
        <p:nvSpPr>
          <p:cNvPr id="4" name="Text 2"/>
          <p:cNvSpPr txBox="1"/>
          <p:nvPr/>
        </p:nvSpPr>
        <p:spPr>
          <a:xfrm>
            <a:off x="548640" y="2743200"/>
            <a:ext cx="1481328" cy="685800"/>
          </a:xfrm>
          <a:prstGeom prst="rect">
            <a:avLst/>
          </a:prstGeom>
          <a:noFill/>
          <a:ln/>
        </p:spPr>
        <p:txBody>
          <a:bodyPr wrap="square" lIns="0" tIns="0" rIns="0" bIns="0" rtlCol="0" anchor="ctr"/>
          <a:lstStyle/>
          <a:p>
            <a:pPr algn="ctr" indent="0" marL="0">
              <a:buNone/>
            </a:pPr>
            <a:r>
              <a:rPr lang="en-US" sz="1400" b="1" dirty="0">
                <a:solidFill>
                  <a:srgbClr val="FFFFFF"/>
                </a:solidFill>
              </a:rPr>
              <a:t>Seeded SQLite</a:t>
            </a:r>
            <a:endParaRPr lang="en-US" sz="1400" dirty="0"/>
          </a:p>
        </p:txBody>
      </p:sp>
      <p:sp>
        <p:nvSpPr>
          <p:cNvPr id="5" name="Shape 3"/>
          <p:cNvSpPr/>
          <p:nvPr/>
        </p:nvSpPr>
        <p:spPr>
          <a:xfrm>
            <a:off x="2185416" y="2743200"/>
            <a:ext cx="1481328" cy="685800"/>
          </a:xfrm>
          <a:prstGeom prst="roundRect">
            <a:avLst>
              <a:gd name="adj" fmla="val 10667"/>
            </a:avLst>
          </a:prstGeom>
          <a:solidFill>
            <a:srgbClr val="2B3440"/>
          </a:solidFill>
          <a:ln w="12700">
            <a:solidFill>
              <a:srgbClr val="2B3440"/>
            </a:solidFill>
            <a:prstDash val="solid"/>
          </a:ln>
        </p:spPr>
      </p:sp>
      <p:sp>
        <p:nvSpPr>
          <p:cNvPr id="6" name="Text 4"/>
          <p:cNvSpPr txBox="1"/>
          <p:nvPr/>
        </p:nvSpPr>
        <p:spPr>
          <a:xfrm>
            <a:off x="2185416" y="2743200"/>
            <a:ext cx="1481328" cy="685800"/>
          </a:xfrm>
          <a:prstGeom prst="rect">
            <a:avLst/>
          </a:prstGeom>
          <a:noFill/>
          <a:ln/>
        </p:spPr>
        <p:txBody>
          <a:bodyPr wrap="square" lIns="0" tIns="0" rIns="0" bIns="0" rtlCol="0" anchor="ctr"/>
          <a:lstStyle/>
          <a:p>
            <a:pPr algn="ctr" indent="0" marL="0">
              <a:buNone/>
            </a:pPr>
            <a:r>
              <a:rPr lang="en-US" sz="1400" b="1" dirty="0">
                <a:solidFill>
                  <a:srgbClr val="FFFFFF"/>
                </a:solidFill>
              </a:rPr>
              <a:t>Users</a:t>
            </a:r>
            <a:endParaRPr lang="en-US" sz="1400" dirty="0"/>
          </a:p>
        </p:txBody>
      </p:sp>
      <p:sp>
        <p:nvSpPr>
          <p:cNvPr id="7" name="Shape 5"/>
          <p:cNvSpPr/>
          <p:nvPr/>
        </p:nvSpPr>
        <p:spPr>
          <a:xfrm>
            <a:off x="3822192" y="2743200"/>
            <a:ext cx="1481328" cy="685800"/>
          </a:xfrm>
          <a:prstGeom prst="roundRect">
            <a:avLst>
              <a:gd name="adj" fmla="val 10667"/>
            </a:avLst>
          </a:prstGeom>
          <a:solidFill>
            <a:srgbClr val="2B3440"/>
          </a:solidFill>
          <a:ln w="12700">
            <a:solidFill>
              <a:srgbClr val="2B3440"/>
            </a:solidFill>
            <a:prstDash val="solid"/>
          </a:ln>
        </p:spPr>
      </p:sp>
      <p:sp>
        <p:nvSpPr>
          <p:cNvPr id="8" name="Text 6"/>
          <p:cNvSpPr txBox="1"/>
          <p:nvPr/>
        </p:nvSpPr>
        <p:spPr>
          <a:xfrm>
            <a:off x="3822192" y="2743200"/>
            <a:ext cx="1481328" cy="685800"/>
          </a:xfrm>
          <a:prstGeom prst="rect">
            <a:avLst/>
          </a:prstGeom>
          <a:noFill/>
          <a:ln/>
        </p:spPr>
        <p:txBody>
          <a:bodyPr wrap="square" lIns="0" tIns="0" rIns="0" bIns="0" rtlCol="0" anchor="ctr"/>
          <a:lstStyle/>
          <a:p>
            <a:pPr algn="ctr" indent="0" marL="0">
              <a:buNone/>
            </a:pPr>
            <a:r>
              <a:rPr lang="en-US" sz="1400" b="1" dirty="0">
                <a:solidFill>
                  <a:srgbClr val="FFFFFF"/>
                </a:solidFill>
              </a:rPr>
              <a:t>Notes + sharing</a:t>
            </a:r>
            <a:endParaRPr lang="en-US" sz="1400" dirty="0"/>
          </a:p>
        </p:txBody>
      </p:sp>
      <p:sp>
        <p:nvSpPr>
          <p:cNvPr id="9" name="Shape 7"/>
          <p:cNvSpPr/>
          <p:nvPr/>
        </p:nvSpPr>
        <p:spPr>
          <a:xfrm>
            <a:off x="5458968" y="2743200"/>
            <a:ext cx="1481328" cy="685800"/>
          </a:xfrm>
          <a:prstGeom prst="roundRect">
            <a:avLst>
              <a:gd name="adj" fmla="val 10667"/>
            </a:avLst>
          </a:prstGeom>
          <a:solidFill>
            <a:srgbClr val="2B3440"/>
          </a:solidFill>
          <a:ln w="12700">
            <a:solidFill>
              <a:srgbClr val="2B3440"/>
            </a:solidFill>
            <a:prstDash val="solid"/>
          </a:ln>
        </p:spPr>
      </p:sp>
      <p:sp>
        <p:nvSpPr>
          <p:cNvPr id="10" name="Text 8"/>
          <p:cNvSpPr txBox="1"/>
          <p:nvPr/>
        </p:nvSpPr>
        <p:spPr>
          <a:xfrm>
            <a:off x="5458968" y="2743200"/>
            <a:ext cx="1481328" cy="685800"/>
          </a:xfrm>
          <a:prstGeom prst="rect">
            <a:avLst/>
          </a:prstGeom>
          <a:noFill/>
          <a:ln/>
        </p:spPr>
        <p:txBody>
          <a:bodyPr wrap="square" lIns="0" tIns="0" rIns="0" bIns="0" rtlCol="0" anchor="ctr"/>
          <a:lstStyle/>
          <a:p>
            <a:pPr algn="ctr" indent="0" marL="0">
              <a:buNone/>
            </a:pPr>
            <a:r>
              <a:rPr lang="en-US" sz="1400" b="1" dirty="0">
                <a:solidFill>
                  <a:srgbClr val="FFFFFF"/>
                </a:solidFill>
              </a:rPr>
              <a:t>MCP server</a:t>
            </a:r>
            <a:endParaRPr lang="en-US" sz="1400" dirty="0"/>
          </a:p>
        </p:txBody>
      </p:sp>
      <p:sp>
        <p:nvSpPr>
          <p:cNvPr id="11" name="Shape 9"/>
          <p:cNvSpPr/>
          <p:nvPr/>
        </p:nvSpPr>
        <p:spPr>
          <a:xfrm>
            <a:off x="7095744" y="2743200"/>
            <a:ext cx="1481328" cy="685800"/>
          </a:xfrm>
          <a:prstGeom prst="roundRect">
            <a:avLst>
              <a:gd name="adj" fmla="val 10667"/>
            </a:avLst>
          </a:prstGeom>
          <a:solidFill>
            <a:srgbClr val="1FB68A"/>
          </a:solidFill>
          <a:ln w="12700">
            <a:solidFill>
              <a:srgbClr val="2B3440"/>
            </a:solidFill>
            <a:prstDash val="solid"/>
          </a:ln>
        </p:spPr>
      </p:sp>
      <p:sp>
        <p:nvSpPr>
          <p:cNvPr id="12" name="Text 10"/>
          <p:cNvSpPr txBox="1"/>
          <p:nvPr/>
        </p:nvSpPr>
        <p:spPr>
          <a:xfrm>
            <a:off x="7095744" y="2743200"/>
            <a:ext cx="1481328" cy="685800"/>
          </a:xfrm>
          <a:prstGeom prst="rect">
            <a:avLst/>
          </a:prstGeom>
          <a:noFill/>
          <a:ln/>
        </p:spPr>
        <p:txBody>
          <a:bodyPr wrap="square" lIns="0" tIns="0" rIns="0" bIns="0" rtlCol="0" anchor="ctr"/>
          <a:lstStyle/>
          <a:p>
            <a:pPr algn="ctr" indent="0" marL="0">
              <a:buNone/>
            </a:pPr>
            <a:r>
              <a:rPr lang="en-US" sz="1400" b="1" dirty="0">
                <a:solidFill>
                  <a:srgbClr val="FFFFFF"/>
                </a:solidFill>
              </a:rPr>
              <a:t>Claude Desktop</a:t>
            </a:r>
            <a:endParaRPr lang="en-US" sz="1400" dirty="0"/>
          </a:p>
        </p:txBody>
      </p:sp>
      <p:sp>
        <p:nvSpPr>
          <p:cNvPr id="13" name="Text 11"/>
          <p:cNvSpPr txBox="1"/>
          <p:nvPr/>
        </p:nvSpPr>
        <p:spPr>
          <a:xfrm>
            <a:off x="548640" y="3703320"/>
            <a:ext cx="8046720" cy="731520"/>
          </a:xfrm>
          <a:prstGeom prst="rect">
            <a:avLst/>
          </a:prstGeom>
          <a:noFill/>
          <a:ln/>
        </p:spPr>
        <p:txBody>
          <a:bodyPr wrap="square" lIns="0" tIns="0" rIns="0" bIns="0" rtlCol="0" anchor="t"/>
          <a:lstStyle/>
          <a:p>
            <a:pPr indent="0" marL="0">
              <a:buNone/>
            </a:pPr>
            <a:r>
              <a:rPr lang="en-US" sz="1400" dirty="0">
                <a:solidFill>
                  <a:srgbClr val="CBD5E1"/>
                </a:solidFill>
              </a:rPr>
              <a:t>Next: authentication before anyone else can reach it · an HTTP transport for a shared server · your own tables and tools</a:t>
            </a:r>
            <a:endParaRPr lang="en-US" sz="1400" dirty="0"/>
          </a:p>
        </p:txBody>
      </p:sp>
      <p:sp>
        <p:nvSpPr>
          <p:cNvPr id="15" name="Text 0"/>
          <p:cNvSpPr/>
          <p:nvPr>
            <p:ph idx="101" type="body" hasCustomPrompt="1"/>
          </p:nvPr>
        </p:nvSpPr>
        <p:spPr>
          <a:xfrm>
            <a:off x="548640" y="2697480"/>
            <a:ext cx="8046720" cy="822960"/>
          </a:xfrm>
          <a:prstGeom prst="rect">
            <a:avLst/>
          </a:prstGeom>
          <a:noFill/>
          <a:ln/>
        </p:spPr>
        <p:txBody>
          <a:bodyPr wrap="square" lIns="0" tIns="0" rIns="0" bIns="0" rtlCol="0" anchor="t"/>
          <a:lstStyle/>
          <a:p>
            <a:pPr indent="0" marL="0">
              <a:buNone/>
            </a:pPr>
            <a:endParaRPr lang="en-US" sz="1800" dirty="0"/>
          </a:p>
        </p:txBody>
      </p:sp>
    </p:spTree>
  </p:cSld>
  <p:clrMapOvr>
    <a:masterClrMapping/>
  </p:clrMapOvr>
</p:sld>
</file>

<file path=ppt/theme/theme1.xml><?xml version="1.0" encoding="utf-8"?>
<a:theme xmlns:a="http://schemas.openxmlformats.org/drawingml/2006/main" name="Lab Companion">
  <a:themeElements>
    <a:clrScheme name="Lab Companion">
      <a:dk1>
        <a:srgbClr val="1B1F24"/>
      </a:dk1>
      <a:lt1>
        <a:srgbClr val="FFFFFF"/>
      </a:lt1>
      <a:dk2>
        <a:srgbClr val="2B3440"/>
      </a:dk2>
      <a:lt2>
        <a:srgbClr val="F1F5F9"/>
      </a:lt2>
      <a:accent1>
        <a:srgbClr val="1FB68A"/>
      </a:accent1>
      <a:accent2>
        <a:srgbClr val="E69A28"/>
      </a:accent2>
      <a:accent3>
        <a:srgbClr val="7C5CFF"/>
      </a:accent3>
      <a:accent4>
        <a:srgbClr val="E5484D"/>
      </a:accent4>
      <a:accent5>
        <a:srgbClr val="0F766E"/>
      </a:accent5>
      <a:accent6>
        <a:srgbClr val="94A3B8"/>
      </a:accent6>
      <a:hlink>
        <a:srgbClr val="0F766E"/>
      </a:hlink>
      <a:folHlink>
        <a:srgbClr val="7C5CFF"/>
      </a:folHlink>
    </a:clrScheme>
    <a:fontScheme name="Lab Compani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companion: Building Apps with AI Agents</dc:title>
  <dc:subject>PptxGenJS Presentation</dc:subject>
  <dc:creator>edu-training</dc:creator>
  <cp:lastModifiedBy>edu-training</cp:lastModifiedBy>
  <cp:revision>1</cp:revision>
  <dcterms:created xsi:type="dcterms:W3CDTF">2026-10-27T08:19:39Z</dcterms:created>
  <dcterms:modified xsi:type="dcterms:W3CDTF">2026-10-27T08:19:39Z</dcterms:modified>
</cp:coreProperties>
</file>