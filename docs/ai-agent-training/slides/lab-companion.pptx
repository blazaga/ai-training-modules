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deck on screen during lab work. Each module has: a divider (goal + time), PROMPT slides (what the proctor says and the exact prompt learners paste into their agent), CHECK IT (what learners run to check the agent's work), CHECKPOINT (what correct looks like) and WHEN THE AGENT GOES WRONG (mistakes agents actually made). The full explanations are in the chapter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does the building and the planning; the learner directs and checks. The instruction says what and when it is done, never how: the repo (CLAUDE.md, its skills, the specs) tells the agent how, and watching it find that out is part of the lab. Measured: fresh agents given only these instructions got every module's lab green. Hold the agent to evidence: counts, a failing run, the generated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request passes middleware first, then reaches a controller. The controller does no business logic: it calls a service. The service holds the rules and reads or writes the database (through a repository). The answer travels back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module groups one feature: its controller, its service and its repository. The controller calls the service; the service calls the repository; Nest connects them (dependency injection). Middleware sits outside the feature and runs before the controller. In module 1 your agent builds one module for users and one for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is on Windows. Windows PowerShell 5.1 has no &amp;&amp; (PowerShell 7 does), so every command is on its own line; curl is curl.exe there (plain curl is Invoke-WebRequest). The base starts its tools with node and their JS entry, because the node_modules\.bin shims are .cmd files on Windows; measured on Linux, not yet on a Windows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2 has no Postman folder: its client is Claude Desktop (or the MCP Inspector), over stdio.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checks drive the app over HTTP (lab 01, empty in-memory database) and the MCP server over stdio (lab 02, a copy of the seeded file), and never import learner code. The contracts are the specs; test/labs/README.md summarises them. Each module's reference result is a patch in docs/ai-agent-training/checkpoints/.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modules, about 105 minutes of labs. Times are ESTIMATES: nobody has run these labs with an audience yet. Adjust after the first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chapters 00 + 01 + 02. Left out for time: nothing: the two stretch exercises of chapter 01 are for fast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given only this instruction installed, built, started the app, and reported 20 unit / 2 e2e, lab 01 red, and the table counts (115 open and 85 done notes, 120 shares, none with its owner). If port 3000 is busy, PORT in .env (chapter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found the resource-spec and nest-resource-scaffold skills from CLAUDE.md on its own; the template kept users.table.ts and left 14 markers; verify went to 29 unit / 18 e2e. Lab 01 stays red until notes exist. Ask: which instruction told it to use the skill? None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got lab 01 15/15 and verify 43 unit / 46 e2e. Its first dueAt answered 500 for "next tuesday" (zod 4 runs a transform after a failed format check); it found and fixed it. The filters and share routes go outside the markers,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labs run on an empty in-memory database; this step proves the resources also serve the seeded rows. Then pnpm db:seed puts the data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chapters 03 + 04. Left out for time: the stdio framing lab (chapter 03): reading one exchange covers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got lab 02 10/10 (lab 01 still 15/15) and verify 60 unit / 55 e2e. Its query guard has two layers, each proven by removing it: one SELECT/WITH statement (libSQL silently runs only the first of two), and a query_only connection (a delete hidden in a WITH emptied the copy without it). It also found that the default database path is relative to the working directory.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Desktop starts the server from its own folder with a minimal PATH, so the entry needs absolute paths for node, the server and the database: the script prints them. Quit Claude Desktop completely (not just the window) before reopening. The lab runs on a COPY of data/app.db; Claude Desktop writes to the real one, and pnpm db:seed puts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asking each learner for one thing their agent got wrong, and how they found out: a count, a red test, the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B1F2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548640" y="2697480"/>
            <a:ext cx="8046720" cy="822960"/>
          </a:xfrm>
          <a:prstGeom prst="rect">
            <a:avLst/>
          </a:prstGeom>
          <a:noFill/>
          <a:ln/>
        </p:spPr>
        <p:txBody>
          <a:bodyPr wrap="square" rtlCol="0"/>
          <a:lstStyle>
            <a:lvl1pPr indent="0" marL="0">
              <a:buNone/>
              <a:defRPr lang="en-US" sz="1800" dirty="0">
                <a:solidFill>
                  <a:srgbClr val="1FB68A"/>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B1F24"/>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rtlCol="0"/>
          <a:lstStyle>
            <a:lvl1pPr indent="0" marL="0">
              <a:buNone/>
              <a:defRPr lang="en-US" sz="1400" b="1" spc="300" kern="0" dirty="0">
                <a:solidFill>
                  <a:srgbClr val="1FB68A"/>
                </a:solidFill>
              </a:defRPr>
            </a:lvl1pPr>
          </a:lstStyle>
          <a:p>
            <a:pPr indent="0" marL="0">
              <a:buNone/>
            </a:pP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rtlCol="0"/>
          <a:lstStyle>
            <a:lvl1pPr indent="0" marL="0">
              <a:buNone/>
              <a:defRPr lang="en-US" sz="1800" dirty="0">
                <a:solidFill>
                  <a:srgbClr val="CBD5E1"/>
                </a:solidFill>
              </a:defRPr>
            </a:lvl1pPr>
          </a:lstStyle>
          <a:p>
            <a:pPr indent="0" marL="0">
              <a:buNone/>
            </a:pPr>
            <a:endParaRPr lang="en-US" sz="1800" dirty="0"/>
          </a:p>
        </p:txBody>
      </p:sp>
      <p:sp>
        <p:nvSpPr>
          <p:cNvPr id="5"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rgbClr val="94A3B8"/>
                </a:solidFill>
              </a:rPr>
              <a:t>Lab companion · Building apps with AI agents · NestJS + MCP</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200" b="1" dirty="0">
                <a:solidFill>
                  <a:srgbClr val="1B1F24"/>
                </a:solidFill>
              </a:defRPr>
            </a:lvl1pPr>
          </a:lstStyle>
          <a:p>
            <a:pPr algn="l" indent="0" marL="0">
              <a:buNone/>
            </a:pPr>
            <a:endParaRPr lang="en-US" sz="3200" dirty="0"/>
          </a:p>
        </p:txBody>
      </p:sp>
      <p:sp>
        <p:nvSpPr>
          <p:cNvPr id="3"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rgbClr val="64748B"/>
                </a:solidFill>
              </a:rPr>
              <a:t>Lab companion · Building apps with AI agents · NestJS + MCP</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4.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4.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4.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4.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4.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b"/>
          <a:lstStyle/>
          <a:p>
            <a:pPr algn="l" indent="0" marL="0">
              <a:buNone/>
            </a:pPr>
            <a:r>
              <a:rPr lang="en-US" sz="4400" b="1" dirty="0">
                <a:solidFill>
                  <a:srgbClr val="FFFFFF"/>
                </a:solidFill>
              </a:rPr>
              <a:t>Building Apps with AI Agents</a:t>
            </a:r>
            <a:endParaRPr lang="en-US" sz="4400" dirty="0"/>
          </a:p>
        </p:txBody>
      </p:sp>
      <p:sp>
        <p:nvSpPr>
          <p:cNvPr id="3" name="Text 0"/>
          <p:cNvSpPr/>
          <p:nvPr>
            <p:ph idx="101" type="body" hasCustomPrompt="1"/>
          </p:nvPr>
        </p:nvSpPr>
        <p:spPr>
          <a:xfrm>
            <a:off x="548640" y="2697480"/>
            <a:ext cx="8046720" cy="822960"/>
          </a:xfrm>
          <a:prstGeom prst="rect">
            <a:avLst/>
          </a:prstGeom>
          <a:noFill/>
          <a:ln/>
        </p:spPr>
        <p:txBody>
          <a:bodyPr wrap="square" lIns="0" tIns="0" rIns="0" bIns="0" rtlCol="0" anchor="t"/>
          <a:lstStyle/>
          <a:p>
            <a:pPr indent="0" marL="0">
              <a:buNone/>
            </a:pPr>
            <a:r>
              <a:rPr lang="en-US" sz="1800" dirty="0">
                <a:solidFill>
                  <a:srgbClr val="1FB68A"/>
                </a:solidFill>
              </a:rPr>
              <a:t>Lab companion · two modules · NestJS 12 · drizzle · SQLite · MCP</a:t>
            </a:r>
            <a:endParaRPr lang="en-US" sz="1800" dirty="0"/>
          </a:p>
        </p:txBody>
      </p:sp>
      <p:sp>
        <p:nvSpPr>
          <p:cNvPr id="4" name="terminal"/>
          <p:cNvSpPr/>
          <p:nvPr/>
        </p:nvSpPr>
        <p:spPr>
          <a:xfrm>
            <a:off x="548640" y="3703320"/>
            <a:ext cx="5120640" cy="777240"/>
          </a:xfrm>
          <a:prstGeom prst="roundRect">
            <a:avLst>
              <a:gd name="adj" fmla="val 9412"/>
            </a:avLst>
          </a:prstGeom>
          <a:solidFill>
            <a:srgbClr val="1B1F24"/>
          </a:solidFill>
          <a:ln w="12700">
            <a:solidFill>
              <a:srgbClr val="1B1F24"/>
            </a:solidFill>
            <a:prstDash val="solid"/>
          </a:ln>
        </p:spPr>
      </p:sp>
      <p:sp>
        <p:nvSpPr>
          <p:cNvPr id="5" name="Shape 3"/>
          <p:cNvSpPr/>
          <p:nvPr/>
        </p:nvSpPr>
        <p:spPr>
          <a:xfrm>
            <a:off x="731520" y="3831336"/>
            <a:ext cx="109728" cy="109728"/>
          </a:xfrm>
          <a:prstGeom prst="ellipse">
            <a:avLst/>
          </a:prstGeom>
          <a:solidFill>
            <a:srgbClr val="E5484D"/>
          </a:solidFill>
          <a:ln w="12700">
            <a:solidFill>
              <a:srgbClr val="E5484D"/>
            </a:solidFill>
            <a:prstDash val="solid"/>
          </a:ln>
        </p:spPr>
      </p:sp>
      <p:sp>
        <p:nvSpPr>
          <p:cNvPr id="6" name="Shape 4"/>
          <p:cNvSpPr/>
          <p:nvPr/>
        </p:nvSpPr>
        <p:spPr>
          <a:xfrm>
            <a:off x="914400" y="3831336"/>
            <a:ext cx="109728" cy="109728"/>
          </a:xfrm>
          <a:prstGeom prst="ellipse">
            <a:avLst/>
          </a:prstGeom>
          <a:solidFill>
            <a:srgbClr val="E69A28"/>
          </a:solidFill>
          <a:ln w="12700">
            <a:solidFill>
              <a:srgbClr val="E69A28"/>
            </a:solidFill>
            <a:prstDash val="solid"/>
          </a:ln>
        </p:spPr>
      </p:sp>
      <p:sp>
        <p:nvSpPr>
          <p:cNvPr id="7" name="Shape 5"/>
          <p:cNvSpPr/>
          <p:nvPr/>
        </p:nvSpPr>
        <p:spPr>
          <a:xfrm>
            <a:off x="1097280" y="3831336"/>
            <a:ext cx="109728" cy="109728"/>
          </a:xfrm>
          <a:prstGeom prst="ellipse">
            <a:avLst/>
          </a:prstGeom>
          <a:solidFill>
            <a:srgbClr val="1FB68A"/>
          </a:solidFill>
          <a:ln w="12700">
            <a:solidFill>
              <a:srgbClr val="1FB68A"/>
            </a:solidFill>
            <a:prstDash val="solid"/>
          </a:ln>
        </p:spPr>
      </p:sp>
      <p:sp>
        <p:nvSpPr>
          <p:cNvPr id="8" name="terminal-text"/>
          <p:cNvSpPr txBox="1"/>
          <p:nvPr/>
        </p:nvSpPr>
        <p:spPr>
          <a:xfrm>
            <a:off x="777240" y="4087368"/>
            <a:ext cx="4663440" cy="274320"/>
          </a:xfrm>
          <a:prstGeom prst="rect">
            <a:avLst/>
          </a:prstGeom>
          <a:noFill/>
          <a:ln/>
        </p:spPr>
        <p:txBody>
          <a:bodyPr wrap="square" lIns="0" tIns="0" rIns="0" bIns="0" rtlCol="0" anchor="t"/>
          <a:lstStyle/>
          <a:p>
            <a:pPr indent="0" marL="0">
              <a:buNone/>
            </a:pPr>
            <a:r>
              <a:rPr lang="en-US" sz="1200" dirty="0">
                <a:solidFill>
                  <a:srgbClr val="E6EDF3"/>
                </a:solidFill>
                <a:latin typeface="Courier New" pitchFamily="34" charset="0"/>
                <a:ea typeface="Courier New" pitchFamily="34" charset="-122"/>
                <a:cs typeface="Courier New" pitchFamily="34" charset="-120"/>
              </a:rPr>
              <a:t>$ pnpm verify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How every lab works</a:t>
            </a:r>
            <a:endParaRPr lang="en-US" sz="3200" dirty="0"/>
          </a:p>
        </p:txBody>
      </p:sp>
      <p:sp>
        <p:nvSpPr>
          <p:cNvPr id="3" name="Shape 1"/>
          <p:cNvSpPr/>
          <p:nvPr/>
        </p:nvSpPr>
        <p:spPr>
          <a:xfrm>
            <a:off x="786384" y="1325880"/>
            <a:ext cx="822960" cy="822960"/>
          </a:xfrm>
          <a:prstGeom prst="ellipse">
            <a:avLst/>
          </a:prstGeom>
          <a:solidFill>
            <a:srgbClr val="1B1F24"/>
          </a:solidFill>
          <a:ln w="12700">
            <a:solidFill>
              <a:srgbClr val="1B1F24"/>
            </a:solidFill>
            <a:prstDash val="solid"/>
          </a:ln>
        </p:spPr>
      </p:sp>
      <p:sp>
        <p:nvSpPr>
          <p:cNvPr id="4" name="Text 2"/>
          <p:cNvSpPr txBox="1"/>
          <p:nvPr/>
        </p:nvSpPr>
        <p:spPr>
          <a:xfrm>
            <a:off x="786384"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1</a:t>
            </a:r>
            <a:endParaRPr lang="en-US" sz="2800" dirty="0"/>
          </a:p>
        </p:txBody>
      </p:sp>
      <p:pic>
        <p:nvPicPr>
          <p:cNvPr id="5" name="Image 0" descr="preencoded.png">    </p:cNvPr>
          <p:cNvPicPr>
            <a:picLocks noChangeAspect="1"/>
          </p:cNvPicPr>
          <p:nvPr/>
        </p:nvPicPr>
        <p:blipFill>
          <a:blip r:embed="rId1"/>
          <a:stretch>
            <a:fillRect/>
          </a:stretch>
        </p:blipFill>
        <p:spPr>
          <a:xfrm>
            <a:off x="1911096" y="1627632"/>
            <a:ext cx="237744" cy="237744"/>
          </a:xfrm>
          <a:prstGeom prst="rect">
            <a:avLst/>
          </a:prstGeom>
        </p:spPr>
      </p:pic>
      <p:sp>
        <p:nvSpPr>
          <p:cNvPr id="6" name="Text 3"/>
          <p:cNvSpPr txBox="1"/>
          <p:nvPr/>
        </p:nvSpPr>
        <p:spPr>
          <a:xfrm>
            <a:off x="457200"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Proctor</a:t>
            </a:r>
            <a:endParaRPr lang="en-US" sz="1800" dirty="0"/>
          </a:p>
        </p:txBody>
      </p:sp>
      <p:sp>
        <p:nvSpPr>
          <p:cNvPr id="7" name="Text 4"/>
          <p:cNvSpPr txBox="1"/>
          <p:nvPr/>
        </p:nvSpPr>
        <p:spPr>
          <a:xfrm>
            <a:off x="457200"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the goal, where the requirements are, when it is done</a:t>
            </a:r>
            <a:endParaRPr lang="en-US" sz="1400" dirty="0"/>
          </a:p>
        </p:txBody>
      </p:sp>
      <p:sp>
        <p:nvSpPr>
          <p:cNvPr id="8" name="Shape 5"/>
          <p:cNvSpPr/>
          <p:nvPr/>
        </p:nvSpPr>
        <p:spPr>
          <a:xfrm>
            <a:off x="2468880" y="1325880"/>
            <a:ext cx="822960" cy="822960"/>
          </a:xfrm>
          <a:prstGeom prst="ellipse">
            <a:avLst/>
          </a:prstGeom>
          <a:solidFill>
            <a:srgbClr val="1B1F24"/>
          </a:solidFill>
          <a:ln w="12700">
            <a:solidFill>
              <a:srgbClr val="1B1F24"/>
            </a:solidFill>
            <a:prstDash val="solid"/>
          </a:ln>
        </p:spPr>
      </p:sp>
      <p:sp>
        <p:nvSpPr>
          <p:cNvPr id="9" name="Text 6"/>
          <p:cNvSpPr txBox="1"/>
          <p:nvPr/>
        </p:nvSpPr>
        <p:spPr>
          <a:xfrm>
            <a:off x="2468880"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2</a:t>
            </a:r>
            <a:endParaRPr lang="en-US" sz="2800" dirty="0"/>
          </a:p>
        </p:txBody>
      </p:sp>
      <p:pic>
        <p:nvPicPr>
          <p:cNvPr id="10" name="Image 1" descr="preencoded.png">    </p:cNvPr>
          <p:cNvPicPr>
            <a:picLocks noChangeAspect="1"/>
          </p:cNvPicPr>
          <p:nvPr/>
        </p:nvPicPr>
        <p:blipFill>
          <a:blip r:embed="rId2"/>
          <a:stretch>
            <a:fillRect/>
          </a:stretch>
        </p:blipFill>
        <p:spPr>
          <a:xfrm>
            <a:off x="3593592" y="1627632"/>
            <a:ext cx="237744" cy="237744"/>
          </a:xfrm>
          <a:prstGeom prst="rect">
            <a:avLst/>
          </a:prstGeom>
        </p:spPr>
      </p:pic>
      <p:sp>
        <p:nvSpPr>
          <p:cNvPr id="11" name="Text 7"/>
          <p:cNvSpPr txBox="1"/>
          <p:nvPr/>
        </p:nvSpPr>
        <p:spPr>
          <a:xfrm>
            <a:off x="2139696"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Instruct</a:t>
            </a:r>
            <a:endParaRPr lang="en-US" sz="1800" dirty="0"/>
          </a:p>
        </p:txBody>
      </p:sp>
      <p:sp>
        <p:nvSpPr>
          <p:cNvPr id="12" name="Text 8"/>
          <p:cNvSpPr txBox="1"/>
          <p:nvPr/>
        </p:nvSpPr>
        <p:spPr>
          <a:xfrm>
            <a:off x="2139696"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you give that to your agent, never the steps</a:t>
            </a:r>
            <a:endParaRPr lang="en-US" sz="1400" dirty="0"/>
          </a:p>
        </p:txBody>
      </p:sp>
      <p:sp>
        <p:nvSpPr>
          <p:cNvPr id="13" name="Shape 9"/>
          <p:cNvSpPr/>
          <p:nvPr/>
        </p:nvSpPr>
        <p:spPr>
          <a:xfrm>
            <a:off x="4151376" y="1325880"/>
            <a:ext cx="822960" cy="822960"/>
          </a:xfrm>
          <a:prstGeom prst="ellipse">
            <a:avLst/>
          </a:prstGeom>
          <a:solidFill>
            <a:srgbClr val="1B1F24"/>
          </a:solidFill>
          <a:ln w="12700">
            <a:solidFill>
              <a:srgbClr val="1B1F24"/>
            </a:solidFill>
            <a:prstDash val="solid"/>
          </a:ln>
        </p:spPr>
      </p:sp>
      <p:sp>
        <p:nvSpPr>
          <p:cNvPr id="14" name="Text 10"/>
          <p:cNvSpPr txBox="1"/>
          <p:nvPr/>
        </p:nvSpPr>
        <p:spPr>
          <a:xfrm>
            <a:off x="4151376"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3</a:t>
            </a:r>
            <a:endParaRPr lang="en-US" sz="2800" dirty="0"/>
          </a:p>
        </p:txBody>
      </p:sp>
      <p:pic>
        <p:nvPicPr>
          <p:cNvPr id="15" name="Image 2" descr="preencoded.png">    </p:cNvPr>
          <p:cNvPicPr>
            <a:picLocks noChangeAspect="1"/>
          </p:cNvPicPr>
          <p:nvPr/>
        </p:nvPicPr>
        <p:blipFill>
          <a:blip r:embed="rId3"/>
          <a:stretch>
            <a:fillRect/>
          </a:stretch>
        </p:blipFill>
        <p:spPr>
          <a:xfrm>
            <a:off x="5276088" y="1627632"/>
            <a:ext cx="237744" cy="237744"/>
          </a:xfrm>
          <a:prstGeom prst="rect">
            <a:avLst/>
          </a:prstGeom>
        </p:spPr>
      </p:pic>
      <p:sp>
        <p:nvSpPr>
          <p:cNvPr id="16" name="Text 11"/>
          <p:cNvSpPr txBox="1"/>
          <p:nvPr/>
        </p:nvSpPr>
        <p:spPr>
          <a:xfrm>
            <a:off x="3822192"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Agent</a:t>
            </a:r>
            <a:endParaRPr lang="en-US" sz="1800" dirty="0"/>
          </a:p>
        </p:txBody>
      </p:sp>
      <p:sp>
        <p:nvSpPr>
          <p:cNvPr id="17" name="Text 12"/>
          <p:cNvSpPr txBox="1"/>
          <p:nvPr/>
        </p:nvSpPr>
        <p:spPr>
          <a:xfrm>
            <a:off x="3822192"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works out how from the repo, then builds it</a:t>
            </a:r>
            <a:endParaRPr lang="en-US" sz="1400" dirty="0"/>
          </a:p>
        </p:txBody>
      </p:sp>
      <p:sp>
        <p:nvSpPr>
          <p:cNvPr id="18" name="Shape 13"/>
          <p:cNvSpPr/>
          <p:nvPr/>
        </p:nvSpPr>
        <p:spPr>
          <a:xfrm>
            <a:off x="5833872" y="1325880"/>
            <a:ext cx="822960" cy="822960"/>
          </a:xfrm>
          <a:prstGeom prst="ellipse">
            <a:avLst/>
          </a:prstGeom>
          <a:solidFill>
            <a:srgbClr val="1B1F24"/>
          </a:solidFill>
          <a:ln w="12700">
            <a:solidFill>
              <a:srgbClr val="1B1F24"/>
            </a:solidFill>
            <a:prstDash val="solid"/>
          </a:ln>
        </p:spPr>
      </p:sp>
      <p:sp>
        <p:nvSpPr>
          <p:cNvPr id="19" name="Text 14"/>
          <p:cNvSpPr txBox="1"/>
          <p:nvPr/>
        </p:nvSpPr>
        <p:spPr>
          <a:xfrm>
            <a:off x="5833872"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4</a:t>
            </a:r>
            <a:endParaRPr lang="en-US" sz="2800" dirty="0"/>
          </a:p>
        </p:txBody>
      </p:sp>
      <p:pic>
        <p:nvPicPr>
          <p:cNvPr id="20" name="Image 3" descr="preencoded.png">    </p:cNvPr>
          <p:cNvPicPr>
            <a:picLocks noChangeAspect="1"/>
          </p:cNvPicPr>
          <p:nvPr/>
        </p:nvPicPr>
        <p:blipFill>
          <a:blip r:embed="rId4"/>
          <a:stretch>
            <a:fillRect/>
          </a:stretch>
        </p:blipFill>
        <p:spPr>
          <a:xfrm>
            <a:off x="6958584" y="1627632"/>
            <a:ext cx="237744" cy="237744"/>
          </a:xfrm>
          <a:prstGeom prst="rect">
            <a:avLst/>
          </a:prstGeom>
        </p:spPr>
      </p:pic>
      <p:sp>
        <p:nvSpPr>
          <p:cNvPr id="21" name="Text 15"/>
          <p:cNvSpPr txBox="1"/>
          <p:nvPr/>
        </p:nvSpPr>
        <p:spPr>
          <a:xfrm>
            <a:off x="5504688"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Check</a:t>
            </a:r>
            <a:endParaRPr lang="en-US" sz="1800" dirty="0"/>
          </a:p>
        </p:txBody>
      </p:sp>
      <p:sp>
        <p:nvSpPr>
          <p:cNvPr id="22" name="Text 16"/>
          <p:cNvSpPr txBox="1"/>
          <p:nvPr/>
        </p:nvSpPr>
        <p:spPr>
          <a:xfrm>
            <a:off x="5504688"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pnpm verify + pnpm lab NN: read the counts</a:t>
            </a:r>
            <a:endParaRPr lang="en-US" sz="1400" dirty="0"/>
          </a:p>
        </p:txBody>
      </p:sp>
      <p:sp>
        <p:nvSpPr>
          <p:cNvPr id="23" name="Shape 17"/>
          <p:cNvSpPr/>
          <p:nvPr/>
        </p:nvSpPr>
        <p:spPr>
          <a:xfrm>
            <a:off x="7516368" y="1325880"/>
            <a:ext cx="822960" cy="822960"/>
          </a:xfrm>
          <a:prstGeom prst="ellipse">
            <a:avLst/>
          </a:prstGeom>
          <a:solidFill>
            <a:srgbClr val="1B1F24"/>
          </a:solidFill>
          <a:ln w="12700">
            <a:solidFill>
              <a:srgbClr val="1B1F24"/>
            </a:solidFill>
            <a:prstDash val="solid"/>
          </a:ln>
        </p:spPr>
      </p:sp>
      <p:sp>
        <p:nvSpPr>
          <p:cNvPr id="24" name="Text 18"/>
          <p:cNvSpPr txBox="1"/>
          <p:nvPr/>
        </p:nvSpPr>
        <p:spPr>
          <a:xfrm>
            <a:off x="7516368"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5</a:t>
            </a:r>
            <a:endParaRPr lang="en-US" sz="2800" dirty="0"/>
          </a:p>
        </p:txBody>
      </p:sp>
      <p:sp>
        <p:nvSpPr>
          <p:cNvPr id="25" name="Text 19"/>
          <p:cNvSpPr txBox="1"/>
          <p:nvPr/>
        </p:nvSpPr>
        <p:spPr>
          <a:xfrm>
            <a:off x="7187184"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Review</a:t>
            </a:r>
            <a:endParaRPr lang="en-US" sz="1800" dirty="0"/>
          </a:p>
        </p:txBody>
      </p:sp>
      <p:sp>
        <p:nvSpPr>
          <p:cNvPr id="26" name="Text 20"/>
          <p:cNvSpPr txBox="1"/>
          <p:nvPr/>
        </p:nvSpPr>
        <p:spPr>
          <a:xfrm>
            <a:off x="7187184"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ask it to show, not tell: the red run, the SQL</a:t>
            </a:r>
            <a:endParaRPr lang="en-US" sz="1400" dirty="0"/>
          </a:p>
        </p:txBody>
      </p:sp>
      <p:sp>
        <p:nvSpPr>
          <p:cNvPr id="27" name="Text 21"/>
          <p:cNvSpPr txBox="1"/>
          <p:nvPr/>
        </p:nvSpPr>
        <p:spPr>
          <a:xfrm>
            <a:off x="457200" y="4069080"/>
            <a:ext cx="8229600" cy="411480"/>
          </a:xfrm>
          <a:prstGeom prst="rect">
            <a:avLst/>
          </a:prstGeom>
          <a:noFill/>
          <a:ln/>
        </p:spPr>
        <p:txBody>
          <a:bodyPr wrap="square" lIns="0" tIns="0" rIns="0" bIns="0" rtlCol="0" anchor="ctr"/>
          <a:lstStyle/>
          <a:p>
            <a:pPr indent="0" marL="0">
              <a:buNone/>
            </a:pPr>
            <a:r>
              <a:rPr lang="en-US" sz="1600" i="1" dirty="0">
                <a:solidFill>
                  <a:srgbClr val="64748B"/>
                </a:solidFill>
              </a:rPr>
              <a:t>Repeatable work → tools.  Judgement → the agent, fenced in.</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NestJS: request flow</a:t>
            </a:r>
            <a:endParaRPr lang="en-US" sz="3200" dirty="0"/>
          </a:p>
        </p:txBody>
      </p:sp>
      <p:sp>
        <p:nvSpPr>
          <p:cNvPr id="3" name="block-1"/>
          <p:cNvSpPr/>
          <p:nvPr/>
        </p:nvSpPr>
        <p:spPr>
          <a:xfrm>
            <a:off x="457200" y="1828800"/>
            <a:ext cx="1316736" cy="1005840"/>
          </a:xfrm>
          <a:prstGeom prst="roundRect">
            <a:avLst>
              <a:gd name="adj" fmla="val 9091"/>
            </a:avLst>
          </a:prstGeom>
          <a:solidFill>
            <a:srgbClr val="1B1F24"/>
          </a:solidFill>
          <a:ln w="12700">
            <a:solidFill>
              <a:srgbClr val="1B1F24"/>
            </a:solidFill>
            <a:prstDash val="solid"/>
          </a:ln>
        </p:spPr>
      </p:sp>
      <p:sp>
        <p:nvSpPr>
          <p:cNvPr id="4" name="Text 2"/>
          <p:cNvSpPr txBox="1"/>
          <p:nvPr/>
        </p:nvSpPr>
        <p:spPr>
          <a:xfrm>
            <a:off x="457200"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Request</a:t>
            </a:r>
            <a:endParaRPr lang="en-US" sz="1600" dirty="0"/>
          </a:p>
        </p:txBody>
      </p:sp>
      <p:sp>
        <p:nvSpPr>
          <p:cNvPr id="5" name="Text 3"/>
          <p:cNvSpPr txBox="1"/>
          <p:nvPr/>
        </p:nvSpPr>
        <p:spPr>
          <a:xfrm>
            <a:off x="457200"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from the client</a:t>
            </a:r>
            <a:endParaRPr lang="en-US" sz="1300" dirty="0"/>
          </a:p>
        </p:txBody>
      </p:sp>
      <p:sp>
        <p:nvSpPr>
          <p:cNvPr id="6" name="Shape 4"/>
          <p:cNvSpPr/>
          <p:nvPr/>
        </p:nvSpPr>
        <p:spPr>
          <a:xfrm>
            <a:off x="1828800" y="2331720"/>
            <a:ext cx="301752" cy="0"/>
          </a:xfrm>
          <a:prstGeom prst="line">
            <a:avLst/>
          </a:prstGeom>
          <a:noFill/>
          <a:ln w="25400">
            <a:solidFill>
              <a:srgbClr val="64748B"/>
            </a:solidFill>
            <a:prstDash val="solid"/>
            <a:tailEnd type="triangle"/>
          </a:ln>
        </p:spPr>
      </p:sp>
      <p:sp>
        <p:nvSpPr>
          <p:cNvPr id="7" name="block-2"/>
          <p:cNvSpPr/>
          <p:nvPr/>
        </p:nvSpPr>
        <p:spPr>
          <a:xfrm>
            <a:off x="2185416" y="1828800"/>
            <a:ext cx="1316736" cy="1005840"/>
          </a:xfrm>
          <a:prstGeom prst="roundRect">
            <a:avLst>
              <a:gd name="adj" fmla="val 9091"/>
            </a:avLst>
          </a:prstGeom>
          <a:solidFill>
            <a:srgbClr val="1B1F24"/>
          </a:solidFill>
          <a:ln w="12700">
            <a:solidFill>
              <a:srgbClr val="1B1F24"/>
            </a:solidFill>
            <a:prstDash val="solid"/>
          </a:ln>
        </p:spPr>
      </p:sp>
      <p:sp>
        <p:nvSpPr>
          <p:cNvPr id="8" name="Text 6"/>
          <p:cNvSpPr txBox="1"/>
          <p:nvPr/>
        </p:nvSpPr>
        <p:spPr>
          <a:xfrm>
            <a:off x="2185416"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Middleware</a:t>
            </a:r>
            <a:endParaRPr lang="en-US" sz="1600" dirty="0"/>
          </a:p>
        </p:txBody>
      </p:sp>
      <p:sp>
        <p:nvSpPr>
          <p:cNvPr id="9" name="Text 7"/>
          <p:cNvSpPr txBox="1"/>
          <p:nvPr/>
        </p:nvSpPr>
        <p:spPr>
          <a:xfrm>
            <a:off x="2185416"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runs first</a:t>
            </a:r>
            <a:endParaRPr lang="en-US" sz="1300" dirty="0"/>
          </a:p>
        </p:txBody>
      </p:sp>
      <p:sp>
        <p:nvSpPr>
          <p:cNvPr id="10" name="Shape 8"/>
          <p:cNvSpPr/>
          <p:nvPr/>
        </p:nvSpPr>
        <p:spPr>
          <a:xfrm>
            <a:off x="3557016" y="2331720"/>
            <a:ext cx="301752" cy="0"/>
          </a:xfrm>
          <a:prstGeom prst="line">
            <a:avLst/>
          </a:prstGeom>
          <a:noFill/>
          <a:ln w="25400">
            <a:solidFill>
              <a:srgbClr val="64748B"/>
            </a:solidFill>
            <a:prstDash val="solid"/>
            <a:tailEnd type="triangle"/>
          </a:ln>
        </p:spPr>
      </p:sp>
      <p:sp>
        <p:nvSpPr>
          <p:cNvPr id="11" name="block-3"/>
          <p:cNvSpPr/>
          <p:nvPr/>
        </p:nvSpPr>
        <p:spPr>
          <a:xfrm>
            <a:off x="3913632" y="1828800"/>
            <a:ext cx="1316736" cy="1005840"/>
          </a:xfrm>
          <a:prstGeom prst="roundRect">
            <a:avLst>
              <a:gd name="adj" fmla="val 9091"/>
            </a:avLst>
          </a:prstGeom>
          <a:solidFill>
            <a:srgbClr val="1FB68A"/>
          </a:solidFill>
          <a:ln w="12700">
            <a:solidFill>
              <a:srgbClr val="1FB68A"/>
            </a:solidFill>
            <a:prstDash val="solid"/>
          </a:ln>
        </p:spPr>
      </p:sp>
      <p:sp>
        <p:nvSpPr>
          <p:cNvPr id="12" name="Text 10"/>
          <p:cNvSpPr txBox="1"/>
          <p:nvPr/>
        </p:nvSpPr>
        <p:spPr>
          <a:xfrm>
            <a:off x="3913632"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Controller</a:t>
            </a:r>
            <a:endParaRPr lang="en-US" sz="1600" dirty="0"/>
          </a:p>
        </p:txBody>
      </p:sp>
      <p:sp>
        <p:nvSpPr>
          <p:cNvPr id="13" name="Text 11"/>
          <p:cNvSpPr txBox="1"/>
          <p:nvPr/>
        </p:nvSpPr>
        <p:spPr>
          <a:xfrm>
            <a:off x="3913632"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the route</a:t>
            </a:r>
            <a:endParaRPr lang="en-US" sz="1300" dirty="0"/>
          </a:p>
        </p:txBody>
      </p:sp>
      <p:sp>
        <p:nvSpPr>
          <p:cNvPr id="14" name="Shape 12"/>
          <p:cNvSpPr/>
          <p:nvPr/>
        </p:nvSpPr>
        <p:spPr>
          <a:xfrm>
            <a:off x="5285232" y="2331720"/>
            <a:ext cx="301752" cy="0"/>
          </a:xfrm>
          <a:prstGeom prst="line">
            <a:avLst/>
          </a:prstGeom>
          <a:noFill/>
          <a:ln w="25400">
            <a:solidFill>
              <a:srgbClr val="64748B"/>
            </a:solidFill>
            <a:prstDash val="solid"/>
            <a:tailEnd type="triangle"/>
          </a:ln>
        </p:spPr>
      </p:sp>
      <p:sp>
        <p:nvSpPr>
          <p:cNvPr id="15" name="block-4"/>
          <p:cNvSpPr/>
          <p:nvPr/>
        </p:nvSpPr>
        <p:spPr>
          <a:xfrm>
            <a:off x="5641848" y="1828800"/>
            <a:ext cx="1316736" cy="1005840"/>
          </a:xfrm>
          <a:prstGeom prst="roundRect">
            <a:avLst>
              <a:gd name="adj" fmla="val 9091"/>
            </a:avLst>
          </a:prstGeom>
          <a:solidFill>
            <a:srgbClr val="1FB68A"/>
          </a:solidFill>
          <a:ln w="12700">
            <a:solidFill>
              <a:srgbClr val="1FB68A"/>
            </a:solidFill>
            <a:prstDash val="solid"/>
          </a:ln>
        </p:spPr>
      </p:sp>
      <p:sp>
        <p:nvSpPr>
          <p:cNvPr id="16" name="Text 14"/>
          <p:cNvSpPr txBox="1"/>
          <p:nvPr/>
        </p:nvSpPr>
        <p:spPr>
          <a:xfrm>
            <a:off x="5641848"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Service</a:t>
            </a:r>
            <a:endParaRPr lang="en-US" sz="1600" dirty="0"/>
          </a:p>
        </p:txBody>
      </p:sp>
      <p:sp>
        <p:nvSpPr>
          <p:cNvPr id="17" name="Text 15"/>
          <p:cNvSpPr txBox="1"/>
          <p:nvPr/>
        </p:nvSpPr>
        <p:spPr>
          <a:xfrm>
            <a:off x="5641848"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the rules</a:t>
            </a:r>
            <a:endParaRPr lang="en-US" sz="1300" dirty="0"/>
          </a:p>
        </p:txBody>
      </p:sp>
      <p:sp>
        <p:nvSpPr>
          <p:cNvPr id="18" name="Shape 16"/>
          <p:cNvSpPr/>
          <p:nvPr/>
        </p:nvSpPr>
        <p:spPr>
          <a:xfrm>
            <a:off x="7013448" y="2331720"/>
            <a:ext cx="301752" cy="0"/>
          </a:xfrm>
          <a:prstGeom prst="line">
            <a:avLst/>
          </a:prstGeom>
          <a:noFill/>
          <a:ln w="25400">
            <a:solidFill>
              <a:srgbClr val="64748B"/>
            </a:solidFill>
            <a:prstDash val="solid"/>
            <a:tailEnd type="triangle"/>
          </a:ln>
        </p:spPr>
      </p:sp>
      <p:sp>
        <p:nvSpPr>
          <p:cNvPr id="19" name="block-5"/>
          <p:cNvSpPr/>
          <p:nvPr/>
        </p:nvSpPr>
        <p:spPr>
          <a:xfrm>
            <a:off x="7370064" y="1828800"/>
            <a:ext cx="1316736" cy="1005840"/>
          </a:xfrm>
          <a:prstGeom prst="roundRect">
            <a:avLst>
              <a:gd name="adj" fmla="val 9091"/>
            </a:avLst>
          </a:prstGeom>
          <a:solidFill>
            <a:srgbClr val="1B1F24"/>
          </a:solidFill>
          <a:ln w="12700">
            <a:solidFill>
              <a:srgbClr val="1B1F24"/>
            </a:solidFill>
            <a:prstDash val="solid"/>
          </a:ln>
        </p:spPr>
      </p:sp>
      <p:sp>
        <p:nvSpPr>
          <p:cNvPr id="20" name="Text 18"/>
          <p:cNvSpPr txBox="1"/>
          <p:nvPr/>
        </p:nvSpPr>
        <p:spPr>
          <a:xfrm>
            <a:off x="7370064"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Database</a:t>
            </a:r>
            <a:endParaRPr lang="en-US" sz="1600" dirty="0"/>
          </a:p>
        </p:txBody>
      </p:sp>
      <p:sp>
        <p:nvSpPr>
          <p:cNvPr id="21" name="Text 19"/>
          <p:cNvSpPr txBox="1"/>
          <p:nvPr/>
        </p:nvSpPr>
        <p:spPr>
          <a:xfrm>
            <a:off x="7370064"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SQLite</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NestJS: who calls whom</a:t>
            </a:r>
            <a:endParaRPr lang="en-US" sz="3200" dirty="0"/>
          </a:p>
        </p:txBody>
      </p:sp>
      <p:sp>
        <p:nvSpPr>
          <p:cNvPr id="3" name="module"/>
          <p:cNvSpPr/>
          <p:nvPr/>
        </p:nvSpPr>
        <p:spPr>
          <a:xfrm>
            <a:off x="3657600" y="1051560"/>
            <a:ext cx="3108960" cy="3429000"/>
          </a:xfrm>
          <a:prstGeom prst="roundRect">
            <a:avLst>
              <a:gd name="adj" fmla="val 3529"/>
            </a:avLst>
          </a:prstGeom>
          <a:solidFill>
            <a:srgbClr val="F1F5F9"/>
          </a:solidFill>
          <a:ln w="12700">
            <a:solidFill>
              <a:srgbClr val="CBD5E1"/>
            </a:solidFill>
            <a:prstDash val="solid"/>
          </a:ln>
        </p:spPr>
      </p:sp>
      <p:sp>
        <p:nvSpPr>
          <p:cNvPr id="4" name="Text 2"/>
          <p:cNvSpPr txBox="1"/>
          <p:nvPr/>
        </p:nvSpPr>
        <p:spPr>
          <a:xfrm>
            <a:off x="3794760" y="1097280"/>
            <a:ext cx="2834640" cy="365760"/>
          </a:xfrm>
          <a:prstGeom prst="rect">
            <a:avLst/>
          </a:prstGeom>
          <a:noFill/>
          <a:ln/>
        </p:spPr>
        <p:txBody>
          <a:bodyPr wrap="square" lIns="0" tIns="0" rIns="0" bIns="0" rtlCol="0" anchor="ctr"/>
          <a:lstStyle/>
          <a:p>
            <a:pPr indent="0" marL="0">
              <a:buNone/>
            </a:pPr>
            <a:r>
              <a:rPr lang="en-US" sz="1400" b="1" dirty="0">
                <a:solidFill>
                  <a:srgbClr val="1B1F24"/>
                </a:solidFill>
              </a:rPr>
              <a:t>Module</a:t>
            </a:r>
            <a:endParaRPr lang="en-US" sz="1400" dirty="0"/>
          </a:p>
        </p:txBody>
      </p:sp>
      <p:sp>
        <p:nvSpPr>
          <p:cNvPr id="5" name="controller"/>
          <p:cNvSpPr/>
          <p:nvPr/>
        </p:nvSpPr>
        <p:spPr>
          <a:xfrm>
            <a:off x="4069080" y="1508760"/>
            <a:ext cx="2286000" cy="685800"/>
          </a:xfrm>
          <a:prstGeom prst="roundRect">
            <a:avLst>
              <a:gd name="adj" fmla="val 13333"/>
            </a:avLst>
          </a:prstGeom>
          <a:solidFill>
            <a:srgbClr val="1FB68A"/>
          </a:solidFill>
          <a:ln w="12700">
            <a:solidFill>
              <a:srgbClr val="1FB68A"/>
            </a:solidFill>
            <a:prstDash val="solid"/>
          </a:ln>
        </p:spPr>
      </p:sp>
      <p:sp>
        <p:nvSpPr>
          <p:cNvPr id="6" name="Text 4"/>
          <p:cNvSpPr txBox="1"/>
          <p:nvPr/>
        </p:nvSpPr>
        <p:spPr>
          <a:xfrm>
            <a:off x="4069080" y="1508760"/>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Controller</a:t>
            </a:r>
            <a:endParaRPr lang="en-US" sz="1600" dirty="0"/>
          </a:p>
        </p:txBody>
      </p:sp>
      <p:sp>
        <p:nvSpPr>
          <p:cNvPr id="7" name="Shape 5"/>
          <p:cNvSpPr/>
          <p:nvPr/>
        </p:nvSpPr>
        <p:spPr>
          <a:xfrm>
            <a:off x="5212080" y="2221992"/>
            <a:ext cx="0" cy="292608"/>
          </a:xfrm>
          <a:prstGeom prst="line">
            <a:avLst/>
          </a:prstGeom>
          <a:noFill/>
          <a:ln w="25400">
            <a:solidFill>
              <a:srgbClr val="64748B"/>
            </a:solidFill>
            <a:prstDash val="solid"/>
            <a:tailEnd type="triangle"/>
          </a:ln>
        </p:spPr>
      </p:sp>
      <p:sp>
        <p:nvSpPr>
          <p:cNvPr id="8" name="service"/>
          <p:cNvSpPr/>
          <p:nvPr/>
        </p:nvSpPr>
        <p:spPr>
          <a:xfrm>
            <a:off x="4069080" y="2542032"/>
            <a:ext cx="2286000" cy="685800"/>
          </a:xfrm>
          <a:prstGeom prst="roundRect">
            <a:avLst>
              <a:gd name="adj" fmla="val 13333"/>
            </a:avLst>
          </a:prstGeom>
          <a:solidFill>
            <a:srgbClr val="1FB68A"/>
          </a:solidFill>
          <a:ln w="12700">
            <a:solidFill>
              <a:srgbClr val="1FB68A"/>
            </a:solidFill>
            <a:prstDash val="solid"/>
          </a:ln>
        </p:spPr>
      </p:sp>
      <p:sp>
        <p:nvSpPr>
          <p:cNvPr id="9" name="Text 7"/>
          <p:cNvSpPr txBox="1"/>
          <p:nvPr/>
        </p:nvSpPr>
        <p:spPr>
          <a:xfrm>
            <a:off x="4069080" y="2542032"/>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Service</a:t>
            </a:r>
            <a:endParaRPr lang="en-US" sz="1600" dirty="0"/>
          </a:p>
        </p:txBody>
      </p:sp>
      <p:sp>
        <p:nvSpPr>
          <p:cNvPr id="10" name="Shape 8"/>
          <p:cNvSpPr/>
          <p:nvPr/>
        </p:nvSpPr>
        <p:spPr>
          <a:xfrm>
            <a:off x="5212080" y="3255264"/>
            <a:ext cx="0" cy="292608"/>
          </a:xfrm>
          <a:prstGeom prst="line">
            <a:avLst/>
          </a:prstGeom>
          <a:noFill/>
          <a:ln w="25400">
            <a:solidFill>
              <a:srgbClr val="64748B"/>
            </a:solidFill>
            <a:prstDash val="solid"/>
            <a:tailEnd type="triangle"/>
          </a:ln>
        </p:spPr>
      </p:sp>
      <p:sp>
        <p:nvSpPr>
          <p:cNvPr id="11" name="repository"/>
          <p:cNvSpPr/>
          <p:nvPr/>
        </p:nvSpPr>
        <p:spPr>
          <a:xfrm>
            <a:off x="4069080" y="3575304"/>
            <a:ext cx="2286000" cy="685800"/>
          </a:xfrm>
          <a:prstGeom prst="roundRect">
            <a:avLst>
              <a:gd name="adj" fmla="val 13333"/>
            </a:avLst>
          </a:prstGeom>
          <a:solidFill>
            <a:srgbClr val="1FB68A"/>
          </a:solidFill>
          <a:ln w="12700">
            <a:solidFill>
              <a:srgbClr val="1FB68A"/>
            </a:solidFill>
            <a:prstDash val="solid"/>
          </a:ln>
        </p:spPr>
      </p:sp>
      <p:sp>
        <p:nvSpPr>
          <p:cNvPr id="12" name="Text 10"/>
          <p:cNvSpPr txBox="1"/>
          <p:nvPr/>
        </p:nvSpPr>
        <p:spPr>
          <a:xfrm>
            <a:off x="4069080" y="3575304"/>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Repository</a:t>
            </a:r>
            <a:endParaRPr lang="en-US" sz="1600" dirty="0"/>
          </a:p>
        </p:txBody>
      </p:sp>
      <p:sp>
        <p:nvSpPr>
          <p:cNvPr id="13" name="middleware"/>
          <p:cNvSpPr/>
          <p:nvPr/>
        </p:nvSpPr>
        <p:spPr>
          <a:xfrm>
            <a:off x="914400" y="1508760"/>
            <a:ext cx="2103120" cy="685800"/>
          </a:xfrm>
          <a:prstGeom prst="roundRect">
            <a:avLst>
              <a:gd name="adj" fmla="val 13333"/>
            </a:avLst>
          </a:prstGeom>
          <a:solidFill>
            <a:srgbClr val="1B1F24"/>
          </a:solidFill>
          <a:ln w="12700">
            <a:solidFill>
              <a:srgbClr val="1B1F24"/>
            </a:solidFill>
            <a:prstDash val="solid"/>
          </a:ln>
        </p:spPr>
      </p:sp>
      <p:sp>
        <p:nvSpPr>
          <p:cNvPr id="14" name="Text 12"/>
          <p:cNvSpPr txBox="1"/>
          <p:nvPr/>
        </p:nvSpPr>
        <p:spPr>
          <a:xfrm>
            <a:off x="914400" y="1508760"/>
            <a:ext cx="210312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Middleware</a:t>
            </a:r>
            <a:endParaRPr lang="en-US" sz="1600" dirty="0"/>
          </a:p>
        </p:txBody>
      </p:sp>
      <p:sp>
        <p:nvSpPr>
          <p:cNvPr id="15" name="Shape 13"/>
          <p:cNvSpPr/>
          <p:nvPr/>
        </p:nvSpPr>
        <p:spPr>
          <a:xfrm>
            <a:off x="3044952" y="1856232"/>
            <a:ext cx="996696" cy="0"/>
          </a:xfrm>
          <a:prstGeom prst="line">
            <a:avLst/>
          </a:prstGeom>
          <a:noFill/>
          <a:ln w="25400">
            <a:solidFill>
              <a:srgbClr val="64748B"/>
            </a:solidFill>
            <a:prstDash val="solid"/>
            <a:tailEnd type="triangle"/>
          </a:ln>
        </p:spPr>
      </p:sp>
      <p:sp>
        <p:nvSpPr>
          <p:cNvPr id="16" name="database"/>
          <p:cNvSpPr/>
          <p:nvPr/>
        </p:nvSpPr>
        <p:spPr>
          <a:xfrm>
            <a:off x="7315200" y="3575304"/>
            <a:ext cx="1371600" cy="685800"/>
          </a:xfrm>
          <a:prstGeom prst="roundRect">
            <a:avLst>
              <a:gd name="adj" fmla="val 13333"/>
            </a:avLst>
          </a:prstGeom>
          <a:solidFill>
            <a:srgbClr val="1B1F24"/>
          </a:solidFill>
          <a:ln w="12700">
            <a:solidFill>
              <a:srgbClr val="1B1F24"/>
            </a:solidFill>
            <a:prstDash val="solid"/>
          </a:ln>
        </p:spPr>
      </p:sp>
      <p:sp>
        <p:nvSpPr>
          <p:cNvPr id="17" name="Text 15"/>
          <p:cNvSpPr txBox="1"/>
          <p:nvPr/>
        </p:nvSpPr>
        <p:spPr>
          <a:xfrm>
            <a:off x="7315200" y="3575304"/>
            <a:ext cx="13716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Database</a:t>
            </a:r>
            <a:endParaRPr lang="en-US" sz="1600" dirty="0"/>
          </a:p>
        </p:txBody>
      </p:sp>
      <p:sp>
        <p:nvSpPr>
          <p:cNvPr id="18" name="Shape 16"/>
          <p:cNvSpPr/>
          <p:nvPr/>
        </p:nvSpPr>
        <p:spPr>
          <a:xfrm>
            <a:off x="6382512" y="3922776"/>
            <a:ext cx="905256" cy="0"/>
          </a:xfrm>
          <a:prstGeom prst="line">
            <a:avLst/>
          </a:prstGeom>
          <a:noFill/>
          <a:ln w="25400">
            <a:solidFill>
              <a:srgbClr val="64748B"/>
            </a:solidFill>
            <a:prstDash val="solid"/>
            <a:tailEnd type="triangle"/>
          </a:ln>
        </p:spPr>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Three rules for the lab</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Windows, PowerShell, Node 24</a:t>
            </a:r>
            <a:endParaRPr lang="en-US" sz="1800" dirty="0"/>
          </a:p>
          <a:p>
            <a:pPr indent="0" marL="0">
              <a:buNone/>
            </a:pPr>
            <a:r>
              <a:rPr lang="en-US" sz="1400" dirty="0">
                <a:solidFill>
                  <a:srgbClr val="2B3440"/>
                </a:solidFill>
              </a:rPr>
              <a:t>Every command runs in boilerplate\nest-ai-starter, one per line. </a:t>
            </a:r>
            <a:pPr indent="0" marL="0">
              <a:buNone/>
            </a:pPr>
            <a:r>
              <a:rPr lang="en-US" sz="1400" dirty="0">
                <a:solidFill>
                  <a:srgbClr val="2B3440"/>
                </a:solidFill>
                <a:latin typeface="Courier New" pitchFamily="34" charset="0"/>
                <a:ea typeface="Courier New" pitchFamily="34" charset="-122"/>
                <a:cs typeface="Courier New" pitchFamily="34" charset="-120"/>
              </a:rPr>
              <a:t>corepack enable</a:t>
            </a:r>
            <a:pPr indent="0" marL="0">
              <a:buNone/>
            </a:pPr>
            <a:r>
              <a:rPr lang="en-US" sz="1400" dirty="0">
                <a:solidFill>
                  <a:srgbClr val="2B3440"/>
                </a:solidFill>
              </a:rPr>
              <a:t> needs an administrator terminal; otherwise write </a:t>
            </a:r>
            <a:pPr indent="0" marL="0">
              <a:buNone/>
            </a:pPr>
            <a:r>
              <a:rPr lang="en-US" sz="1400" dirty="0">
                <a:solidFill>
                  <a:srgbClr val="2B3440"/>
                </a:solidFill>
                <a:latin typeface="Courier New" pitchFamily="34" charset="0"/>
                <a:ea typeface="Courier New" pitchFamily="34" charset="-122"/>
                <a:cs typeface="Courier New" pitchFamily="34" charset="-120"/>
              </a:rPr>
              <a:t>corepack pnpm</a:t>
            </a:r>
            <a:pPr indent="0" marL="0">
              <a:buNone/>
            </a:pPr>
            <a:r>
              <a:rPr lang="en-US" sz="1400" dirty="0">
                <a:solidFill>
                  <a:srgbClr val="2B3440"/>
                </a:solidFill>
              </a:rPr>
              <a:t>.</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Counts, not exit codes</a:t>
            </a:r>
            <a:endParaRPr lang="en-US" sz="1800" dirty="0"/>
          </a:p>
          <a:p>
            <a:pPr indent="0" marL="0">
              <a:buNone/>
            </a:pPr>
            <a:r>
              <a:rPr lang="en-US" sz="1400" dirty="0">
                <a:solidFill>
                  <a:srgbClr val="2B3440"/>
                </a:solidFill>
              </a:rPr>
              <a:t>Read "Tests N passed" AND "Test Files": a failed beforeAll shows 0 failures in the Tests line and exit 1.</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The data is yours to break</a:t>
            </a:r>
            <a:endParaRPr lang="en-US" sz="1800" dirty="0"/>
          </a:p>
          <a:p>
            <a:pPr indent="0" marL="0">
              <a:buNone/>
            </a:pPr>
            <a:r>
              <a:rPr lang="en-US" sz="1400" dirty="0">
                <a:solidFill>
                  <a:srgbClr val="2B3440"/>
                </a:solidFill>
              </a:rPr>
              <a:t>data/app.db ships seeded. Change it freely while you try things; </a:t>
            </a:r>
            <a:pPr indent="0" marL="0">
              <a:buNone/>
            </a:pPr>
            <a:r>
              <a:rPr lang="en-US" sz="1400" dirty="0">
                <a:solidFill>
                  <a:srgbClr val="2B3440"/>
                </a:solidFill>
                <a:latin typeface="Courier New" pitchFamily="34" charset="0"/>
                <a:ea typeface="Courier New" pitchFamily="34" charset="-122"/>
                <a:cs typeface="Courier New" pitchFamily="34" charset="-120"/>
              </a:rPr>
              <a:t>pnpm db:seed</a:t>
            </a:r>
            <a:pPr indent="0" marL="0">
              <a:buNone/>
            </a:pPr>
            <a:r>
              <a:rPr lang="en-US" sz="1400" dirty="0">
                <a:solidFill>
                  <a:srgbClr val="2B3440"/>
                </a:solidFill>
              </a:rPr>
              <a:t> puts it back, byte for byte.</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Calling the API with Postman</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Import one file</a:t>
            </a:r>
            <a:endParaRPr lang="en-US" sz="1800" dirty="0"/>
          </a:p>
          <a:p>
            <a:pPr indent="0" marL="0">
              <a:buNone/>
            </a:pPr>
            <a:r>
              <a:rPr lang="en-US" sz="1400" dirty="0">
                <a:solidFill>
                  <a:srgbClr val="2B3440"/>
                </a:solidFill>
              </a:rPr>
              <a:t>In the starter: </a:t>
            </a:r>
            <a:pPr indent="0" marL="0">
              <a:buNone/>
            </a:pPr>
            <a:r>
              <a:rPr lang="en-US" sz="1400" dirty="0">
                <a:solidFill>
                  <a:srgbClr val="2B3440"/>
                </a:solidFill>
                <a:latin typeface="Courier New" pitchFamily="34" charset="0"/>
                <a:ea typeface="Courier New" pitchFamily="34" charset="-122"/>
                <a:cs typeface="Courier New" pitchFamily="34" charset="-120"/>
              </a:rPr>
              <a:t>postman/nest-ai-starter.postman_collection.json</a:t>
            </a:r>
            <a:pPr indent="0" marL="0">
              <a:buNone/>
            </a:pPr>
            <a:r>
              <a:rPr lang="en-US" sz="1400" dirty="0">
                <a:solidFill>
                  <a:srgbClr val="2B3440"/>
                </a:solidFill>
              </a:rPr>
              <a:t>. baseUrl is http://localhost:3000. Run the folders in order: 01 stores the ids 02 uses.</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Folders follow module 1</a:t>
            </a:r>
            <a:endParaRPr lang="en-US" sz="1800" dirty="0"/>
          </a:p>
          <a:p>
            <a:pPr indent="0" marL="0">
              <a:buNone/>
            </a:pPr>
            <a:r>
              <a:rPr lang="en-US" sz="1400" dirty="0">
                <a:solidFill>
                  <a:srgbClr val="2B3440"/>
                </a:solidFill>
              </a:rPr>
              <a:t>Users, then notes and sharing. Every request has tests: read the Test Results tab, not just the status.</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It writes to your data</a:t>
            </a:r>
            <a:endParaRPr lang="en-US" sz="1800" dirty="0"/>
          </a:p>
          <a:p>
            <a:pPr indent="0" marL="0">
              <a:buNone/>
            </a:pPr>
            <a:r>
              <a:rPr lang="en-US" sz="1400" dirty="0">
                <a:solidFill>
                  <a:srgbClr val="2B3440"/>
                </a:solidFill>
              </a:rPr>
              <a:t>Requests create, change and delete rows in data/app.db. </a:t>
            </a:r>
            <a:pPr indent="0" marL="0">
              <a:buNone/>
            </a:pPr>
            <a:r>
              <a:rPr lang="en-US" sz="1400" dirty="0">
                <a:solidFill>
                  <a:srgbClr val="2B3440"/>
                </a:solidFill>
                <a:latin typeface="Courier New" pitchFamily="34" charset="0"/>
                <a:ea typeface="Courier New" pitchFamily="34" charset="-122"/>
                <a:cs typeface="Courier New" pitchFamily="34" charset="-120"/>
              </a:rPr>
              <a:t>pnpm db:seed</a:t>
            </a:r>
            <a:pPr indent="0" marL="0">
              <a:buNone/>
            </a:pPr>
            <a:r>
              <a:rPr lang="en-US" sz="1400" dirty="0">
                <a:solidFill>
                  <a:srgbClr val="2B3440"/>
                </a:solidFill>
              </a:rPr>
              <a:t> restores the seeded data.</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Lab checks: is my lab done?</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One check per lab</a:t>
            </a:r>
            <a:endParaRPr lang="en-US" sz="1800" dirty="0"/>
          </a:p>
          <a:p>
            <a:pPr indent="0" marL="0">
              <a:buNone/>
            </a:pPr>
            <a:pPr indent="0" marL="0">
              <a:buNone/>
            </a:pPr>
            <a:r>
              <a:rPr lang="en-US" sz="1400" dirty="0">
                <a:solidFill>
                  <a:srgbClr val="2B3440"/>
                </a:solidFill>
                <a:latin typeface="Courier New" pitchFamily="34" charset="0"/>
                <a:ea typeface="Courier New" pitchFamily="34" charset="-122"/>
                <a:cs typeface="Courier New" pitchFamily="34" charset="-120"/>
              </a:rPr>
              <a:t>pnpm lab 01</a:t>
            </a:r>
            <a:pPr indent="0" marL="0">
              <a:buNone/>
            </a:pPr>
            <a:r>
              <a:rPr lang="en-US" sz="1400" dirty="0">
                <a:solidFill>
                  <a:srgbClr val="2B3440"/>
                </a:solidFill>
              </a:rPr>
              <a:t> runs the check for lab 01, </a:t>
            </a:r>
            <a:pPr indent="0" marL="0">
              <a:buNone/>
            </a:pPr>
            <a:r>
              <a:rPr lang="en-US" sz="1400" dirty="0">
                <a:solidFill>
                  <a:srgbClr val="2B3440"/>
                </a:solidFill>
                <a:latin typeface="Courier New" pitchFamily="34" charset="0"/>
                <a:ea typeface="Courier New" pitchFamily="34" charset="-122"/>
                <a:cs typeface="Courier New" pitchFamily="34" charset="-120"/>
              </a:rPr>
              <a:t>pnpm lab</a:t>
            </a:r>
            <a:pPr indent="0" marL="0">
              <a:buNone/>
            </a:pPr>
            <a:r>
              <a:rPr lang="en-US" sz="1400" dirty="0">
                <a:solidFill>
                  <a:srgbClr val="2B3440"/>
                </a:solidFill>
              </a:rPr>
              <a:t> all of them. Done means </a:t>
            </a:r>
            <a:pPr indent="0" marL="0">
              <a:buNone/>
            </a:pPr>
            <a:r>
              <a:rPr lang="en-US" sz="1400" dirty="0">
                <a:solidFill>
                  <a:srgbClr val="2B3440"/>
                </a:solidFill>
                <a:latin typeface="Courier New" pitchFamily="34" charset="0"/>
                <a:ea typeface="Courier New" pitchFamily="34" charset="-122"/>
                <a:cs typeface="Courier New" pitchFamily="34" charset="-120"/>
              </a:rPr>
              <a:t>Test Files 1 passed</a:t>
            </a:r>
            <a:pPr indent="0" marL="0">
              <a:buNone/>
            </a:pPr>
            <a:r>
              <a:rPr lang="en-US" sz="1400" dirty="0">
                <a:solidFill>
                  <a:srgbClr val="2B3440"/>
                </a:solidFill>
              </a:rPr>
              <a:t> and every test green.</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Red until built</a:t>
            </a:r>
            <a:endParaRPr lang="en-US" sz="1800" dirty="0"/>
          </a:p>
          <a:p>
            <a:pPr indent="0" marL="0">
              <a:buNone/>
            </a:pPr>
            <a:r>
              <a:rPr lang="en-US" sz="1400" dirty="0">
                <a:solidFill>
                  <a:srgbClr val="2B3440"/>
                </a:solidFill>
              </a:rPr>
              <a:t>Every lab check fails on the starter, because its feature is not there yet. It turns green when your agent has built it, and stays green after.</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Fell behind?</a:t>
            </a:r>
            <a:endParaRPr lang="en-US" sz="1800" dirty="0"/>
          </a:p>
          <a:p>
            <a:pPr indent="0" marL="0">
              <a:buNone/>
            </a:pPr>
            <a:r>
              <a:rPr lang="en-US" sz="1400" dirty="0">
                <a:solidFill>
                  <a:srgbClr val="2B3440"/>
                </a:solidFill>
              </a:rPr>
              <a:t>Start the next module from its checkpoint (docs/ai-agent-training/checkpoints/), not by patching your own copy.</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The track (draft lab times)</a:t>
            </a:r>
            <a:endParaRPr lang="en-US" sz="3200" dirty="0"/>
          </a:p>
        </p:txBody>
      </p:sp>
      <p:sp>
        <p:nvSpPr>
          <p:cNvPr id="3" name="Shape 1"/>
          <p:cNvSpPr/>
          <p:nvPr/>
        </p:nvSpPr>
        <p:spPr>
          <a:xfrm>
            <a:off x="457200" y="1143000"/>
            <a:ext cx="4023360" cy="475488"/>
          </a:xfrm>
          <a:prstGeom prst="roundRect">
            <a:avLst>
              <a:gd name="adj" fmla="val 11538"/>
            </a:avLst>
          </a:prstGeom>
          <a:solidFill>
            <a:srgbClr val="F1F5F9"/>
          </a:solidFill>
          <a:ln w="12700">
            <a:solidFill>
              <a:srgbClr val="F1F5F9"/>
            </a:solidFill>
            <a:prstDash val="solid"/>
          </a:ln>
        </p:spPr>
      </p:sp>
      <p:sp>
        <p:nvSpPr>
          <p:cNvPr id="4" name="Text 2"/>
          <p:cNvSpPr txBox="1"/>
          <p:nvPr/>
        </p:nvSpPr>
        <p:spPr>
          <a:xfrm>
            <a:off x="594360" y="1143000"/>
            <a:ext cx="3017520" cy="475488"/>
          </a:xfrm>
          <a:prstGeom prst="rect">
            <a:avLst/>
          </a:prstGeom>
          <a:noFill/>
          <a:ln/>
        </p:spPr>
        <p:txBody>
          <a:bodyPr wrap="square" lIns="0" tIns="0" rIns="0" bIns="0" rtlCol="0" anchor="ctr"/>
          <a:lstStyle/>
          <a:p>
            <a:pPr indent="0" marL="0">
              <a:buNone/>
            </a:pPr>
            <a:r>
              <a:rPr lang="en-US" sz="1400" b="1" dirty="0">
                <a:solidFill>
                  <a:srgbClr val="1FB68A"/>
                </a:solidFill>
                <a:latin typeface="Courier New" pitchFamily="34" charset="0"/>
                <a:ea typeface="Courier New" pitchFamily="34" charset="-122"/>
                <a:cs typeface="Courier New" pitchFamily="34" charset="-120"/>
              </a:rPr>
              <a:t>1  </a:t>
            </a:r>
            <a:pPr indent="0" marL="0">
              <a:buNone/>
            </a:pPr>
            <a:r>
              <a:rPr lang="en-US" sz="1400" dirty="0">
                <a:solidFill>
                  <a:srgbClr val="1B1F24"/>
                </a:solidFill>
              </a:rPr>
              <a:t>Users and notes</a:t>
            </a:r>
            <a:endParaRPr lang="en-US" sz="1400" dirty="0"/>
          </a:p>
        </p:txBody>
      </p:sp>
      <p:sp>
        <p:nvSpPr>
          <p:cNvPr id="5" name="Text 3"/>
          <p:cNvSpPr txBox="1"/>
          <p:nvPr/>
        </p:nvSpPr>
        <p:spPr>
          <a:xfrm>
            <a:off x="3566160" y="1143000"/>
            <a:ext cx="777240" cy="475488"/>
          </a:xfrm>
          <a:prstGeom prst="rect">
            <a:avLst/>
          </a:prstGeom>
          <a:noFill/>
          <a:ln/>
        </p:spPr>
        <p:txBody>
          <a:bodyPr wrap="square" lIns="0" tIns="0" rIns="0" bIns="0" rtlCol="0" anchor="ctr"/>
          <a:lstStyle/>
          <a:p>
            <a:pPr algn="r" indent="0" marL="0">
              <a:buNone/>
            </a:pPr>
            <a:r>
              <a:rPr lang="en-US" sz="1400" dirty="0">
                <a:solidFill>
                  <a:srgbClr val="64748B"/>
                </a:solidFill>
              </a:rPr>
              <a:t>60'</a:t>
            </a:r>
            <a:endParaRPr lang="en-US" sz="1400" dirty="0"/>
          </a:p>
        </p:txBody>
      </p:sp>
      <p:sp>
        <p:nvSpPr>
          <p:cNvPr id="6" name="Shape 4"/>
          <p:cNvSpPr/>
          <p:nvPr/>
        </p:nvSpPr>
        <p:spPr>
          <a:xfrm>
            <a:off x="4663440" y="1143000"/>
            <a:ext cx="4023360" cy="475488"/>
          </a:xfrm>
          <a:prstGeom prst="roundRect">
            <a:avLst>
              <a:gd name="adj" fmla="val 11538"/>
            </a:avLst>
          </a:prstGeom>
          <a:solidFill>
            <a:srgbClr val="F1F5F9"/>
          </a:solidFill>
          <a:ln w="12700">
            <a:solidFill>
              <a:srgbClr val="F1F5F9"/>
            </a:solidFill>
            <a:prstDash val="solid"/>
          </a:ln>
        </p:spPr>
      </p:sp>
      <p:sp>
        <p:nvSpPr>
          <p:cNvPr id="7" name="Text 5"/>
          <p:cNvSpPr txBox="1"/>
          <p:nvPr/>
        </p:nvSpPr>
        <p:spPr>
          <a:xfrm>
            <a:off x="4800600" y="1143000"/>
            <a:ext cx="3017520" cy="475488"/>
          </a:xfrm>
          <a:prstGeom prst="rect">
            <a:avLst/>
          </a:prstGeom>
          <a:noFill/>
          <a:ln/>
        </p:spPr>
        <p:txBody>
          <a:bodyPr wrap="square" lIns="0" tIns="0" rIns="0" bIns="0" rtlCol="0" anchor="ctr"/>
          <a:lstStyle/>
          <a:p>
            <a:pPr indent="0" marL="0">
              <a:buNone/>
            </a:pPr>
            <a:r>
              <a:rPr lang="en-US" sz="1400" b="1" dirty="0">
                <a:solidFill>
                  <a:srgbClr val="1FB68A"/>
                </a:solidFill>
                <a:latin typeface="Courier New" pitchFamily="34" charset="0"/>
                <a:ea typeface="Courier New" pitchFamily="34" charset="-122"/>
                <a:cs typeface="Courier New" pitchFamily="34" charset="-120"/>
              </a:rPr>
              <a:t>2  </a:t>
            </a:r>
            <a:pPr indent="0" marL="0">
              <a:buNone/>
            </a:pPr>
            <a:r>
              <a:rPr lang="en-US" sz="1400" dirty="0">
                <a:solidFill>
                  <a:srgbClr val="1B1F24"/>
                </a:solidFill>
              </a:rPr>
              <a:t>An MCP server on your data</a:t>
            </a:r>
            <a:endParaRPr lang="en-US" sz="1400" dirty="0"/>
          </a:p>
        </p:txBody>
      </p:sp>
      <p:sp>
        <p:nvSpPr>
          <p:cNvPr id="8" name="Text 6"/>
          <p:cNvSpPr txBox="1"/>
          <p:nvPr/>
        </p:nvSpPr>
        <p:spPr>
          <a:xfrm>
            <a:off x="7772400" y="1143000"/>
            <a:ext cx="777240" cy="475488"/>
          </a:xfrm>
          <a:prstGeom prst="rect">
            <a:avLst/>
          </a:prstGeom>
          <a:noFill/>
          <a:ln/>
        </p:spPr>
        <p:txBody>
          <a:bodyPr wrap="square" lIns="0" tIns="0" rIns="0" bIns="0" rtlCol="0" anchor="ctr"/>
          <a:lstStyle/>
          <a:p>
            <a:pPr algn="r" indent="0" marL="0">
              <a:buNone/>
            </a:pPr>
            <a:r>
              <a:rPr lang="en-US" sz="1400" dirty="0">
                <a:solidFill>
                  <a:srgbClr val="64748B"/>
                </a:solidFill>
              </a:rPr>
              <a:t>45'</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lIns="0" tIns="0" rIns="0" bIns="0" rtlCol="0"/>
          <a:lstStyle/>
          <a:p>
            <a:pPr indent="0" marL="0">
              <a:buNone/>
            </a:pPr>
            <a:r>
              <a:rPr lang="en-US" sz="1400" b="1" spc="300" kern="0" dirty="0">
                <a:solidFill>
                  <a:srgbClr val="1FB68A"/>
                </a:solidFill>
              </a:rPr>
              <a:t>MODULE 1</a:t>
            </a: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lIns="0" tIns="0" rIns="0" bIns="0" rtlCol="0" anchor="t"/>
          <a:lstStyle/>
          <a:p>
            <a:pPr algn="l" indent="0" marL="0">
              <a:buNone/>
            </a:pPr>
            <a:r>
              <a:rPr lang="en-US" sz="4000" b="1" dirty="0">
                <a:solidFill>
                  <a:srgbClr val="FFFFFF"/>
                </a:solidFill>
              </a:rPr>
              <a:t>Users and notes</a:t>
            </a: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lIns="0" tIns="0" rIns="0" bIns="0" rtlCol="0" anchor="t"/>
          <a:lstStyle/>
          <a:p>
            <a:pPr indent="0" marL="0">
              <a:buNone/>
            </a:pPr>
            <a:r>
              <a:rPr lang="en-US" sz="1800" dirty="0">
                <a:solidFill>
                  <a:srgbClr val="CBD5E1"/>
                </a:solidFill>
              </a:rPr>
              <a:t>Your agent sets the project up, then builds the users and notes resources (notes shareable between users) on the seeded tables.</a:t>
            </a:r>
            <a:endParaRPr lang="en-US" sz="1800" dirty="0"/>
          </a:p>
        </p:txBody>
      </p:sp>
      <p:sp>
        <p:nvSpPr>
          <p:cNvPr id="5" name="Shape 3"/>
          <p:cNvSpPr/>
          <p:nvPr/>
        </p:nvSpPr>
        <p:spPr>
          <a:xfrm>
            <a:off x="6675120" y="2560320"/>
            <a:ext cx="2011680" cy="1097280"/>
          </a:xfrm>
          <a:prstGeom prst="roundRect">
            <a:avLst>
              <a:gd name="adj" fmla="val 8333"/>
            </a:avLst>
          </a:prstGeom>
          <a:solidFill>
            <a:srgbClr val="2B3440"/>
          </a:solidFill>
          <a:ln w="12700">
            <a:solidFill>
              <a:srgbClr val="2B3440"/>
            </a:solidFill>
            <a:prstDash val="solid"/>
          </a:ln>
        </p:spPr>
      </p:sp>
      <p:sp>
        <p:nvSpPr>
          <p:cNvPr id="6" name="Shape 4"/>
          <p:cNvSpPr/>
          <p:nvPr/>
        </p:nvSpPr>
        <p:spPr>
          <a:xfrm>
            <a:off x="6858000" y="2788920"/>
            <a:ext cx="640080" cy="640080"/>
          </a:xfrm>
          <a:prstGeom prst="ellipse">
            <a:avLst/>
          </a:prstGeom>
          <a:solidFill>
            <a:srgbClr val="1FB68A"/>
          </a:solidFill>
          <a:ln w="12700">
            <a:solidFill>
              <a:srgbClr val="1FB68A"/>
            </a:solidFill>
            <a:prstDash val="solid"/>
          </a:ln>
        </p:spPr>
      </p:sp>
      <p:pic>
        <p:nvPicPr>
          <p:cNvPr id="7" name="Image 0" descr="preencoded.png">    </p:cNvPr>
          <p:cNvPicPr>
            <a:picLocks noChangeAspect="1"/>
          </p:cNvPicPr>
          <p:nvPr/>
        </p:nvPicPr>
        <p:blipFill>
          <a:blip r:embed="rId1"/>
          <a:stretch>
            <a:fillRect/>
          </a:stretch>
        </p:blipFill>
        <p:spPr>
          <a:xfrm>
            <a:off x="6998818" y="2929738"/>
            <a:ext cx="358445" cy="358445"/>
          </a:xfrm>
          <a:prstGeom prst="rect">
            <a:avLst/>
          </a:prstGeom>
        </p:spPr>
      </p:pic>
      <p:sp>
        <p:nvSpPr>
          <p:cNvPr id="8" name="Text 5"/>
          <p:cNvSpPr txBox="1"/>
          <p:nvPr/>
        </p:nvSpPr>
        <p:spPr>
          <a:xfrm>
            <a:off x="7589520" y="2697480"/>
            <a:ext cx="1051560" cy="822960"/>
          </a:xfrm>
          <a:prstGeom prst="rect">
            <a:avLst/>
          </a:prstGeom>
          <a:noFill/>
          <a:ln/>
        </p:spPr>
        <p:txBody>
          <a:bodyPr wrap="square" lIns="0" tIns="0" rIns="0" bIns="0" rtlCol="0" anchor="ctr"/>
          <a:lstStyle/>
          <a:p>
            <a:pPr indent="0" marL="0">
              <a:buNone/>
            </a:pPr>
            <a:r>
              <a:rPr lang="en-US" sz="2200" b="1" dirty="0">
                <a:solidFill>
                  <a:srgbClr val="FFFFFF"/>
                </a:solidFill>
              </a:rPr>
              <a:t>60 min</a:t>
            </a:r>
            <a:endParaRPr lang="en-US" sz="2200" dirty="0"/>
          </a:p>
          <a:p>
            <a:pPr indent="0" marL="0">
              <a:buNone/>
            </a:pPr>
            <a:r>
              <a:rPr lang="en-US" sz="1100" dirty="0">
                <a:solidFill>
                  <a:srgbClr val="CBD5E1"/>
                </a:solidFill>
              </a:rPr>
              <a:t>lab (draft)</a:t>
            </a:r>
            <a:endParaRPr lang="en-US" sz="2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1/3: set the project up</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The data is already there. Have your agent set the project up, prove it works, and show you what is in the database.</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100" dirty="0">
                <a:solidFill>
                  <a:srgbClr val="E6EDF3"/>
                </a:solidFill>
                <a:latin typeface="Courier New" pitchFamily="34" charset="0"/>
                <a:ea typeface="Courier New" pitchFamily="34" charset="-122"/>
                <a:cs typeface="Courier New" pitchFamily="34" charset="-120"/>
              </a:rPr>
              <a:t>Set this project up on this machine and prove it works:</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counts, not "it works". Then show me what is in the</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database.</a:t>
            </a:r>
            <a:endParaRPr lang="en-US" sz="11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reads CLAUDE.md before running anything</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counts: 20 unit, 2 e2e, a red lab 01</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data: 25 users, 200 notes, 120 shares</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switches to corepack pnpm if pnpm is missing</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2/3: the users resource</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Do not tell your agent how. The repo says how resources are built; watch whether it finds that out.</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100" dirty="0">
                <a:solidFill>
                  <a:srgbClr val="E6EDF3"/>
                </a:solidFill>
                <a:latin typeface="Courier New" pitchFamily="34" charset="0"/>
                <a:ea typeface="Courier New" pitchFamily="34" charset="-122"/>
                <a:cs typeface="Courier New" pitchFamily="34" charset="-120"/>
              </a:rPr>
              <a:t>Build the users resource on the provided users table:</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specs/users.md. Done when pnpm verify is green.</a:t>
            </a:r>
            <a:endParaRPr lang="en-US" sz="11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finds the steps: generate, template, fill</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keeps the provided table, 14 markers</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no migration for a provided table</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409s left to the database, not re-coded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3/3: notes, with sharing</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A user owns many notes; a note can be shared with many users. The rules decide where each piece goes.</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Now the notes resource, with sharing: specs/notes.md. Done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when pnpm lab 01 and pnpm verify are green.</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stored-state rules in the service (422)</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filters and /shares routes, with e2e tests</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a bad dueAt is 400, not 500</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every rule broken once to see red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 it: module 1</a:t>
            </a:r>
            <a:endParaRPr lang="en-US" sz="3200" dirty="0"/>
          </a:p>
        </p:txBody>
      </p:sp>
      <p:sp>
        <p:nvSpPr>
          <p:cNvPr id="3" name="terminal"/>
          <p:cNvSpPr/>
          <p:nvPr/>
        </p:nvSpPr>
        <p:spPr>
          <a:xfrm>
            <a:off x="457200" y="1097280"/>
            <a:ext cx="521208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1 · run this</a:t>
            </a:r>
            <a:endParaRPr lang="en-US" sz="1000" dirty="0"/>
          </a:p>
        </p:txBody>
      </p:sp>
      <p:sp>
        <p:nvSpPr>
          <p:cNvPr id="8" name="terminal-text"/>
          <p:cNvSpPr txBox="1"/>
          <p:nvPr/>
        </p:nvSpPr>
        <p:spPr>
          <a:xfrm>
            <a:off x="685800" y="1481328"/>
            <a:ext cx="4754880" cy="3017520"/>
          </a:xfrm>
          <a:prstGeom prst="rect">
            <a:avLst/>
          </a:prstGeom>
          <a:noFill/>
          <a:ln/>
        </p:spPr>
        <p:txBody>
          <a:bodyPr wrap="square" lIns="0" tIns="0" rIns="0" bIns="0" rtlCol="0" anchor="t"/>
          <a:lstStyle/>
          <a:p>
            <a:pPr indent="0" marL="0">
              <a:buNone/>
            </a:pPr>
            <a:r>
              <a:rPr lang="en-US" sz="1200" dirty="0">
                <a:solidFill>
                  <a:srgbClr val="E6EDF3"/>
                </a:solidFill>
                <a:latin typeface="Courier New" pitchFamily="34" charset="0"/>
                <a:ea typeface="Courier New" pitchFamily="34" charset="-122"/>
                <a:cs typeface="Courier New" pitchFamily="34" charset="-120"/>
              </a:rPr>
              <a:t>pnpm verify       # read both Tests lines</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pnpm build</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pnpm start</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second terminal: the seeded rows</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curl.exe "localhost:3000/api/v1/notes?status=done"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pnpm lab 01   # the lab check: all green?</a:t>
            </a:r>
            <a:endParaRPr lang="en-US" sz="1200" dirty="0"/>
          </a:p>
        </p:txBody>
      </p:sp>
      <p:sp>
        <p:nvSpPr>
          <p:cNvPr id="9" name="postman"/>
          <p:cNvSpPr/>
          <p:nvPr/>
        </p:nvSpPr>
        <p:spPr>
          <a:xfrm>
            <a:off x="5852160" y="1097280"/>
            <a:ext cx="2834640" cy="3520440"/>
          </a:xfrm>
          <a:prstGeom prst="roundRect">
            <a:avLst>
              <a:gd name="adj" fmla="val 2581"/>
            </a:avLst>
          </a:prstGeom>
          <a:solidFill>
            <a:srgbClr val="EF5B25"/>
          </a:solidFill>
          <a:ln w="12700">
            <a:solidFill>
              <a:srgbClr val="EF5B25"/>
            </a:solidFill>
            <a:prstDash val="solid"/>
          </a:ln>
        </p:spPr>
      </p:sp>
      <p:pic>
        <p:nvPicPr>
          <p:cNvPr id="10" name="Image 0" descr="preencoded.png">    </p:cNvPr>
          <p:cNvPicPr>
            <a:picLocks noChangeAspect="1"/>
          </p:cNvPicPr>
          <p:nvPr/>
        </p:nvPicPr>
        <p:blipFill>
          <a:blip r:embed="rId1"/>
          <a:stretch>
            <a:fillRect/>
          </a:stretch>
        </p:blipFill>
        <p:spPr>
          <a:xfrm>
            <a:off x="6035040" y="1252728"/>
            <a:ext cx="237744" cy="237744"/>
          </a:xfrm>
          <a:prstGeom prst="rect">
            <a:avLst/>
          </a:prstGeom>
        </p:spPr>
      </p:pic>
      <p:sp>
        <p:nvSpPr>
          <p:cNvPr id="11" name="Text 8"/>
          <p:cNvSpPr txBox="1"/>
          <p:nvPr/>
        </p:nvSpPr>
        <p:spPr>
          <a:xfrm>
            <a:off x="6355080" y="1207008"/>
            <a:ext cx="2148840" cy="329184"/>
          </a:xfrm>
          <a:prstGeom prst="rect">
            <a:avLst/>
          </a:prstGeom>
          <a:noFill/>
          <a:ln/>
        </p:spPr>
        <p:txBody>
          <a:bodyPr wrap="square" lIns="0" tIns="0" rIns="0" bIns="0" rtlCol="0" anchor="ctr"/>
          <a:lstStyle/>
          <a:p>
            <a:pPr indent="0" marL="0">
              <a:buNone/>
            </a:pPr>
            <a:r>
              <a:rPr lang="en-US" sz="1600" b="1" dirty="0">
                <a:solidFill>
                  <a:srgbClr val="FFFFFF"/>
                </a:solidFill>
              </a:rPr>
              <a:t>In Postman</a:t>
            </a:r>
            <a:endParaRPr lang="en-US" sz="1600" dirty="0"/>
          </a:p>
        </p:txBody>
      </p:sp>
      <p:sp>
        <p:nvSpPr>
          <p:cNvPr id="12" name="postman-requests"/>
          <p:cNvSpPr txBox="1"/>
          <p:nvPr/>
        </p:nvSpPr>
        <p:spPr>
          <a:xfrm>
            <a:off x="6035040" y="1645920"/>
            <a:ext cx="2468880" cy="2834640"/>
          </a:xfrm>
          <a:prstGeom prst="rect">
            <a:avLst/>
          </a:prstGeom>
          <a:noFill/>
          <a:ln/>
        </p:spPr>
        <p:txBody>
          <a:bodyPr wrap="square" lIns="0" tIns="0" rIns="0" bIns="0" rtlCol="0" anchor="t"/>
          <a:lstStyle/>
          <a:p>
            <a:pPr indent="0" marL="0">
              <a:buNone/>
            </a:pPr>
            <a:r>
              <a:rPr lang="en-US" sz="1300" b="1" dirty="0">
                <a:solidFill>
                  <a:srgbClr val="FFFFFF"/>
                </a:solidFill>
              </a:rPr>
              <a:t>01 · Users (module 1)</a:t>
            </a:r>
            <a:endParaRPr lang="en-US" sz="1300" dirty="0"/>
          </a:p>
          <a:p>
            <a:pPr indent="0" marL="0">
              <a:buNone/>
            </a:pPr>
            <a:r>
              <a:rPr lang="en-US" sz="1300" dirty="0">
                <a:solidFill>
                  <a:srgbClr val="FFFFFF"/>
                </a:solidFill>
              </a:rPr>
              <a:t>1. List users (seeded)</a:t>
            </a:r>
            <a:endParaRPr lang="en-US" sz="1300" dirty="0"/>
          </a:p>
          <a:p>
            <a:pPr indent="0" marL="0">
              <a:buNone/>
            </a:pPr>
            <a:r>
              <a:rPr lang="en-US" sz="1300" dirty="0">
                <a:solidFill>
                  <a:srgbClr val="FFFFFF"/>
                </a:solidFill>
              </a:rPr>
              <a:t>2. Create user</a:t>
            </a:r>
            <a:endParaRPr lang="en-US" sz="1300" dirty="0"/>
          </a:p>
          <a:p>
            <a:pPr indent="0" marL="0">
              <a:spcBef>
                <a:spcPts val="600"/>
              </a:spcBef>
              <a:buNone/>
            </a:pPr>
            <a:r>
              <a:rPr lang="en-US" sz="1300" b="1" dirty="0">
                <a:solidFill>
                  <a:srgbClr val="FFFFFF"/>
                </a:solidFill>
              </a:rPr>
              <a:t>02 · Notes and sharing (module 1)</a:t>
            </a:r>
            <a:endParaRPr lang="en-US" sz="1300" dirty="0"/>
          </a:p>
          <a:p>
            <a:pPr indent="0" marL="0">
              <a:buNone/>
            </a:pPr>
            <a:r>
              <a:rPr lang="en-US" sz="1300" dirty="0">
                <a:solidFill>
                  <a:srgbClr val="FFFFFF"/>
                </a:solidFill>
              </a:rPr>
              <a:t>1. Create note</a:t>
            </a:r>
            <a:endParaRPr lang="en-US" sz="1300" dirty="0"/>
          </a:p>
          <a:p>
            <a:pPr indent="0" marL="0">
              <a:buNone/>
            </a:pPr>
            <a:r>
              <a:rPr lang="en-US" sz="1300" dirty="0">
                <a:solidFill>
                  <a:srgbClr val="FFFFFF"/>
                </a:solidFill>
              </a:rPr>
              <a:t>2. Edit a done note → 422 (R2)</a:t>
            </a:r>
            <a:endParaRPr lang="en-US" sz="1300" dirty="0"/>
          </a:p>
          <a:p>
            <a:pPr indent="0" marL="0">
              <a:buNone/>
            </a:pPr>
            <a:r>
              <a:rPr lang="en-US" sz="1300" dirty="0">
                <a:solidFill>
                  <a:srgbClr val="FFFFFF"/>
                </a:solidFill>
              </a:rPr>
              <a:t>3. Share with a friend</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Checkpoint: two MVCs on real data</a:t>
            </a:r>
            <a:endParaRPr lang="en-US" sz="3200" dirty="0"/>
          </a:p>
        </p:txBody>
      </p:sp>
      <p:sp>
        <p:nvSpPr>
          <p:cNvPr id="3" name="terminal"/>
          <p:cNvSpPr/>
          <p:nvPr/>
        </p:nvSpPr>
        <p:spPr>
          <a:xfrm>
            <a:off x="457200" y="1097280"/>
            <a:ext cx="50292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0233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output: captured</a:t>
            </a:r>
            <a:endParaRPr lang="en-US" sz="1000" dirty="0"/>
          </a:p>
        </p:txBody>
      </p:sp>
      <p:sp>
        <p:nvSpPr>
          <p:cNvPr id="8" name="terminal-text"/>
          <p:cNvSpPr txBox="1"/>
          <p:nvPr/>
        </p:nvSpPr>
        <p:spPr>
          <a:xfrm>
            <a:off x="685800" y="1481328"/>
            <a:ext cx="457200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pnpm verify (base: 20 unit, 2 e2e)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43 passed (43)</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46 passed (46)</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pnpm lab 01</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15 passed (15)</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the app on the seeded file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users total=25  notes total=200</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notes?status=done total=85</a:t>
            </a:r>
            <a:endParaRPr lang="en-US" sz="1200" dirty="0"/>
          </a:p>
        </p:txBody>
      </p:sp>
      <p:sp>
        <p:nvSpPr>
          <p:cNvPr id="9" name="Text 7"/>
          <p:cNvSpPr txBox="1"/>
          <p:nvPr/>
        </p:nvSpPr>
        <p:spPr>
          <a:xfrm>
            <a:off x="5852160" y="1097280"/>
            <a:ext cx="2834640" cy="411480"/>
          </a:xfrm>
          <a:prstGeom prst="rect">
            <a:avLst/>
          </a:prstGeom>
          <a:noFill/>
          <a:ln/>
        </p:spPr>
        <p:txBody>
          <a:bodyPr wrap="square" lIns="0" tIns="0" rIns="0" bIns="0" rtlCol="0" anchor="ctr"/>
          <a:lstStyle/>
          <a:p>
            <a:pPr indent="0" marL="0">
              <a:buNone/>
            </a:pPr>
            <a:r>
              <a:rPr lang="en-US" sz="2000" b="1" dirty="0">
                <a:solidFill>
                  <a:srgbClr val="1B1F24"/>
                </a:solidFill>
              </a:rPr>
              <a:t>Done when</a:t>
            </a:r>
            <a:endParaRPr lang="en-US" sz="2000" dirty="0"/>
          </a:p>
        </p:txBody>
      </p:sp>
      <p:sp>
        <p:nvSpPr>
          <p:cNvPr id="10" name="Shape 8"/>
          <p:cNvSpPr/>
          <p:nvPr/>
        </p:nvSpPr>
        <p:spPr>
          <a:xfrm>
            <a:off x="5852160" y="1645920"/>
            <a:ext cx="384048" cy="384048"/>
          </a:xfrm>
          <a:prstGeom prst="ellipse">
            <a:avLst/>
          </a:prstGeom>
          <a:solidFill>
            <a:srgbClr val="1FB68A"/>
          </a:solidFill>
          <a:ln w="12700">
            <a:solidFill>
              <a:srgbClr val="1FB68A"/>
            </a:solidFill>
            <a:prstDash val="solid"/>
          </a:ln>
        </p:spPr>
      </p:sp>
      <p:pic>
        <p:nvPicPr>
          <p:cNvPr id="11" name="Image 0" descr="preencoded.png">    </p:cNvPr>
          <p:cNvPicPr>
            <a:picLocks noChangeAspect="1"/>
          </p:cNvPicPr>
          <p:nvPr/>
        </p:nvPicPr>
        <p:blipFill>
          <a:blip r:embed="rId1"/>
          <a:stretch>
            <a:fillRect/>
          </a:stretch>
        </p:blipFill>
        <p:spPr>
          <a:xfrm>
            <a:off x="5936651" y="1730411"/>
            <a:ext cx="215067" cy="215067"/>
          </a:xfrm>
          <a:prstGeom prst="rect">
            <a:avLst/>
          </a:prstGeom>
        </p:spPr>
      </p:pic>
      <p:sp>
        <p:nvSpPr>
          <p:cNvPr id="12" name="Text 9"/>
          <p:cNvSpPr txBox="1"/>
          <p:nvPr/>
        </p:nvSpPr>
        <p:spPr>
          <a:xfrm>
            <a:off x="6355080" y="1609344"/>
            <a:ext cx="2331720" cy="868680"/>
          </a:xfrm>
          <a:prstGeom prst="rect">
            <a:avLst/>
          </a:prstGeom>
          <a:noFill/>
          <a:ln/>
        </p:spPr>
        <p:txBody>
          <a:bodyPr wrap="square" lIns="0" tIns="0" rIns="0" bIns="0" rtlCol="0" anchor="t"/>
          <a:lstStyle/>
          <a:p>
            <a:pPr indent="0" marL="0">
              <a:buNone/>
            </a:pPr>
            <a:pPr indent="0" marL="0">
              <a:buNone/>
            </a:pPr>
            <a:r>
              <a:rPr lang="en-US" sz="1400" dirty="0">
                <a:solidFill>
                  <a:srgbClr val="1B1F24"/>
                </a:solidFill>
                <a:latin typeface="Courier New" pitchFamily="34" charset="0"/>
                <a:ea typeface="Courier New" pitchFamily="34" charset="-122"/>
                <a:cs typeface="Courier New" pitchFamily="34" charset="-120"/>
              </a:rPr>
              <a:t>pnpm lab 01</a:t>
            </a:r>
            <a:pPr indent="0" marL="0">
              <a:buNone/>
            </a:pPr>
            <a:r>
              <a:rPr lang="en-US" sz="1400" dirty="0">
                <a:solidFill>
                  <a:srgbClr val="1B1F24"/>
                </a:solidFill>
              </a:rPr>
              <a:t>: every test passes</a:t>
            </a:r>
            <a:endParaRPr lang="en-US" sz="1400" dirty="0"/>
          </a:p>
        </p:txBody>
      </p:sp>
      <p:sp>
        <p:nvSpPr>
          <p:cNvPr id="13" name="Shape 10"/>
          <p:cNvSpPr/>
          <p:nvPr/>
        </p:nvSpPr>
        <p:spPr>
          <a:xfrm>
            <a:off x="5852160" y="2606040"/>
            <a:ext cx="384048" cy="384048"/>
          </a:xfrm>
          <a:prstGeom prst="ellipse">
            <a:avLst/>
          </a:prstGeom>
          <a:solidFill>
            <a:srgbClr val="1FB68A"/>
          </a:solidFill>
          <a:ln w="12700">
            <a:solidFill>
              <a:srgbClr val="1FB68A"/>
            </a:solidFill>
            <a:prstDash val="solid"/>
          </a:ln>
        </p:spPr>
      </p:sp>
      <p:pic>
        <p:nvPicPr>
          <p:cNvPr id="14" name="Image 1" descr="preencoded.png">    </p:cNvPr>
          <p:cNvPicPr>
            <a:picLocks noChangeAspect="1"/>
          </p:cNvPicPr>
          <p:nvPr/>
        </p:nvPicPr>
        <p:blipFill>
          <a:blip r:embed="rId2"/>
          <a:stretch>
            <a:fillRect/>
          </a:stretch>
        </p:blipFill>
        <p:spPr>
          <a:xfrm>
            <a:off x="5936651" y="2690531"/>
            <a:ext cx="215067" cy="215067"/>
          </a:xfrm>
          <a:prstGeom prst="rect">
            <a:avLst/>
          </a:prstGeom>
        </p:spPr>
      </p:pic>
      <p:sp>
        <p:nvSpPr>
          <p:cNvPr id="15" name="Text 11"/>
          <p:cNvSpPr txBox="1"/>
          <p:nvPr/>
        </p:nvSpPr>
        <p:spPr>
          <a:xfrm>
            <a:off x="6355080" y="2569464"/>
            <a:ext cx="2331720" cy="868680"/>
          </a:xfrm>
          <a:prstGeom prst="rect">
            <a:avLst/>
          </a:prstGeom>
          <a:noFill/>
          <a:ln/>
        </p:spPr>
        <p:txBody>
          <a:bodyPr wrap="square" lIns="0" tIns="0" rIns="0" bIns="0" rtlCol="0" anchor="t"/>
          <a:lstStyle/>
          <a:p>
            <a:pPr indent="0" marL="0">
              <a:buNone/>
            </a:pPr>
            <a:r>
              <a:rPr lang="en-US" sz="1400" dirty="0">
                <a:solidFill>
                  <a:srgbClr val="1B1F24"/>
                </a:solidFill>
              </a:rPr>
              <a:t>deleting a rule turns a test red</a:t>
            </a:r>
            <a:endParaRPr lang="en-US" sz="1400" dirty="0"/>
          </a:p>
        </p:txBody>
      </p:sp>
      <p:sp>
        <p:nvSpPr>
          <p:cNvPr id="16" name="Shape 12"/>
          <p:cNvSpPr/>
          <p:nvPr/>
        </p:nvSpPr>
        <p:spPr>
          <a:xfrm>
            <a:off x="5852160" y="3566160"/>
            <a:ext cx="384048" cy="384048"/>
          </a:xfrm>
          <a:prstGeom prst="ellipse">
            <a:avLst/>
          </a:prstGeom>
          <a:solidFill>
            <a:srgbClr val="1FB68A"/>
          </a:solidFill>
          <a:ln w="12700">
            <a:solidFill>
              <a:srgbClr val="1FB68A"/>
            </a:solidFill>
            <a:prstDash val="solid"/>
          </a:ln>
        </p:spPr>
      </p:sp>
      <p:pic>
        <p:nvPicPr>
          <p:cNvPr id="17" name="Image 2" descr="preencoded.png">    </p:cNvPr>
          <p:cNvPicPr>
            <a:picLocks noChangeAspect="1"/>
          </p:cNvPicPr>
          <p:nvPr/>
        </p:nvPicPr>
        <p:blipFill>
          <a:blip r:embed="rId3"/>
          <a:stretch>
            <a:fillRect/>
          </a:stretch>
        </p:blipFill>
        <p:spPr>
          <a:xfrm>
            <a:off x="5936651" y="3650651"/>
            <a:ext cx="215067" cy="215067"/>
          </a:xfrm>
          <a:prstGeom prst="rect">
            <a:avLst/>
          </a:prstGeom>
        </p:spPr>
      </p:pic>
      <p:sp>
        <p:nvSpPr>
          <p:cNvPr id="18" name="Text 13"/>
          <p:cNvSpPr txBox="1"/>
          <p:nvPr/>
        </p:nvSpPr>
        <p:spPr>
          <a:xfrm>
            <a:off x="6355080" y="3529584"/>
            <a:ext cx="2331720" cy="868680"/>
          </a:xfrm>
          <a:prstGeom prst="rect">
            <a:avLst/>
          </a:prstGeom>
          <a:noFill/>
          <a:ln/>
        </p:spPr>
        <p:txBody>
          <a:bodyPr wrap="square" lIns="0" tIns="0" rIns="0" bIns="0" rtlCol="0" anchor="t"/>
          <a:lstStyle/>
          <a:p>
            <a:pPr indent="0" marL="0">
              <a:buNone/>
            </a:pPr>
            <a:r>
              <a:rPr lang="en-US" sz="1400" dirty="0">
                <a:solidFill>
                  <a:srgbClr val="1B1F24"/>
                </a:solidFill>
              </a:rPr>
              <a:t>the app lists the seeded rows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When the agent goes wrong: module 1</a:t>
            </a:r>
            <a:endParaRPr lang="en-US" sz="3200" dirty="0"/>
          </a:p>
        </p:txBody>
      </p:sp>
      <p:sp>
        <p:nvSpPr>
          <p:cNvPr id="3" name="snag-1"/>
          <p:cNvSpPr/>
          <p:nvPr/>
        </p:nvSpPr>
        <p:spPr>
          <a:xfrm>
            <a:off x="457200" y="1097280"/>
            <a:ext cx="8229600" cy="1051560"/>
          </a:xfrm>
          <a:prstGeom prst="roundRect">
            <a:avLst>
              <a:gd name="adj" fmla="val 6957"/>
            </a:avLst>
          </a:prstGeom>
          <a:solidFill>
            <a:srgbClr val="F1F5F9"/>
          </a:solidFill>
          <a:ln w="12700">
            <a:solidFill>
              <a:srgbClr val="F1F5F9"/>
            </a:solidFill>
            <a:prstDash val="solid"/>
          </a:ln>
        </p:spPr>
      </p:sp>
      <p:sp>
        <p:nvSpPr>
          <p:cNvPr id="4" name="Shape 2"/>
          <p:cNvSpPr/>
          <p:nvPr/>
        </p:nvSpPr>
        <p:spPr>
          <a:xfrm>
            <a:off x="685800" y="1371600"/>
            <a:ext cx="502920" cy="502920"/>
          </a:xfrm>
          <a:prstGeom prst="ellipse">
            <a:avLst/>
          </a:prstGeom>
          <a:solidFill>
            <a:srgbClr val="E69A28"/>
          </a:solidFill>
          <a:ln w="12700">
            <a:solidFill>
              <a:srgbClr val="E69A28"/>
            </a:solidFill>
            <a:prstDash val="solid"/>
          </a:ln>
        </p:spPr>
      </p:sp>
      <p:pic>
        <p:nvPicPr>
          <p:cNvPr id="5" name="Image 0" descr="preencoded.png">    </p:cNvPr>
          <p:cNvPicPr>
            <a:picLocks noChangeAspect="1"/>
          </p:cNvPicPr>
          <p:nvPr/>
        </p:nvPicPr>
        <p:blipFill>
          <a:blip r:embed="rId1"/>
          <a:stretch>
            <a:fillRect/>
          </a:stretch>
        </p:blipFill>
        <p:spPr>
          <a:xfrm>
            <a:off x="796442" y="1482242"/>
            <a:ext cx="281635" cy="281635"/>
          </a:xfrm>
          <a:prstGeom prst="rect">
            <a:avLst/>
          </a:prstGeom>
        </p:spPr>
      </p:pic>
      <p:sp>
        <p:nvSpPr>
          <p:cNvPr id="6" name="Text 3"/>
          <p:cNvSpPr txBox="1"/>
          <p:nvPr/>
        </p:nvSpPr>
        <p:spPr>
          <a:xfrm>
            <a:off x="1417320" y="118872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runs db:generate for users</a:t>
            </a:r>
            <a:endParaRPr lang="en-US" sz="1600" dirty="0"/>
          </a:p>
          <a:p>
            <a:pPr indent="0" marL="0">
              <a:buNone/>
            </a:pPr>
            <a:r>
              <a:rPr lang="en-US" sz="1400" dirty="0">
                <a:solidFill>
                  <a:srgbClr val="2B3440"/>
                </a:solidFill>
              </a:rPr>
              <a:t>The table is provided: there is nothing to generate. pnpm verify (check:migrations) proves it.</a:t>
            </a:r>
            <a:endParaRPr lang="en-US" sz="1600" dirty="0"/>
          </a:p>
        </p:txBody>
      </p:sp>
      <p:sp>
        <p:nvSpPr>
          <p:cNvPr id="7" name="snag-2"/>
          <p:cNvSpPr/>
          <p:nvPr/>
        </p:nvSpPr>
        <p:spPr>
          <a:xfrm>
            <a:off x="457200" y="2286000"/>
            <a:ext cx="8229600" cy="1051560"/>
          </a:xfrm>
          <a:prstGeom prst="roundRect">
            <a:avLst>
              <a:gd name="adj" fmla="val 6957"/>
            </a:avLst>
          </a:prstGeom>
          <a:solidFill>
            <a:srgbClr val="F1F5F9"/>
          </a:solidFill>
          <a:ln w="12700">
            <a:solidFill>
              <a:srgbClr val="F1F5F9"/>
            </a:solidFill>
            <a:prstDash val="solid"/>
          </a:ln>
        </p:spPr>
      </p:sp>
      <p:sp>
        <p:nvSpPr>
          <p:cNvPr id="8" name="Shape 5"/>
          <p:cNvSpPr/>
          <p:nvPr/>
        </p:nvSpPr>
        <p:spPr>
          <a:xfrm>
            <a:off x="685800" y="2560320"/>
            <a:ext cx="502920" cy="502920"/>
          </a:xfrm>
          <a:prstGeom prst="ellipse">
            <a:avLst/>
          </a:prstGeom>
          <a:solidFill>
            <a:srgbClr val="E69A28"/>
          </a:solidFill>
          <a:ln w="12700">
            <a:solidFill>
              <a:srgbClr val="E69A28"/>
            </a:solidFill>
            <a:prstDash val="solid"/>
          </a:ln>
        </p:spPr>
      </p:sp>
      <p:pic>
        <p:nvPicPr>
          <p:cNvPr id="9" name="Image 1" descr="preencoded.png">    </p:cNvPr>
          <p:cNvPicPr>
            <a:picLocks noChangeAspect="1"/>
          </p:cNvPicPr>
          <p:nvPr/>
        </p:nvPicPr>
        <p:blipFill>
          <a:blip r:embed="rId2"/>
          <a:stretch>
            <a:fillRect/>
          </a:stretch>
        </p:blipFill>
        <p:spPr>
          <a:xfrm>
            <a:off x="796442" y="2670962"/>
            <a:ext cx="281635" cy="281635"/>
          </a:xfrm>
          <a:prstGeom prst="rect">
            <a:avLst/>
          </a:prstGeom>
        </p:spPr>
      </p:pic>
      <p:sp>
        <p:nvSpPr>
          <p:cNvPr id="10" name="Text 6"/>
          <p:cNvSpPr txBox="1"/>
          <p:nvPr/>
        </p:nvSpPr>
        <p:spPr>
          <a:xfrm>
            <a:off x="1417320" y="237744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A bad dueAt answers 500</a:t>
            </a:r>
            <a:endParaRPr lang="en-US" sz="1600" dirty="0"/>
          </a:p>
          <a:p>
            <a:pPr indent="0" marL="0">
              <a:buNone/>
            </a:pPr>
            <a:r>
              <a:rPr lang="en-US" sz="1400" dirty="0">
                <a:solidFill>
                  <a:srgbClr val="2B3440"/>
                </a:solidFill>
              </a:rPr>
              <a:t>Zod 4 runs the transform after a failed datetime check. Guard it; the scaffold skill lists the trap.</a:t>
            </a:r>
            <a:endParaRPr lang="en-US" sz="1600" dirty="0"/>
          </a:p>
        </p:txBody>
      </p:sp>
      <p:sp>
        <p:nvSpPr>
          <p:cNvPr id="11" name="snag-3"/>
          <p:cNvSpPr/>
          <p:nvPr/>
        </p:nvSpPr>
        <p:spPr>
          <a:xfrm>
            <a:off x="457200" y="3474720"/>
            <a:ext cx="8229600" cy="1051560"/>
          </a:xfrm>
          <a:prstGeom prst="roundRect">
            <a:avLst>
              <a:gd name="adj" fmla="val 6957"/>
            </a:avLst>
          </a:prstGeom>
          <a:solidFill>
            <a:srgbClr val="F1F5F9"/>
          </a:solidFill>
          <a:ln w="12700">
            <a:solidFill>
              <a:srgbClr val="F1F5F9"/>
            </a:solidFill>
            <a:prstDash val="solid"/>
          </a:ln>
        </p:spPr>
      </p:sp>
      <p:sp>
        <p:nvSpPr>
          <p:cNvPr id="12" name="Shape 8"/>
          <p:cNvSpPr/>
          <p:nvPr/>
        </p:nvSpPr>
        <p:spPr>
          <a:xfrm>
            <a:off x="685800" y="3749040"/>
            <a:ext cx="502920" cy="502920"/>
          </a:xfrm>
          <a:prstGeom prst="ellipse">
            <a:avLst/>
          </a:prstGeom>
          <a:solidFill>
            <a:srgbClr val="E69A28"/>
          </a:solidFill>
          <a:ln w="12700">
            <a:solidFill>
              <a:srgbClr val="E69A28"/>
            </a:solidFill>
            <a:prstDash val="solid"/>
          </a:ln>
        </p:spPr>
      </p:sp>
      <p:pic>
        <p:nvPicPr>
          <p:cNvPr id="13" name="Image 2" descr="preencoded.png">    </p:cNvPr>
          <p:cNvPicPr>
            <a:picLocks noChangeAspect="1"/>
          </p:cNvPicPr>
          <p:nvPr/>
        </p:nvPicPr>
        <p:blipFill>
          <a:blip r:embed="rId3"/>
          <a:stretch>
            <a:fillRect/>
          </a:stretch>
        </p:blipFill>
        <p:spPr>
          <a:xfrm>
            <a:off x="796442" y="3859682"/>
            <a:ext cx="281635" cy="281635"/>
          </a:xfrm>
          <a:prstGeom prst="rect">
            <a:avLst/>
          </a:prstGeom>
        </p:spPr>
      </p:pic>
      <p:sp>
        <p:nvSpPr>
          <p:cNvPr id="14" name="Text 9"/>
          <p:cNvSpPr txBox="1"/>
          <p:nvPr/>
        </p:nvSpPr>
        <p:spPr>
          <a:xfrm>
            <a:off x="1417320" y="356616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counts notes before deleting a user</a:t>
            </a:r>
            <a:endParaRPr lang="en-US" sz="1600" dirty="0"/>
          </a:p>
          <a:p>
            <a:pPr indent="0" marL="0">
              <a:buNone/>
            </a:pPr>
            <a:r>
              <a:rPr lang="en-US" sz="1400" dirty="0">
                <a:solidFill>
                  <a:srgbClr val="2B3440"/>
                </a:solidFill>
              </a:rPr>
              <a:t>A second copy of a rule the foreign key already enforces. Let the database refuse; map the error.</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lIns="0" tIns="0" rIns="0" bIns="0" rtlCol="0"/>
          <a:lstStyle/>
          <a:p>
            <a:pPr indent="0" marL="0">
              <a:buNone/>
            </a:pPr>
            <a:r>
              <a:rPr lang="en-US" sz="1400" b="1" spc="300" kern="0" dirty="0">
                <a:solidFill>
                  <a:srgbClr val="1FB68A"/>
                </a:solidFill>
              </a:rPr>
              <a:t>MODULE 2</a:t>
            </a: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lIns="0" tIns="0" rIns="0" bIns="0" rtlCol="0" anchor="t"/>
          <a:lstStyle/>
          <a:p>
            <a:pPr algn="l" indent="0" marL="0">
              <a:buNone/>
            </a:pPr>
            <a:r>
              <a:rPr lang="en-US" sz="4000" b="1" dirty="0">
                <a:solidFill>
                  <a:srgbClr val="FFFFFF"/>
                </a:solidFill>
              </a:rPr>
              <a:t>An MCP server on your data</a:t>
            </a: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lIns="0" tIns="0" rIns="0" bIns="0" rtlCol="0" anchor="t"/>
          <a:lstStyle/>
          <a:p>
            <a:pPr indent="0" marL="0">
              <a:buNone/>
            </a:pPr>
            <a:r>
              <a:rPr lang="en-US" sz="1800" dirty="0">
                <a:solidFill>
                  <a:srgbClr val="CBD5E1"/>
                </a:solidFill>
              </a:rPr>
              <a:t>Your agent builds an MCP server that reads and writes the database; you connect it to Claude Desktop and ask Claude about the data.</a:t>
            </a:r>
            <a:endParaRPr lang="en-US" sz="1800" dirty="0"/>
          </a:p>
        </p:txBody>
      </p:sp>
      <p:sp>
        <p:nvSpPr>
          <p:cNvPr id="5" name="Shape 3"/>
          <p:cNvSpPr/>
          <p:nvPr/>
        </p:nvSpPr>
        <p:spPr>
          <a:xfrm>
            <a:off x="6675120" y="2560320"/>
            <a:ext cx="2011680" cy="1097280"/>
          </a:xfrm>
          <a:prstGeom prst="roundRect">
            <a:avLst>
              <a:gd name="adj" fmla="val 8333"/>
            </a:avLst>
          </a:prstGeom>
          <a:solidFill>
            <a:srgbClr val="2B3440"/>
          </a:solidFill>
          <a:ln w="12700">
            <a:solidFill>
              <a:srgbClr val="2B3440"/>
            </a:solidFill>
            <a:prstDash val="solid"/>
          </a:ln>
        </p:spPr>
      </p:sp>
      <p:sp>
        <p:nvSpPr>
          <p:cNvPr id="6" name="Shape 4"/>
          <p:cNvSpPr/>
          <p:nvPr/>
        </p:nvSpPr>
        <p:spPr>
          <a:xfrm>
            <a:off x="6858000" y="2788920"/>
            <a:ext cx="640080" cy="640080"/>
          </a:xfrm>
          <a:prstGeom prst="ellipse">
            <a:avLst/>
          </a:prstGeom>
          <a:solidFill>
            <a:srgbClr val="1FB68A"/>
          </a:solidFill>
          <a:ln w="12700">
            <a:solidFill>
              <a:srgbClr val="1FB68A"/>
            </a:solidFill>
            <a:prstDash val="solid"/>
          </a:ln>
        </p:spPr>
      </p:sp>
      <p:pic>
        <p:nvPicPr>
          <p:cNvPr id="7" name="Image 0" descr="preencoded.png">    </p:cNvPr>
          <p:cNvPicPr>
            <a:picLocks noChangeAspect="1"/>
          </p:cNvPicPr>
          <p:nvPr/>
        </p:nvPicPr>
        <p:blipFill>
          <a:blip r:embed="rId1"/>
          <a:stretch>
            <a:fillRect/>
          </a:stretch>
        </p:blipFill>
        <p:spPr>
          <a:xfrm>
            <a:off x="6998818" y="2929738"/>
            <a:ext cx="358445" cy="358445"/>
          </a:xfrm>
          <a:prstGeom prst="rect">
            <a:avLst/>
          </a:prstGeom>
        </p:spPr>
      </p:pic>
      <p:sp>
        <p:nvSpPr>
          <p:cNvPr id="8" name="Text 5"/>
          <p:cNvSpPr txBox="1"/>
          <p:nvPr/>
        </p:nvSpPr>
        <p:spPr>
          <a:xfrm>
            <a:off x="7589520" y="2697480"/>
            <a:ext cx="1051560" cy="822960"/>
          </a:xfrm>
          <a:prstGeom prst="rect">
            <a:avLst/>
          </a:prstGeom>
          <a:noFill/>
          <a:ln/>
        </p:spPr>
        <p:txBody>
          <a:bodyPr wrap="square" lIns="0" tIns="0" rIns="0" bIns="0" rtlCol="0" anchor="ctr"/>
          <a:lstStyle/>
          <a:p>
            <a:pPr indent="0" marL="0">
              <a:buNone/>
            </a:pPr>
            <a:r>
              <a:rPr lang="en-US" sz="2200" b="1" dirty="0">
                <a:solidFill>
                  <a:srgbClr val="FFFFFF"/>
                </a:solidFill>
              </a:rPr>
              <a:t>45 min</a:t>
            </a:r>
            <a:endParaRPr lang="en-US" sz="2200" dirty="0"/>
          </a:p>
          <a:p>
            <a:pPr indent="0" marL="0">
              <a:buNone/>
            </a:pPr>
            <a:r>
              <a:rPr lang="en-US" sz="1100" dirty="0">
                <a:solidFill>
                  <a:srgbClr val="CBD5E1"/>
                </a:solidFill>
              </a:rPr>
              <a:t>lab (draft)</a:t>
            </a:r>
            <a:endParaRPr lang="en-US" sz="2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an MCP server on your data</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The goal: your Claude Desktop app answers questions from this database. The model writes the SQL, so the server decides what may run.</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I want to use this data from Claude Desktop. Build the MCP</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server in specs/mcp.md. Done when pnpm lab 02 and pnpm</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verify are green; then show me how to connect it to Claude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Desktop, and two questions I could ask it.</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reads the installed SDK, not its memory</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write tools call NotesService: no rule copied</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query read-only in two layers</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gives the Claude Desktop entry with absolute paths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 it: module 2</a:t>
            </a:r>
            <a:endParaRPr lang="en-US" sz="3200" dirty="0"/>
          </a:p>
        </p:txBody>
      </p:sp>
      <p:sp>
        <p:nvSpPr>
          <p:cNvPr id="3" name="terminal"/>
          <p:cNvSpPr/>
          <p:nvPr/>
        </p:nvSpPr>
        <p:spPr>
          <a:xfrm>
            <a:off x="457200" y="1097280"/>
            <a:ext cx="82296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72237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2 · run this</a:t>
            </a:r>
            <a:endParaRPr lang="en-US" sz="1000" dirty="0"/>
          </a:p>
        </p:txBody>
      </p:sp>
      <p:sp>
        <p:nvSpPr>
          <p:cNvPr id="8" name="terminal-text"/>
          <p:cNvSpPr txBox="1"/>
          <p:nvPr/>
        </p:nvSpPr>
        <p:spPr>
          <a:xfrm>
            <a:off x="685800" y="1481328"/>
            <a:ext cx="7772400" cy="3017520"/>
          </a:xfrm>
          <a:prstGeom prst="rect">
            <a:avLst/>
          </a:prstGeom>
          <a:noFill/>
          <a:ln/>
        </p:spPr>
        <p:txBody>
          <a:bodyPr wrap="square" lIns="0" tIns="0" rIns="0" bIns="0" rtlCol="0" anchor="t"/>
          <a:lstStyle/>
          <a:p>
            <a:pPr indent="0" marL="0">
              <a:buNone/>
            </a:pPr>
            <a:r>
              <a:rPr lang="en-US" sz="1400" dirty="0">
                <a:solidFill>
                  <a:srgbClr val="E6EDF3"/>
                </a:solidFill>
                <a:latin typeface="Courier New" pitchFamily="34" charset="0"/>
                <a:ea typeface="Courier New" pitchFamily="34" charset="-122"/>
                <a:cs typeface="Courier New" pitchFamily="34" charset="-120"/>
              </a:rPr>
              <a:t>pnpm verify</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pnpm build</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node scripts\claude-desktop-config.mjs</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paste the entry into the config file it names,</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quit and reopen Claude Desktop, then ask:</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"Which open notes are shared with more</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than one person?"</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pnpm lab 02   # the lab check: all green?</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Checkpoint: Claude Desktop, your data</a:t>
            </a:r>
            <a:endParaRPr lang="en-US" sz="3200" dirty="0"/>
          </a:p>
        </p:txBody>
      </p:sp>
      <p:sp>
        <p:nvSpPr>
          <p:cNvPr id="3" name="terminal"/>
          <p:cNvSpPr/>
          <p:nvPr/>
        </p:nvSpPr>
        <p:spPr>
          <a:xfrm>
            <a:off x="457200" y="1097280"/>
            <a:ext cx="50292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0233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output: captured</a:t>
            </a:r>
            <a:endParaRPr lang="en-US" sz="1000" dirty="0"/>
          </a:p>
        </p:txBody>
      </p:sp>
      <p:sp>
        <p:nvSpPr>
          <p:cNvPr id="8" name="terminal-text"/>
          <p:cNvSpPr txBox="1"/>
          <p:nvPr/>
        </p:nvSpPr>
        <p:spPr>
          <a:xfrm>
            <a:off x="685800" y="1481328"/>
            <a:ext cx="457200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pnpm verify; pnpm lab 01 02</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60 passed (60) · 55 passed (55)</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25 passed (25)</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started as Claude Desktop does it</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server: notes-db</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users 25 · notes 200 · note_shares 120</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query: delete from notes</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READ_ONLY: only a single SELECT …</a:t>
            </a:r>
            <a:endParaRPr lang="en-US" sz="1200" dirty="0"/>
          </a:p>
        </p:txBody>
      </p:sp>
      <p:sp>
        <p:nvSpPr>
          <p:cNvPr id="9" name="Text 7"/>
          <p:cNvSpPr txBox="1"/>
          <p:nvPr/>
        </p:nvSpPr>
        <p:spPr>
          <a:xfrm>
            <a:off x="5852160" y="1097280"/>
            <a:ext cx="2834640" cy="411480"/>
          </a:xfrm>
          <a:prstGeom prst="rect">
            <a:avLst/>
          </a:prstGeom>
          <a:noFill/>
          <a:ln/>
        </p:spPr>
        <p:txBody>
          <a:bodyPr wrap="square" lIns="0" tIns="0" rIns="0" bIns="0" rtlCol="0" anchor="ctr"/>
          <a:lstStyle/>
          <a:p>
            <a:pPr indent="0" marL="0">
              <a:buNone/>
            </a:pPr>
            <a:r>
              <a:rPr lang="en-US" sz="2000" b="1" dirty="0">
                <a:solidFill>
                  <a:srgbClr val="1B1F24"/>
                </a:solidFill>
              </a:rPr>
              <a:t>Done when</a:t>
            </a:r>
            <a:endParaRPr lang="en-US" sz="2000" dirty="0"/>
          </a:p>
        </p:txBody>
      </p:sp>
      <p:sp>
        <p:nvSpPr>
          <p:cNvPr id="10" name="Shape 8"/>
          <p:cNvSpPr/>
          <p:nvPr/>
        </p:nvSpPr>
        <p:spPr>
          <a:xfrm>
            <a:off x="5852160" y="1645920"/>
            <a:ext cx="384048" cy="384048"/>
          </a:xfrm>
          <a:prstGeom prst="ellipse">
            <a:avLst/>
          </a:prstGeom>
          <a:solidFill>
            <a:srgbClr val="1FB68A"/>
          </a:solidFill>
          <a:ln w="12700">
            <a:solidFill>
              <a:srgbClr val="1FB68A"/>
            </a:solidFill>
            <a:prstDash val="solid"/>
          </a:ln>
        </p:spPr>
      </p:sp>
      <p:pic>
        <p:nvPicPr>
          <p:cNvPr id="11" name="Image 0" descr="preencoded.png">    </p:cNvPr>
          <p:cNvPicPr>
            <a:picLocks noChangeAspect="1"/>
          </p:cNvPicPr>
          <p:nvPr/>
        </p:nvPicPr>
        <p:blipFill>
          <a:blip r:embed="rId1"/>
          <a:stretch>
            <a:fillRect/>
          </a:stretch>
        </p:blipFill>
        <p:spPr>
          <a:xfrm>
            <a:off x="5936651" y="1730411"/>
            <a:ext cx="215067" cy="215067"/>
          </a:xfrm>
          <a:prstGeom prst="rect">
            <a:avLst/>
          </a:prstGeom>
        </p:spPr>
      </p:pic>
      <p:sp>
        <p:nvSpPr>
          <p:cNvPr id="12" name="Text 9"/>
          <p:cNvSpPr txBox="1"/>
          <p:nvPr/>
        </p:nvSpPr>
        <p:spPr>
          <a:xfrm>
            <a:off x="6355080" y="1609344"/>
            <a:ext cx="2331720" cy="868680"/>
          </a:xfrm>
          <a:prstGeom prst="rect">
            <a:avLst/>
          </a:prstGeom>
          <a:noFill/>
          <a:ln/>
        </p:spPr>
        <p:txBody>
          <a:bodyPr wrap="square" lIns="0" tIns="0" rIns="0" bIns="0" rtlCol="0" anchor="t"/>
          <a:lstStyle/>
          <a:p>
            <a:pPr indent="0" marL="0">
              <a:buNone/>
            </a:pPr>
            <a:pPr indent="0" marL="0">
              <a:buNone/>
            </a:pPr>
            <a:r>
              <a:rPr lang="en-US" sz="1400" dirty="0">
                <a:solidFill>
                  <a:srgbClr val="1B1F24"/>
                </a:solidFill>
                <a:latin typeface="Courier New" pitchFamily="34" charset="0"/>
                <a:ea typeface="Courier New" pitchFamily="34" charset="-122"/>
                <a:cs typeface="Courier New" pitchFamily="34" charset="-120"/>
              </a:rPr>
              <a:t>pnpm lab 02</a:t>
            </a:r>
            <a:pPr indent="0" marL="0">
              <a:buNone/>
            </a:pPr>
            <a:r>
              <a:rPr lang="en-US" sz="1400" dirty="0">
                <a:solidFill>
                  <a:srgbClr val="1B1F24"/>
                </a:solidFill>
              </a:rPr>
              <a:t>: every test passes</a:t>
            </a:r>
            <a:endParaRPr lang="en-US" sz="1400" dirty="0"/>
          </a:p>
        </p:txBody>
      </p:sp>
      <p:sp>
        <p:nvSpPr>
          <p:cNvPr id="13" name="Shape 10"/>
          <p:cNvSpPr/>
          <p:nvPr/>
        </p:nvSpPr>
        <p:spPr>
          <a:xfrm>
            <a:off x="5852160" y="2606040"/>
            <a:ext cx="384048" cy="384048"/>
          </a:xfrm>
          <a:prstGeom prst="ellipse">
            <a:avLst/>
          </a:prstGeom>
          <a:solidFill>
            <a:srgbClr val="1FB68A"/>
          </a:solidFill>
          <a:ln w="12700">
            <a:solidFill>
              <a:srgbClr val="1FB68A"/>
            </a:solidFill>
            <a:prstDash val="solid"/>
          </a:ln>
        </p:spPr>
      </p:sp>
      <p:pic>
        <p:nvPicPr>
          <p:cNvPr id="14" name="Image 1" descr="preencoded.png">    </p:cNvPr>
          <p:cNvPicPr>
            <a:picLocks noChangeAspect="1"/>
          </p:cNvPicPr>
          <p:nvPr/>
        </p:nvPicPr>
        <p:blipFill>
          <a:blip r:embed="rId2"/>
          <a:stretch>
            <a:fillRect/>
          </a:stretch>
        </p:blipFill>
        <p:spPr>
          <a:xfrm>
            <a:off x="5936651" y="2690531"/>
            <a:ext cx="215067" cy="215067"/>
          </a:xfrm>
          <a:prstGeom prst="rect">
            <a:avLst/>
          </a:prstGeom>
        </p:spPr>
      </p:pic>
      <p:sp>
        <p:nvSpPr>
          <p:cNvPr id="15" name="Text 11"/>
          <p:cNvSpPr txBox="1"/>
          <p:nvPr/>
        </p:nvSpPr>
        <p:spPr>
          <a:xfrm>
            <a:off x="6355080" y="2569464"/>
            <a:ext cx="2331720" cy="868680"/>
          </a:xfrm>
          <a:prstGeom prst="rect">
            <a:avLst/>
          </a:prstGeom>
          <a:noFill/>
          <a:ln/>
        </p:spPr>
        <p:txBody>
          <a:bodyPr wrap="square" lIns="0" tIns="0" rIns="0" bIns="0" rtlCol="0" anchor="t"/>
          <a:lstStyle/>
          <a:p>
            <a:pPr indent="0" marL="0">
              <a:buNone/>
            </a:pPr>
            <a:r>
              <a:rPr lang="en-US" sz="1400" dirty="0">
                <a:solidFill>
                  <a:srgbClr val="1B1F24"/>
                </a:solidFill>
              </a:rPr>
              <a:t>a write sent to query is READ_ONLY</a:t>
            </a:r>
            <a:endParaRPr lang="en-US" sz="1400" dirty="0"/>
          </a:p>
        </p:txBody>
      </p:sp>
      <p:sp>
        <p:nvSpPr>
          <p:cNvPr id="16" name="Shape 12"/>
          <p:cNvSpPr/>
          <p:nvPr/>
        </p:nvSpPr>
        <p:spPr>
          <a:xfrm>
            <a:off x="5852160" y="3566160"/>
            <a:ext cx="384048" cy="384048"/>
          </a:xfrm>
          <a:prstGeom prst="ellipse">
            <a:avLst/>
          </a:prstGeom>
          <a:solidFill>
            <a:srgbClr val="1FB68A"/>
          </a:solidFill>
          <a:ln w="12700">
            <a:solidFill>
              <a:srgbClr val="1FB68A"/>
            </a:solidFill>
            <a:prstDash val="solid"/>
          </a:ln>
        </p:spPr>
      </p:sp>
      <p:pic>
        <p:nvPicPr>
          <p:cNvPr id="17" name="Image 2" descr="preencoded.png">    </p:cNvPr>
          <p:cNvPicPr>
            <a:picLocks noChangeAspect="1"/>
          </p:cNvPicPr>
          <p:nvPr/>
        </p:nvPicPr>
        <p:blipFill>
          <a:blip r:embed="rId3"/>
          <a:stretch>
            <a:fillRect/>
          </a:stretch>
        </p:blipFill>
        <p:spPr>
          <a:xfrm>
            <a:off x="5936651" y="3650651"/>
            <a:ext cx="215067" cy="215067"/>
          </a:xfrm>
          <a:prstGeom prst="rect">
            <a:avLst/>
          </a:prstGeom>
        </p:spPr>
      </p:pic>
      <p:sp>
        <p:nvSpPr>
          <p:cNvPr id="18" name="Text 13"/>
          <p:cNvSpPr txBox="1"/>
          <p:nvPr/>
        </p:nvSpPr>
        <p:spPr>
          <a:xfrm>
            <a:off x="6355080" y="3529584"/>
            <a:ext cx="2331720" cy="868680"/>
          </a:xfrm>
          <a:prstGeom prst="rect">
            <a:avLst/>
          </a:prstGeom>
          <a:noFill/>
          <a:ln/>
        </p:spPr>
        <p:txBody>
          <a:bodyPr wrap="square" lIns="0" tIns="0" rIns="0" bIns="0" rtlCol="0" anchor="t"/>
          <a:lstStyle/>
          <a:p>
            <a:pPr indent="0" marL="0">
              <a:buNone/>
            </a:pPr>
            <a:r>
              <a:rPr lang="en-US" sz="1400" dirty="0">
                <a:solidFill>
                  <a:srgbClr val="1B1F24"/>
                </a:solidFill>
              </a:rPr>
              <a:t>Claude Desktop answers a question about the data</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When the agent goes wrong: module 2</a:t>
            </a:r>
            <a:endParaRPr lang="en-US" sz="3200" dirty="0"/>
          </a:p>
        </p:txBody>
      </p:sp>
      <p:sp>
        <p:nvSpPr>
          <p:cNvPr id="3" name="snag-1"/>
          <p:cNvSpPr/>
          <p:nvPr/>
        </p:nvSpPr>
        <p:spPr>
          <a:xfrm>
            <a:off x="457200" y="1097280"/>
            <a:ext cx="8229600" cy="1051560"/>
          </a:xfrm>
          <a:prstGeom prst="roundRect">
            <a:avLst>
              <a:gd name="adj" fmla="val 6957"/>
            </a:avLst>
          </a:prstGeom>
          <a:solidFill>
            <a:srgbClr val="F1F5F9"/>
          </a:solidFill>
          <a:ln w="12700">
            <a:solidFill>
              <a:srgbClr val="F1F5F9"/>
            </a:solidFill>
            <a:prstDash val="solid"/>
          </a:ln>
        </p:spPr>
      </p:sp>
      <p:sp>
        <p:nvSpPr>
          <p:cNvPr id="4" name="Shape 2"/>
          <p:cNvSpPr/>
          <p:nvPr/>
        </p:nvSpPr>
        <p:spPr>
          <a:xfrm>
            <a:off x="685800" y="1371600"/>
            <a:ext cx="502920" cy="502920"/>
          </a:xfrm>
          <a:prstGeom prst="ellipse">
            <a:avLst/>
          </a:prstGeom>
          <a:solidFill>
            <a:srgbClr val="E69A28"/>
          </a:solidFill>
          <a:ln w="12700">
            <a:solidFill>
              <a:srgbClr val="E69A28"/>
            </a:solidFill>
            <a:prstDash val="solid"/>
          </a:ln>
        </p:spPr>
      </p:sp>
      <p:pic>
        <p:nvPicPr>
          <p:cNvPr id="5" name="Image 0" descr="preencoded.png">    </p:cNvPr>
          <p:cNvPicPr>
            <a:picLocks noChangeAspect="1"/>
          </p:cNvPicPr>
          <p:nvPr/>
        </p:nvPicPr>
        <p:blipFill>
          <a:blip r:embed="rId1"/>
          <a:stretch>
            <a:fillRect/>
          </a:stretch>
        </p:blipFill>
        <p:spPr>
          <a:xfrm>
            <a:off x="796442" y="1482242"/>
            <a:ext cx="281635" cy="281635"/>
          </a:xfrm>
          <a:prstGeom prst="rect">
            <a:avLst/>
          </a:prstGeom>
        </p:spPr>
      </p:pic>
      <p:sp>
        <p:nvSpPr>
          <p:cNvPr id="6" name="Text 3"/>
          <p:cNvSpPr txBox="1"/>
          <p:nvPr/>
        </p:nvSpPr>
        <p:spPr>
          <a:xfrm>
            <a:off x="1417320" y="118872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query checks the SQL string only</a:t>
            </a:r>
            <a:endParaRPr lang="en-US" sz="1600" dirty="0"/>
          </a:p>
          <a:p>
            <a:pPr indent="0" marL="0">
              <a:buNone/>
            </a:pPr>
            <a:r>
              <a:rPr lang="en-US" sz="1400" dirty="0">
                <a:solidFill>
                  <a:srgbClr val="2B3440"/>
                </a:solidFill>
              </a:rPr>
              <a:t>A write can hide inside a WITH. Ask for a query_only connection too, and a test that tries it.</a:t>
            </a:r>
            <a:endParaRPr lang="en-US" sz="1600" dirty="0"/>
          </a:p>
        </p:txBody>
      </p:sp>
      <p:sp>
        <p:nvSpPr>
          <p:cNvPr id="7" name="snag-2"/>
          <p:cNvSpPr/>
          <p:nvPr/>
        </p:nvSpPr>
        <p:spPr>
          <a:xfrm>
            <a:off x="457200" y="2286000"/>
            <a:ext cx="8229600" cy="1051560"/>
          </a:xfrm>
          <a:prstGeom prst="roundRect">
            <a:avLst>
              <a:gd name="adj" fmla="val 6957"/>
            </a:avLst>
          </a:prstGeom>
          <a:solidFill>
            <a:srgbClr val="F1F5F9"/>
          </a:solidFill>
          <a:ln w="12700">
            <a:solidFill>
              <a:srgbClr val="F1F5F9"/>
            </a:solidFill>
            <a:prstDash val="solid"/>
          </a:ln>
        </p:spPr>
      </p:sp>
      <p:sp>
        <p:nvSpPr>
          <p:cNvPr id="8" name="Shape 5"/>
          <p:cNvSpPr/>
          <p:nvPr/>
        </p:nvSpPr>
        <p:spPr>
          <a:xfrm>
            <a:off x="685800" y="2560320"/>
            <a:ext cx="502920" cy="502920"/>
          </a:xfrm>
          <a:prstGeom prst="ellipse">
            <a:avLst/>
          </a:prstGeom>
          <a:solidFill>
            <a:srgbClr val="E69A28"/>
          </a:solidFill>
          <a:ln w="12700">
            <a:solidFill>
              <a:srgbClr val="E69A28"/>
            </a:solidFill>
            <a:prstDash val="solid"/>
          </a:ln>
        </p:spPr>
      </p:sp>
      <p:pic>
        <p:nvPicPr>
          <p:cNvPr id="9" name="Image 1" descr="preencoded.png">    </p:cNvPr>
          <p:cNvPicPr>
            <a:picLocks noChangeAspect="1"/>
          </p:cNvPicPr>
          <p:nvPr/>
        </p:nvPicPr>
        <p:blipFill>
          <a:blip r:embed="rId2"/>
          <a:stretch>
            <a:fillRect/>
          </a:stretch>
        </p:blipFill>
        <p:spPr>
          <a:xfrm>
            <a:off x="796442" y="2670962"/>
            <a:ext cx="281635" cy="281635"/>
          </a:xfrm>
          <a:prstGeom prst="rect">
            <a:avLst/>
          </a:prstGeom>
        </p:spPr>
      </p:pic>
      <p:sp>
        <p:nvSpPr>
          <p:cNvPr id="10" name="Text 6"/>
          <p:cNvSpPr txBox="1"/>
          <p:nvPr/>
        </p:nvSpPr>
        <p:spPr>
          <a:xfrm>
            <a:off x="1417320" y="237744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Claude sees no tables</a:t>
            </a:r>
            <a:endParaRPr lang="en-US" sz="1600" dirty="0"/>
          </a:p>
          <a:p>
            <a:pPr indent="0" marL="0">
              <a:buNone/>
            </a:pPr>
            <a:r>
              <a:rPr lang="en-US" sz="1400" dirty="0">
                <a:solidFill>
                  <a:srgbClr val="2B3440"/>
                </a:solidFill>
              </a:rPr>
              <a:t>The server started in another folder and got an empty database. Use absolute paths; the server should exit when the file is missing.</a:t>
            </a:r>
            <a:endParaRPr lang="en-US" sz="1600" dirty="0"/>
          </a:p>
        </p:txBody>
      </p:sp>
      <p:sp>
        <p:nvSpPr>
          <p:cNvPr id="11" name="snag-3"/>
          <p:cNvSpPr/>
          <p:nvPr/>
        </p:nvSpPr>
        <p:spPr>
          <a:xfrm>
            <a:off x="457200" y="3474720"/>
            <a:ext cx="8229600" cy="1051560"/>
          </a:xfrm>
          <a:prstGeom prst="roundRect">
            <a:avLst>
              <a:gd name="adj" fmla="val 6957"/>
            </a:avLst>
          </a:prstGeom>
          <a:solidFill>
            <a:srgbClr val="F1F5F9"/>
          </a:solidFill>
          <a:ln w="12700">
            <a:solidFill>
              <a:srgbClr val="F1F5F9"/>
            </a:solidFill>
            <a:prstDash val="solid"/>
          </a:ln>
        </p:spPr>
      </p:sp>
      <p:sp>
        <p:nvSpPr>
          <p:cNvPr id="12" name="Shape 8"/>
          <p:cNvSpPr/>
          <p:nvPr/>
        </p:nvSpPr>
        <p:spPr>
          <a:xfrm>
            <a:off x="685800" y="3749040"/>
            <a:ext cx="502920" cy="502920"/>
          </a:xfrm>
          <a:prstGeom prst="ellipse">
            <a:avLst/>
          </a:prstGeom>
          <a:solidFill>
            <a:srgbClr val="E69A28"/>
          </a:solidFill>
          <a:ln w="12700">
            <a:solidFill>
              <a:srgbClr val="E69A28"/>
            </a:solidFill>
            <a:prstDash val="solid"/>
          </a:ln>
        </p:spPr>
      </p:sp>
      <p:pic>
        <p:nvPicPr>
          <p:cNvPr id="13" name="Image 2" descr="preencoded.png">    </p:cNvPr>
          <p:cNvPicPr>
            <a:picLocks noChangeAspect="1"/>
          </p:cNvPicPr>
          <p:nvPr/>
        </p:nvPicPr>
        <p:blipFill>
          <a:blip r:embed="rId3"/>
          <a:stretch>
            <a:fillRect/>
          </a:stretch>
        </p:blipFill>
        <p:spPr>
          <a:xfrm>
            <a:off x="796442" y="3859682"/>
            <a:ext cx="281635" cy="281635"/>
          </a:xfrm>
          <a:prstGeom prst="rect">
            <a:avLst/>
          </a:prstGeom>
        </p:spPr>
      </p:pic>
      <p:sp>
        <p:nvSpPr>
          <p:cNvPr id="14" name="Text 9"/>
          <p:cNvSpPr txBox="1"/>
          <p:nvPr/>
        </p:nvSpPr>
        <p:spPr>
          <a:xfrm>
            <a:off x="1417320" y="356616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copies the notes rules into the tools</a:t>
            </a:r>
            <a:endParaRPr lang="en-US" sz="1600" dirty="0"/>
          </a:p>
          <a:p>
            <a:pPr indent="0" marL="0">
              <a:buNone/>
            </a:pPr>
            <a:r>
              <a:rPr lang="en-US" sz="1400" dirty="0">
                <a:solidFill>
                  <a:srgbClr val="2B3440"/>
                </a:solidFill>
              </a:rPr>
              <a:t>One rule, two copies, one will drift. The tools should call NotesService.</a:t>
            </a:r>
            <a:endParaRPr lang="en-US" sz="1600" dirty="0"/>
          </a:p>
        </p:txBody>
      </p:sp>
      <p:sp>
        <p:nvSpPr>
          <p:cNvPr id="15" name="snag-4"/>
          <p:cNvSpPr/>
          <p:nvPr/>
        </p:nvSpPr>
        <p:spPr>
          <a:xfrm>
            <a:off x="457200" y="4663440"/>
            <a:ext cx="8229600" cy="1051560"/>
          </a:xfrm>
          <a:prstGeom prst="roundRect">
            <a:avLst>
              <a:gd name="adj" fmla="val 6957"/>
            </a:avLst>
          </a:prstGeom>
          <a:solidFill>
            <a:srgbClr val="F1F5F9"/>
          </a:solidFill>
          <a:ln w="12700">
            <a:solidFill>
              <a:srgbClr val="F1F5F9"/>
            </a:solidFill>
            <a:prstDash val="solid"/>
          </a:ln>
        </p:spPr>
      </p:sp>
      <p:sp>
        <p:nvSpPr>
          <p:cNvPr id="16" name="Shape 11"/>
          <p:cNvSpPr/>
          <p:nvPr/>
        </p:nvSpPr>
        <p:spPr>
          <a:xfrm>
            <a:off x="685800" y="4937760"/>
            <a:ext cx="502920" cy="502920"/>
          </a:xfrm>
          <a:prstGeom prst="ellipse">
            <a:avLst/>
          </a:prstGeom>
          <a:solidFill>
            <a:srgbClr val="E69A28"/>
          </a:solidFill>
          <a:ln w="12700">
            <a:solidFill>
              <a:srgbClr val="E69A28"/>
            </a:solidFill>
            <a:prstDash val="solid"/>
          </a:ln>
        </p:spPr>
      </p:sp>
      <p:pic>
        <p:nvPicPr>
          <p:cNvPr id="17" name="Image 3" descr="preencoded.png">    </p:cNvPr>
          <p:cNvPicPr>
            <a:picLocks noChangeAspect="1"/>
          </p:cNvPicPr>
          <p:nvPr/>
        </p:nvPicPr>
        <p:blipFill>
          <a:blip r:embed="rId4"/>
          <a:stretch>
            <a:fillRect/>
          </a:stretch>
        </p:blipFill>
        <p:spPr>
          <a:xfrm>
            <a:off x="796442" y="5048402"/>
            <a:ext cx="281635" cy="281635"/>
          </a:xfrm>
          <a:prstGeom prst="rect">
            <a:avLst/>
          </a:prstGeom>
        </p:spPr>
      </p:pic>
      <p:sp>
        <p:nvSpPr>
          <p:cNvPr id="18" name="Text 12"/>
          <p:cNvSpPr txBox="1"/>
          <p:nvPr/>
        </p:nvSpPr>
        <p:spPr>
          <a:xfrm>
            <a:off x="1417320" y="475488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Claude Desktop shows no notes-db tools</a:t>
            </a:r>
            <a:endParaRPr lang="en-US" sz="1600" dirty="0"/>
          </a:p>
          <a:p>
            <a:pPr indent="0" marL="0">
              <a:buNone/>
            </a:pPr>
            <a:r>
              <a:rPr lang="en-US" sz="1400" dirty="0">
                <a:solidFill>
                  <a:srgbClr val="2B3440"/>
                </a:solidFill>
              </a:rPr>
              <a:t>A relative path or a bare node in the entry. Use the script's absolute paths, then quit Claude Desktop fully and reopen.</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b"/>
          <a:lstStyle/>
          <a:p>
            <a:pPr algn="l" indent="0" marL="0">
              <a:buNone/>
            </a:pPr>
            <a:r>
              <a:rPr lang="en-US" sz="4400" b="1" dirty="0">
                <a:solidFill>
                  <a:srgbClr val="FFFFFF"/>
                </a:solidFill>
              </a:rPr>
              <a:t>What you built</a:t>
            </a:r>
            <a:endParaRPr lang="en-US" sz="4400" dirty="0"/>
          </a:p>
        </p:txBody>
      </p:sp>
      <p:sp>
        <p:nvSpPr>
          <p:cNvPr id="3" name="Shape 1"/>
          <p:cNvSpPr/>
          <p:nvPr/>
        </p:nvSpPr>
        <p:spPr>
          <a:xfrm>
            <a:off x="548640" y="2743200"/>
            <a:ext cx="1481328" cy="685800"/>
          </a:xfrm>
          <a:prstGeom prst="roundRect">
            <a:avLst>
              <a:gd name="adj" fmla="val 10667"/>
            </a:avLst>
          </a:prstGeom>
          <a:solidFill>
            <a:srgbClr val="2B3440"/>
          </a:solidFill>
          <a:ln w="12700">
            <a:solidFill>
              <a:srgbClr val="2B3440"/>
            </a:solidFill>
            <a:prstDash val="solid"/>
          </a:ln>
        </p:spPr>
      </p:sp>
      <p:sp>
        <p:nvSpPr>
          <p:cNvPr id="4" name="Text 2"/>
          <p:cNvSpPr txBox="1"/>
          <p:nvPr/>
        </p:nvSpPr>
        <p:spPr>
          <a:xfrm>
            <a:off x="548640"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Seeded SQLite</a:t>
            </a:r>
            <a:endParaRPr lang="en-US" sz="1400" dirty="0"/>
          </a:p>
        </p:txBody>
      </p:sp>
      <p:sp>
        <p:nvSpPr>
          <p:cNvPr id="5" name="Shape 3"/>
          <p:cNvSpPr/>
          <p:nvPr/>
        </p:nvSpPr>
        <p:spPr>
          <a:xfrm>
            <a:off x="2185416" y="2743200"/>
            <a:ext cx="1481328" cy="685800"/>
          </a:xfrm>
          <a:prstGeom prst="roundRect">
            <a:avLst>
              <a:gd name="adj" fmla="val 10667"/>
            </a:avLst>
          </a:prstGeom>
          <a:solidFill>
            <a:srgbClr val="2B3440"/>
          </a:solidFill>
          <a:ln w="12700">
            <a:solidFill>
              <a:srgbClr val="2B3440"/>
            </a:solidFill>
            <a:prstDash val="solid"/>
          </a:ln>
        </p:spPr>
      </p:sp>
      <p:sp>
        <p:nvSpPr>
          <p:cNvPr id="6" name="Text 4"/>
          <p:cNvSpPr txBox="1"/>
          <p:nvPr/>
        </p:nvSpPr>
        <p:spPr>
          <a:xfrm>
            <a:off x="2185416"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Users</a:t>
            </a:r>
            <a:endParaRPr lang="en-US" sz="1400" dirty="0"/>
          </a:p>
        </p:txBody>
      </p:sp>
      <p:sp>
        <p:nvSpPr>
          <p:cNvPr id="7" name="Shape 5"/>
          <p:cNvSpPr/>
          <p:nvPr/>
        </p:nvSpPr>
        <p:spPr>
          <a:xfrm>
            <a:off x="3822192" y="2743200"/>
            <a:ext cx="1481328" cy="685800"/>
          </a:xfrm>
          <a:prstGeom prst="roundRect">
            <a:avLst>
              <a:gd name="adj" fmla="val 10667"/>
            </a:avLst>
          </a:prstGeom>
          <a:solidFill>
            <a:srgbClr val="2B3440"/>
          </a:solidFill>
          <a:ln w="12700">
            <a:solidFill>
              <a:srgbClr val="2B3440"/>
            </a:solidFill>
            <a:prstDash val="solid"/>
          </a:ln>
        </p:spPr>
      </p:sp>
      <p:sp>
        <p:nvSpPr>
          <p:cNvPr id="8" name="Text 6"/>
          <p:cNvSpPr txBox="1"/>
          <p:nvPr/>
        </p:nvSpPr>
        <p:spPr>
          <a:xfrm>
            <a:off x="3822192"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Notes + sharing</a:t>
            </a:r>
            <a:endParaRPr lang="en-US" sz="1400" dirty="0"/>
          </a:p>
        </p:txBody>
      </p:sp>
      <p:sp>
        <p:nvSpPr>
          <p:cNvPr id="9" name="Shape 7"/>
          <p:cNvSpPr/>
          <p:nvPr/>
        </p:nvSpPr>
        <p:spPr>
          <a:xfrm>
            <a:off x="5458968" y="2743200"/>
            <a:ext cx="1481328" cy="685800"/>
          </a:xfrm>
          <a:prstGeom prst="roundRect">
            <a:avLst>
              <a:gd name="adj" fmla="val 10667"/>
            </a:avLst>
          </a:prstGeom>
          <a:solidFill>
            <a:srgbClr val="2B3440"/>
          </a:solidFill>
          <a:ln w="12700">
            <a:solidFill>
              <a:srgbClr val="2B3440"/>
            </a:solidFill>
            <a:prstDash val="solid"/>
          </a:ln>
        </p:spPr>
      </p:sp>
      <p:sp>
        <p:nvSpPr>
          <p:cNvPr id="10" name="Text 8"/>
          <p:cNvSpPr txBox="1"/>
          <p:nvPr/>
        </p:nvSpPr>
        <p:spPr>
          <a:xfrm>
            <a:off x="5458968"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MCP server</a:t>
            </a:r>
            <a:endParaRPr lang="en-US" sz="1400" dirty="0"/>
          </a:p>
        </p:txBody>
      </p:sp>
      <p:sp>
        <p:nvSpPr>
          <p:cNvPr id="11" name="Shape 9"/>
          <p:cNvSpPr/>
          <p:nvPr/>
        </p:nvSpPr>
        <p:spPr>
          <a:xfrm>
            <a:off x="7095744" y="2743200"/>
            <a:ext cx="1481328" cy="685800"/>
          </a:xfrm>
          <a:prstGeom prst="roundRect">
            <a:avLst>
              <a:gd name="adj" fmla="val 10667"/>
            </a:avLst>
          </a:prstGeom>
          <a:solidFill>
            <a:srgbClr val="1FB68A"/>
          </a:solidFill>
          <a:ln w="12700">
            <a:solidFill>
              <a:srgbClr val="2B3440"/>
            </a:solidFill>
            <a:prstDash val="solid"/>
          </a:ln>
        </p:spPr>
      </p:sp>
      <p:sp>
        <p:nvSpPr>
          <p:cNvPr id="12" name="Text 10"/>
          <p:cNvSpPr txBox="1"/>
          <p:nvPr/>
        </p:nvSpPr>
        <p:spPr>
          <a:xfrm>
            <a:off x="7095744"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Claude Desktop</a:t>
            </a:r>
            <a:endParaRPr lang="en-US" sz="1400" dirty="0"/>
          </a:p>
        </p:txBody>
      </p:sp>
      <p:sp>
        <p:nvSpPr>
          <p:cNvPr id="13" name="Text 11"/>
          <p:cNvSpPr txBox="1"/>
          <p:nvPr/>
        </p:nvSpPr>
        <p:spPr>
          <a:xfrm>
            <a:off x="548640" y="3703320"/>
            <a:ext cx="8046720" cy="731520"/>
          </a:xfrm>
          <a:prstGeom prst="rect">
            <a:avLst/>
          </a:prstGeom>
          <a:noFill/>
          <a:ln/>
        </p:spPr>
        <p:txBody>
          <a:bodyPr wrap="square" lIns="0" tIns="0" rIns="0" bIns="0" rtlCol="0" anchor="t"/>
          <a:lstStyle/>
          <a:p>
            <a:pPr indent="0" marL="0">
              <a:buNone/>
            </a:pPr>
            <a:r>
              <a:rPr lang="en-US" sz="1400" dirty="0">
                <a:solidFill>
                  <a:srgbClr val="CBD5E1"/>
                </a:solidFill>
              </a:rPr>
              <a:t>Next: authentication before anyone else can reach it · an HTTP transport for a shared server · your own tables and tools</a:t>
            </a:r>
            <a:endParaRPr lang="en-US" sz="1400" dirty="0"/>
          </a:p>
        </p:txBody>
      </p:sp>
      <p:sp>
        <p:nvSpPr>
          <p:cNvPr id="15" name="Text 0"/>
          <p:cNvSpPr/>
          <p:nvPr>
            <p:ph idx="101" type="body" hasCustomPrompt="1"/>
          </p:nvPr>
        </p:nvSpPr>
        <p:spPr>
          <a:xfrm>
            <a:off x="548640" y="2697480"/>
            <a:ext cx="8046720" cy="82296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theme/theme1.xml><?xml version="1.0" encoding="utf-8"?>
<a:theme xmlns:a="http://schemas.openxmlformats.org/drawingml/2006/main" name="Lab Companion">
  <a:themeElements>
    <a:clrScheme name="Lab Companion">
      <a:dk1>
        <a:srgbClr val="1B1F24"/>
      </a:dk1>
      <a:lt1>
        <a:srgbClr val="FFFFFF"/>
      </a:lt1>
      <a:dk2>
        <a:srgbClr val="2B3440"/>
      </a:dk2>
      <a:lt2>
        <a:srgbClr val="F1F5F9"/>
      </a:lt2>
      <a:accent1>
        <a:srgbClr val="1FB68A"/>
      </a:accent1>
      <a:accent2>
        <a:srgbClr val="E69A28"/>
      </a:accent2>
      <a:accent3>
        <a:srgbClr val="7C5CFF"/>
      </a:accent3>
      <a:accent4>
        <a:srgbClr val="E5484D"/>
      </a:accent4>
      <a:accent5>
        <a:srgbClr val="0F766E"/>
      </a:accent5>
      <a:accent6>
        <a:srgbClr val="94A3B8"/>
      </a:accent6>
      <a:hlink>
        <a:srgbClr val="0F766E"/>
      </a:hlink>
      <a:folHlink>
        <a:srgbClr val="7C5CFF"/>
      </a:folHlink>
    </a:clrScheme>
    <a:fontScheme name="Lab Compani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 companion: Building Apps with AI Agents</dc:title>
  <dc:subject>PptxGenJS Presentation</dc:subject>
  <dc:creator>edu-training</dc:creator>
  <cp:lastModifiedBy>edu-training</cp:lastModifiedBy>
  <cp:revision>1</cp:revision>
  <dcterms:created xsi:type="dcterms:W3CDTF">2026-10-27T03:54:30Z</dcterms:created>
  <dcterms:modified xsi:type="dcterms:W3CDTF">2026-10-27T03:54:30Z</dcterms:modified>
</cp:coreProperties>
</file>