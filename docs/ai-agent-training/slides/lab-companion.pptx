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macOS and WSL shells were the target. The `eval "$(…)"` lab helper needs a POSIX shell; on PowerShell, copy the printed values by hand. Not tested on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Inspector CLI (chapters 07 and 09) stays in the terminal: it is a real MCP client, which is the point of those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and MCP and never import learner code, so they compile before the lab is done. The contracts are in test/labs/README.md in the starter.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modules, about 170 minutes of labs plus the capstone as homework.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Left out for time: the persistence and clean-wipe demos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set the project up, started the app, and reported ledger 1 / 40 unit / 26 e2e plus a red lab 01 as its baseline.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filled 14 markers, got lab 01 15/15 and verify green, and listed six open questions (reopening a fulfilled order first).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 check proves the rule is tested: deleting O2 must turn a test red. Ask the agent to show the red run, not to describe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 02. Left out for time: nothing. This is chapter 02 as it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migrated a scratch database that already had a user, showed the row kept with phone null, and refused a NOT NULL column as a control. If yours only says "it is nullable, so it is safe", ask it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in-memory test database is built from the migration SQL, not the TypeScript table, so tests cannot catch a missing migration; check:migrations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nothing; the expiresAt stretch needs /mcp, so it comes after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built step 1 and demonstrated it with curl: 401 with a Basic challenge and one body for wrong password, unknown email and a bare header. Lab 03 stays red until step 2,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03 8/8 from this one line, because the spec carries the design. Production must refuse to start without JWT_SECRET; check that your agent did not hard-code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scaffolded devices with the skill, reshaped the CRUD into provision, rotate and archive, and got lab 03 04 14/14. Break-it discussion: have it give unknown emails a different 401, watch lab 03 fail, revert.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Logging in stores a token, and provisioning a live device secret, in collection variables: never export or share the collection after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05 + 06. Left out for time: the separate envelope-discussion lab (chapter 05): reading one raw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read the installed @rekog/mcp-nest types, got lab 06 4/4, and proved a stray console.log fails its raw-stdout test. Then look at the wire with pnpm mcp:inspect:cli and read chapter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 is a real MCP client over stdio. Exit 5 comes from the tool's own isError, so it is a sound CI signal (module 5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07 + 08. Left out for time: the Host-header lab (chapter 08). Mention MCP_ALLOWED_HOSTS; the stuck slide covers its snags.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08 4/4 and broke each setting once to see a test fail. Experiment: have it flip enableJsonResponse, compare initialize in Postman, watch lab 08 fail, revert.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Inspector listens on loopback only (127.0.0.1, ports 6274, 6275, 6278). Its startup output shows its API token twice, in the URL and on the Auth token line: both are a credential. The three example servers in its list can be ignored. Secret values: the helper prints them; never paste them anywhere but the header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the Inspector connects with no headers at all: that is the security finding module 6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09 + 10. Left out for time: nothing from chapter 09; the chapter 10 capstone moves to homework, and the expiresAt lab is a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09 4/4, and registering its middleware after the transport made lab 09 fail 3 tests. Discuss the known limit in the spec: a disabled user's devices keep working until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clients, two devices: the Inspector uses the helper's device, Postman its own. Rotating in Postman therefore does not break the Inspector call; a good question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Distinction: a false statement found in a comment, skill, spec or this course, measured and corrected. Rework: "tests pass" without counts, or any credential in an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false statement they found in a tool, a doc or this course, and how they measured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4.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4.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4.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4.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4.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4.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image" Target="../media/image-41-8.png"/><Relationship Id="rId9" Type="http://schemas.openxmlformats.org/officeDocument/2006/relationships/slideLayout" Target="../slideLayouts/slideLayout4.xml"/><Relationship Id="rId10"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six modules · NestJS 12 · drizzle · SQLite · Passport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pnpm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pnpm verify + pnpm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Node 24 + pnpm</a:t>
            </a:r>
            <a:endParaRPr lang="en-US" sz="1800" dirty="0"/>
          </a:p>
          <a:p>
            <a:pPr indent="0" marL="0">
              <a:buNone/>
            </a:pPr>
            <a:r>
              <a:rPr lang="en-US" sz="1400" dirty="0">
                <a:solidFill>
                  <a:srgbClr val="2B3440"/>
                </a:solidFill>
              </a:rPr>
              <a:t>Every command runs in boilerplate/nest-ai-starter. </a:t>
            </a:r>
            <a:pPr indent="0" marL="0">
              <a:buNone/>
            </a:pPr>
            <a:r>
              <a:rPr lang="en-US" sz="1400" dirty="0">
                <a:solidFill>
                  <a:srgbClr val="2B3440"/>
                </a:solidFill>
                <a:latin typeface="Courier New" pitchFamily="34" charset="0"/>
                <a:ea typeface="Courier New" pitchFamily="34" charset="-122"/>
                <a:cs typeface="Courier New" pitchFamily="34" charset="-120"/>
              </a:rPr>
              <a:t>corepack enable</a:t>
            </a:r>
            <a:pPr indent="0" marL="0">
              <a:buNone/>
            </a:pPr>
            <a:r>
              <a:rPr lang="en-US" sz="1400" dirty="0">
                <a:solidFill>
                  <a:srgbClr val="2B3440"/>
                </a:solidFill>
              </a:rPr>
              <a:t> once puts pnpm on your PATH; otherwise write </a:t>
            </a:r>
            <a:pPr indent="0" marL="0">
              <a:buNone/>
            </a:pPr>
            <a:r>
              <a:rPr lang="en-US" sz="1400" dirty="0">
                <a:solidFill>
                  <a:srgbClr val="2B3440"/>
                </a:solidFill>
                <a:latin typeface="Courier New" pitchFamily="34" charset="0"/>
                <a:ea typeface="Courier New" pitchFamily="34" charset="-122"/>
                <a:cs typeface="Courier New" pitchFamily="34" charset="-120"/>
              </a:rPr>
              <a:t>corepack pnpm</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Never share a secret</a:t>
            </a:r>
            <a:endParaRPr lang="en-US" sz="1800" dirty="0"/>
          </a:p>
          <a:p>
            <a:pPr indent="0" marL="0">
              <a:buNone/>
            </a:pPr>
            <a:r>
              <a:rPr lang="en-US" sz="1400" dirty="0">
                <a:solidFill>
                  <a:srgbClr val="2B3440"/>
                </a:solidFill>
              </a:rPr>
              <a:t>Passwords, tokens, device secrets and Inspector URLs (they carry a token) stay in your terminal.</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Calling the API with Postman</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Import one file</a:t>
            </a:r>
            <a:endParaRPr lang="en-US" sz="1800" dirty="0"/>
          </a:p>
          <a:p>
            <a:pPr indent="0" marL="0">
              <a:buNone/>
            </a:pPr>
            <a:r>
              <a:rPr lang="en-US" sz="1400" dirty="0">
                <a:solidFill>
                  <a:srgbClr val="2B3440"/>
                </a:solidFill>
              </a:rPr>
              <a:t>In the starter: </a:t>
            </a:r>
            <a:pPr indent="0" marL="0">
              <a:buNone/>
            </a:pPr>
            <a:r>
              <a:rPr lang="en-US" sz="1400" dirty="0">
                <a:solidFill>
                  <a:srgbClr val="2B3440"/>
                </a:solidFill>
                <a:latin typeface="Courier New" pitchFamily="34" charset="0"/>
                <a:ea typeface="Courier New" pitchFamily="34" charset="-122"/>
                <a:cs typeface="Courier New" pitchFamily="34" charset="-120"/>
              </a:rPr>
              <a:t>postman/nest-ai-starter.postman_collection.json</a:t>
            </a:r>
            <a:pPr indent="0" marL="0">
              <a:buNone/>
            </a:pPr>
            <a:r>
              <a:rPr lang="en-US" sz="1400" dirty="0">
                <a:solidFill>
                  <a:srgbClr val="2B3440"/>
                </a:solidFill>
              </a:rPr>
              <a:t>. baseUrl is http://localhost:3000; the first request in folder 03 signs up the demo user.</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Folders follow the labs</a:t>
            </a:r>
            <a:endParaRPr lang="en-US" sz="1800" dirty="0"/>
          </a:p>
          <a:p>
            <a:pPr indent="0" marL="0">
              <a:buNone/>
            </a:pPr>
            <a:r>
              <a:rPr lang="en-US" sz="1400" dirty="0">
                <a:solidFill>
                  <a:srgbClr val="2B3440"/>
                </a:solidFill>
              </a:rPr>
              <a:t>Numbered by chapter, and each name says its module. Every request has tests: read the Test Results tab, not just the status.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stores a live secret</a:t>
            </a:r>
            <a:endParaRPr lang="en-US" sz="1800" dirty="0"/>
          </a:p>
          <a:p>
            <a:pPr indent="0" marL="0">
              <a:buNone/>
            </a:pPr>
            <a:r>
              <a:rPr lang="en-US" sz="1400" dirty="0">
                <a:solidFill>
                  <a:srgbClr val="2B3440"/>
                </a:solidFill>
              </a:rPr>
              <a:t>Logging in saves a token and provisioning saves the device secret in collection variables. Never export or share the collection after a run.</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pnpm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pnpm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Setup and the loop</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40'</a:t>
            </a:r>
            <a:endParaRPr lang="en-US" sz="1400" dirty="0"/>
          </a:p>
        </p:txBody>
      </p:sp>
      <p:sp>
        <p:nvSpPr>
          <p:cNvPr id="6" name="Shape 4"/>
          <p:cNvSpPr/>
          <p:nvPr/>
        </p:nvSpPr>
        <p:spPr>
          <a:xfrm>
            <a:off x="457200" y="1709928"/>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594360" y="1709928"/>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Data: drizzle and zod</a:t>
            </a:r>
            <a:endParaRPr lang="en-US" sz="1400" dirty="0"/>
          </a:p>
        </p:txBody>
      </p:sp>
      <p:sp>
        <p:nvSpPr>
          <p:cNvPr id="8" name="Text 6"/>
          <p:cNvSpPr txBox="1"/>
          <p:nvPr/>
        </p:nvSpPr>
        <p:spPr>
          <a:xfrm>
            <a:off x="3566160" y="1709928"/>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25'</a:t>
            </a:r>
            <a:endParaRPr lang="en-US" sz="1400" dirty="0"/>
          </a:p>
        </p:txBody>
      </p:sp>
      <p:sp>
        <p:nvSpPr>
          <p:cNvPr id="9" name="Shape 7"/>
          <p:cNvSpPr/>
          <p:nvPr/>
        </p:nvSpPr>
        <p:spPr>
          <a:xfrm>
            <a:off x="457200" y="2276856"/>
            <a:ext cx="4023360" cy="475488"/>
          </a:xfrm>
          <a:prstGeom prst="roundRect">
            <a:avLst>
              <a:gd name="adj" fmla="val 11538"/>
            </a:avLst>
          </a:prstGeom>
          <a:solidFill>
            <a:srgbClr val="F1F5F9"/>
          </a:solidFill>
          <a:ln w="12700">
            <a:solidFill>
              <a:srgbClr val="F1F5F9"/>
            </a:solidFill>
            <a:prstDash val="solid"/>
          </a:ln>
        </p:spPr>
      </p:sp>
      <p:sp>
        <p:nvSpPr>
          <p:cNvPr id="10" name="Text 8"/>
          <p:cNvSpPr txBox="1"/>
          <p:nvPr/>
        </p:nvSpPr>
        <p:spPr>
          <a:xfrm>
            <a:off x="594360" y="2276856"/>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3  </a:t>
            </a:r>
            <a:pPr indent="0" marL="0">
              <a:buNone/>
            </a:pPr>
            <a:r>
              <a:rPr lang="en-US" sz="1400" dirty="0">
                <a:solidFill>
                  <a:srgbClr val="1B1F24"/>
                </a:solidFill>
              </a:rPr>
              <a:t>Identity: auth and devices</a:t>
            </a:r>
            <a:endParaRPr lang="en-US" sz="1400" dirty="0"/>
          </a:p>
        </p:txBody>
      </p:sp>
      <p:sp>
        <p:nvSpPr>
          <p:cNvPr id="11" name="Text 9"/>
          <p:cNvSpPr txBox="1"/>
          <p:nvPr/>
        </p:nvSpPr>
        <p:spPr>
          <a:xfrm>
            <a:off x="3566160" y="2276856"/>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45'</a:t>
            </a:r>
            <a:endParaRPr lang="en-US" sz="1400" dirty="0"/>
          </a:p>
        </p:txBody>
      </p:sp>
      <p:sp>
        <p:nvSpPr>
          <p:cNvPr id="12" name="Shape 10"/>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13" name="Text 11"/>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4  </a:t>
            </a:r>
            <a:pPr indent="0" marL="0">
              <a:buNone/>
            </a:pPr>
            <a:r>
              <a:rPr lang="en-US" sz="1400" dirty="0">
                <a:solidFill>
                  <a:srgbClr val="1B1F24"/>
                </a:solidFill>
              </a:rPr>
              <a:t>Your first MCP server</a:t>
            </a:r>
            <a:endParaRPr lang="en-US" sz="1400" dirty="0"/>
          </a:p>
        </p:txBody>
      </p:sp>
      <p:sp>
        <p:nvSpPr>
          <p:cNvPr id="14" name="Text 12"/>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30'</a:t>
            </a:r>
            <a:endParaRPr lang="en-US" sz="1400" dirty="0"/>
          </a:p>
        </p:txBody>
      </p:sp>
      <p:sp>
        <p:nvSpPr>
          <p:cNvPr id="15" name="Shape 13"/>
          <p:cNvSpPr/>
          <p:nvPr/>
        </p:nvSpPr>
        <p:spPr>
          <a:xfrm>
            <a:off x="4663440" y="1709928"/>
            <a:ext cx="4023360" cy="475488"/>
          </a:xfrm>
          <a:prstGeom prst="roundRect">
            <a:avLst>
              <a:gd name="adj" fmla="val 11538"/>
            </a:avLst>
          </a:prstGeom>
          <a:solidFill>
            <a:srgbClr val="F1F5F9"/>
          </a:solidFill>
          <a:ln w="12700">
            <a:solidFill>
              <a:srgbClr val="F1F5F9"/>
            </a:solidFill>
            <a:prstDash val="solid"/>
          </a:ln>
        </p:spPr>
      </p:sp>
      <p:sp>
        <p:nvSpPr>
          <p:cNvPr id="16" name="Text 14"/>
          <p:cNvSpPr txBox="1"/>
          <p:nvPr/>
        </p:nvSpPr>
        <p:spPr>
          <a:xfrm>
            <a:off x="4800600" y="1709928"/>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5  </a:t>
            </a:r>
            <a:pPr indent="0" marL="0">
              <a:buNone/>
            </a:pPr>
            <a:r>
              <a:rPr lang="en-US" sz="1400" dirty="0">
                <a:solidFill>
                  <a:srgbClr val="1B1F24"/>
                </a:solidFill>
              </a:rPr>
              <a:t>Inspector and transports</a:t>
            </a:r>
            <a:endParaRPr lang="en-US" sz="1400" dirty="0"/>
          </a:p>
        </p:txBody>
      </p:sp>
      <p:sp>
        <p:nvSpPr>
          <p:cNvPr id="17" name="Text 15"/>
          <p:cNvSpPr txBox="1"/>
          <p:nvPr/>
        </p:nvSpPr>
        <p:spPr>
          <a:xfrm>
            <a:off x="7772400" y="1709928"/>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25'</a:t>
            </a:r>
            <a:endParaRPr lang="en-US" sz="1400" dirty="0"/>
          </a:p>
        </p:txBody>
      </p:sp>
      <p:sp>
        <p:nvSpPr>
          <p:cNvPr id="18" name="Shape 16"/>
          <p:cNvSpPr/>
          <p:nvPr/>
        </p:nvSpPr>
        <p:spPr>
          <a:xfrm>
            <a:off x="4663440" y="2276856"/>
            <a:ext cx="4023360" cy="475488"/>
          </a:xfrm>
          <a:prstGeom prst="roundRect">
            <a:avLst>
              <a:gd name="adj" fmla="val 11538"/>
            </a:avLst>
          </a:prstGeom>
          <a:solidFill>
            <a:srgbClr val="F1F5F9"/>
          </a:solidFill>
          <a:ln w="12700">
            <a:solidFill>
              <a:srgbClr val="F1F5F9"/>
            </a:solidFill>
            <a:prstDash val="solid"/>
          </a:ln>
        </p:spPr>
      </p:sp>
      <p:sp>
        <p:nvSpPr>
          <p:cNvPr id="19" name="Text 17"/>
          <p:cNvSpPr txBox="1"/>
          <p:nvPr/>
        </p:nvSpPr>
        <p:spPr>
          <a:xfrm>
            <a:off x="4800600" y="2276856"/>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6  </a:t>
            </a:r>
            <a:pPr indent="0" marL="0">
              <a:buNone/>
            </a:pPr>
            <a:r>
              <a:rPr lang="en-US" sz="1400" dirty="0">
                <a:solidFill>
                  <a:srgbClr val="1B1F24"/>
                </a:solidFill>
              </a:rPr>
              <a:t>Secure MCP, then the capstone</a:t>
            </a:r>
            <a:endParaRPr lang="en-US" sz="1400" dirty="0"/>
          </a:p>
        </p:txBody>
      </p:sp>
      <p:sp>
        <p:nvSpPr>
          <p:cNvPr id="20" name="Text 18"/>
          <p:cNvSpPr txBox="1"/>
          <p:nvPr/>
        </p:nvSpPr>
        <p:spPr>
          <a:xfrm>
            <a:off x="7772400" y="2276856"/>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20'</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Setup and the loop</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adds an </a:t>
            </a:r>
            <a:pPr indent="0" marL="0">
              <a:buNone/>
            </a:pPr>
            <a:r>
              <a:rPr lang="en-US" sz="1800" dirty="0">
                <a:solidFill>
                  <a:srgbClr val="CBD5E1"/>
                </a:solidFill>
                <a:latin typeface="Courier New" pitchFamily="34" charset="0"/>
                <a:ea typeface="Courier New" pitchFamily="34" charset="-122"/>
                <a:cs typeface="Courier New" pitchFamily="34" charset="-120"/>
              </a:rPr>
              <a:t>orders</a:t>
            </a:r>
            <a:pPr indent="0" marL="0">
              <a:buNone/>
            </a:pPr>
            <a:r>
              <a:rPr lang="en-US" sz="1800" dirty="0">
                <a:solidFill>
                  <a:srgbClr val="CBD5E1"/>
                </a:solidFill>
              </a:rPr>
              <a:t> resource: spec → generate → template → fill → verify.</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40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1/2: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Have your agent set the project up and prove it works. You only read what it reports.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Tell me what you ran and what you saw: counts, not "it</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works".</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reports counts: ledger rows 1, 40 unit, 26 e2e</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proves a check can fail (a planted error)</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switches to corepack pnpm if pnpm is missing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2/2: an orders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We need an orders resource. Its contract is section 01 of</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test/labs/README.md. Build it the way this repo builds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resources. Done when pnpm lab 01 and pnpm verify are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green. Report the counts, and anything the contract leaves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undecided.</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specs/orders.md before any code</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repo's steps: generate, template, fill</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O1 in the schema, O2 in the service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open questions recorded, no invented rules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pnpm check:ai-fill    # 0 markers left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verify           # read both Tests lines</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ask the agent: "delete rule O2, run</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pnpm exec vitest run src/orders, put it back"</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lab 01   # the lab check: all green?</a:t>
            </a:r>
            <a:endParaRPr lang="en-US" sz="1200" dirty="0"/>
          </a:p>
        </p:txBody>
      </p:sp>
      <p:sp>
        <p:nvSpPr>
          <p:cNvPr id="9" name="postman"/>
          <p:cNvSpPr/>
          <p:nvPr/>
        </p:nvSpPr>
        <p:spPr>
          <a:xfrm>
            <a:off x="5852160" y="1097280"/>
            <a:ext cx="2834640" cy="3520440"/>
          </a:xfrm>
          <a:prstGeom prst="roundRect">
            <a:avLst>
              <a:gd name="adj" fmla="val 2581"/>
            </a:avLst>
          </a:prstGeom>
          <a:solidFill>
            <a:srgbClr val="EF5B25"/>
          </a:solidFill>
          <a:ln w="12700">
            <a:solidFill>
              <a:srgbClr val="EF5B25"/>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Postman</a:t>
            </a:r>
            <a:endParaRPr lang="en-US" sz="1600" dirty="0"/>
          </a:p>
        </p:txBody>
      </p:sp>
      <p:sp>
        <p:nvSpPr>
          <p:cNvPr id="12" name="postman-request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00 · Setup (module 1)</a:t>
            </a:r>
            <a:endParaRPr lang="en-US" sz="1300" dirty="0"/>
          </a:p>
          <a:p>
            <a:pPr indent="0" marL="0">
              <a:buNone/>
            </a:pPr>
            <a:r>
              <a:rPr lang="en-US" sz="1300" dirty="0">
                <a:solidFill>
                  <a:srgbClr val="FFFFFF"/>
                </a:solidFill>
              </a:rPr>
              <a:t>1. Health</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the loop, closed</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setup: pnpm db:migrate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db:migrate: ledger rows: 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setup: pnpm verify</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40 passed (40)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26 passed (26)</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the template step</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files written: 11;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AI-FILL markers to complete: 14</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after the agent: pnpm verify</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47 passed (47)</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42 passed (42)</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check:ai-fill prints 0 markers</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O2 turns a test red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says "done" without counts</a:t>
            </a:r>
            <a:endParaRPr lang="en-US" sz="1600" dirty="0"/>
          </a:p>
          <a:p>
            <a:pPr indent="0" marL="0">
              <a:buNone/>
            </a:pPr>
            <a:r>
              <a:rPr lang="en-US" sz="1400" dirty="0">
                <a:solidFill>
                  <a:srgbClr val="2B3440"/>
                </a:solidFill>
              </a:rPr>
              <a:t>Ask for the two </a:t>
            </a:r>
            <a:pPr indent="0" marL="0">
              <a:buNone/>
            </a:pPr>
            <a:r>
              <a:rPr lang="en-US" sz="1400" dirty="0">
                <a:solidFill>
                  <a:srgbClr val="2B3440"/>
                </a:solidFill>
                <a:latin typeface="Courier New" pitchFamily="34" charset="0"/>
                <a:ea typeface="Courier New" pitchFamily="34" charset="-122"/>
                <a:cs typeface="Courier New" pitchFamily="34" charset="-120"/>
              </a:rPr>
              <a:t>Tests</a:t>
            </a:r>
            <a:pPr indent="0" marL="0">
              <a:buNone/>
            </a:pPr>
            <a:r>
              <a:rPr lang="en-US" sz="1400" dirty="0">
                <a:solidFill>
                  <a:srgbClr val="2B3440"/>
                </a:solidFill>
              </a:rPr>
              <a:t> lines and the </a:t>
            </a:r>
            <a:pPr indent="0" marL="0">
              <a:buNone/>
            </a:pPr>
            <a:r>
              <a:rPr lang="en-US" sz="1400" dirty="0">
                <a:solidFill>
                  <a:srgbClr val="2B3440"/>
                </a:solidFill>
                <a:latin typeface="Courier New" pitchFamily="34" charset="0"/>
                <a:ea typeface="Courier New" pitchFamily="34" charset="-122"/>
                <a:cs typeface="Courier New" pitchFamily="34" charset="-120"/>
              </a:rPr>
              <a:t>Test Files</a:t>
            </a:r>
            <a:pPr indent="0" marL="0">
              <a:buNone/>
            </a:pPr>
            <a:r>
              <a:rPr lang="en-US" sz="1400" dirty="0">
                <a:solidFill>
                  <a:srgbClr val="2B3440"/>
                </a:solidFill>
              </a:rPr>
              <a:t> lines. A claim is not a count.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edited code outside the markers</a:t>
            </a:r>
            <a:endParaRPr lang="en-US" sz="1600" dirty="0"/>
          </a:p>
          <a:p>
            <a:pPr indent="0" marL="0">
              <a:buNone/>
            </a:pPr>
            <a:r>
              <a:rPr lang="en-US" sz="1400" dirty="0">
                <a:solidFill>
                  <a:srgbClr val="2B3440"/>
                </a:solidFill>
              </a:rPr>
              <a:t>Ask it to undo that and put the change in the template, or in a marker. Generated code stays generated.</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`it.each` fails typecheck (TS2322)</a:t>
            </a:r>
            <a:endParaRPr lang="en-US" sz="1600" dirty="0"/>
          </a:p>
          <a:p>
            <a:pPr indent="0" marL="0">
              <a:buNone/>
            </a:pPr>
            <a:r>
              <a:rPr lang="en-US" sz="1400" dirty="0">
                <a:solidFill>
                  <a:srgbClr val="2B3440"/>
                </a:solidFill>
              </a:rPr>
              <a:t>Known trap (in the skill): with supertest, write </a:t>
            </a:r>
            <a:pPr indent="0" marL="0">
              <a:buNone/>
            </a:pPr>
            <a:r>
              <a:rPr lang="en-US" sz="1400" dirty="0">
                <a:solidFill>
                  <a:srgbClr val="2B3440"/>
                </a:solidFill>
                <a:latin typeface="Courier New" pitchFamily="34" charset="0"/>
                <a:ea typeface="Courier New" pitchFamily="34" charset="-122"/>
                <a:cs typeface="Courier New" pitchFamily="34" charset="-120"/>
              </a:rPr>
              <a:t>async (x) =&gt; { await … }</a:t>
            </a:r>
            <a:pPr indent="0" marL="0">
              <a:buNone/>
            </a:pPr>
            <a:r>
              <a:rPr lang="en-US" sz="1400" dirty="0">
                <a:solidFill>
                  <a:srgbClr val="2B3440"/>
                </a:solidFill>
              </a:rPr>
              <a: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Data: drizzle and zod</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adds a </a:t>
            </a:r>
            <a:pPr indent="0" marL="0">
              <a:buNone/>
            </a:pPr>
            <a:r>
              <a:rPr lang="en-US" sz="1800" dirty="0">
                <a:solidFill>
                  <a:srgbClr val="CBD5E1"/>
                </a:solidFill>
                <a:latin typeface="Courier New" pitchFamily="34" charset="0"/>
                <a:ea typeface="Courier New" pitchFamily="34" charset="-122"/>
                <a:cs typeface="Courier New" pitchFamily="34" charset="-120"/>
              </a:rPr>
              <a:t>phone</a:t>
            </a:r>
            <a:pPr indent="0" marL="0">
              <a:buNone/>
            </a:pPr>
            <a:r>
              <a:rPr lang="en-US" sz="1800" dirty="0">
                <a:solidFill>
                  <a:srgbClr val="CBD5E1"/>
                </a:solidFill>
              </a:rPr>
              <a:t> column, generates the migration and tells you whether it is safe.</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25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 phone column</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schema change: the agent must read the migration it generates and tell you if it is safe.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Users need an optional phone number; the contract is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section 02 of test/labs/README.md. Done when pnpm lab 02</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and pnpm verify are green. Before you finish, show me the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database change and tell me whether it is safe on a</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database that already has users.</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the spec, then the schema, then the table</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generated SQL before calling it safe</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tests the migration on a table with rows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ledger rows: 2</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git diff drizzle/        # one new migration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db:migrate          # ledger rows: 2</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verify</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restart the app (Ctrl+C), then: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build &amp;&amp; pnpm start</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lab 02   # the lab check: all green?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drift caught, ledger grows</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before db:generate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check-migrations: DRIFT - tables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  changed without a migration.</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the generated SQL</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ALTER TABLE `users` ADD `phone` text;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pnpm db:migrate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db:migrate: ledger rows: 2</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 saw the drift failure first</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agent explained why the SQL is safe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TS2345 "phone" is missing</a:t>
            </a:r>
            <a:endParaRPr lang="en-US" sz="1600" dirty="0"/>
          </a:p>
          <a:p>
            <a:pPr indent="0" marL="0">
              <a:buNone/>
            </a:pPr>
            <a:r>
              <a:rPr lang="en-US" sz="1400" dirty="0">
                <a:solidFill>
                  <a:srgbClr val="2B3440"/>
                </a:solidFill>
              </a:rPr>
              <a:t>Older specs build a user by hand: they need </a:t>
            </a:r>
            <a:pPr indent="0" marL="0">
              <a:buNone/>
            </a:pPr>
            <a:r>
              <a:rPr lang="en-US" sz="1400" dirty="0">
                <a:solidFill>
                  <a:srgbClr val="2B3440"/>
                </a:solidFill>
                <a:latin typeface="Courier New" pitchFamily="34" charset="0"/>
                <a:ea typeface="Courier New" pitchFamily="34" charset="-122"/>
                <a:cs typeface="Courier New" pitchFamily="34" charset="-120"/>
              </a:rPr>
              <a:t>phone: null</a:t>
            </a:r>
            <a:pPr indent="0" marL="0">
              <a:buNone/>
            </a:pPr>
            <a:r>
              <a:rPr lang="en-US" sz="1400" dirty="0">
                <a:solidFill>
                  <a:srgbClr val="2B3440"/>
                </a:solidFill>
              </a:rPr>
              <a:t> (the skill names this trap).</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All tests pass, the check fails</a:t>
            </a:r>
            <a:endParaRPr lang="en-US" sz="1600" dirty="0"/>
          </a:p>
          <a:p>
            <a:pPr indent="0" marL="0">
              <a:buNone/>
            </a:pPr>
            <a:r>
              <a:rPr lang="en-US" sz="1400" dirty="0">
                <a:solidFill>
                  <a:srgbClr val="2B3440"/>
                </a:solidFill>
              </a:rPr>
              <a:t>Correct: tests run on the MIGRATION SQL. The agent must run </a:t>
            </a:r>
            <a:pPr indent="0" marL="0">
              <a:buNone/>
            </a:pPr>
            <a:r>
              <a:rPr lang="en-US" sz="1400" dirty="0">
                <a:solidFill>
                  <a:srgbClr val="2B3440"/>
                </a:solidFill>
                <a:latin typeface="Courier New" pitchFamily="34" charset="0"/>
                <a:ea typeface="Courier New" pitchFamily="34" charset="-122"/>
                <a:cs typeface="Courier New" pitchFamily="34" charset="-120"/>
              </a:rPr>
              <a:t>pnpm db:generate</a:t>
            </a:r>
            <a:pPr indent="0" marL="0">
              <a:buNone/>
            </a:pPr>
            <a:r>
              <a:rPr lang="en-US" sz="1400" dirty="0">
                <a:solidFill>
                  <a:srgbClr val="2B3440"/>
                </a:solidFill>
              </a:rPr>
              <a:t>.</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hand-wrote the SQL file</a:t>
            </a:r>
            <a:endParaRPr lang="en-US" sz="1600" dirty="0"/>
          </a:p>
          <a:p>
            <a:pPr indent="0" marL="0">
              <a:buNone/>
            </a:pPr>
            <a:r>
              <a:rPr lang="en-US" sz="1400" dirty="0">
                <a:solidFill>
                  <a:srgbClr val="2B3440"/>
                </a:solidFill>
              </a:rPr>
              <a:t>Ask it to delete that and generate: the snapshot in drizzle/meta must match.</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3</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Identity: auth and devices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adds Basic auth with Passport, moves it to JWT, then adds devices provisioned with a key and a secret.</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45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Basic auth with Passport</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First the simple handler: HTTP Basic, with Passport doing the protocol. No hand-written header parsing.</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Callers must authenticate now. specs/auth.md is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design: do its step 1 only, keep pnpm verify green, and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show me how to see it working.</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passport-http: no hand-written parser</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a global guard; health and sign-up public</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e2e suite now signs in</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shows you curl: 200 with, 401 without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move to JWT</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Now the better handler: the password crosses the wire once, at login; every other request carries a token that expires.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Now step 2 of specs/auth.md. Done when pnpm lab 03 and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pnpm verify are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JWT_SECRET the env-config way, never hard-coded</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a jwt strategy that re-checks the user</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Basic only on login</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one 401 body, now with a Bearer challenge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devices</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device is a non-human client. One call provisions it and returns its key and secret, shown once.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Add devices: specs/devices.md, and section 04 of</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test/labs/README.md. Done when pnpm lab 03 04 and pnpm</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verify are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the scaffold skill, then reshaped for provision</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migration (ON DELETE restrict)</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secret stored as a hash, shown once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another user's device is 404, not 403</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3</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3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send Postman folder 03, then 04</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verify</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restart the app (Ctrl+C), then:</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build &amp;&amp; pnpm db:migrate &amp;&amp; pnpm start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lab 03 04   # the lab check: all green?</a:t>
            </a:r>
            <a:endParaRPr lang="en-US" sz="1200" dirty="0"/>
          </a:p>
        </p:txBody>
      </p:sp>
      <p:sp>
        <p:nvSpPr>
          <p:cNvPr id="9" name="postman"/>
          <p:cNvSpPr/>
          <p:nvPr/>
        </p:nvSpPr>
        <p:spPr>
          <a:xfrm>
            <a:off x="5852160" y="1097280"/>
            <a:ext cx="2834640" cy="3520440"/>
          </a:xfrm>
          <a:prstGeom prst="roundRect">
            <a:avLst>
              <a:gd name="adj" fmla="val 2581"/>
            </a:avLst>
          </a:prstGeom>
          <a:solidFill>
            <a:srgbClr val="EF5B25"/>
          </a:solidFill>
          <a:ln w="12700">
            <a:solidFill>
              <a:srgbClr val="EF5B25"/>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Postman</a:t>
            </a:r>
            <a:endParaRPr lang="en-US" sz="1600" dirty="0"/>
          </a:p>
        </p:txBody>
      </p:sp>
      <p:sp>
        <p:nvSpPr>
          <p:cNvPr id="12" name="postman-request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03 · Auth (module 3)</a:t>
            </a:r>
            <a:endParaRPr lang="en-US" sz="1300" dirty="0"/>
          </a:p>
          <a:p>
            <a:pPr indent="0" marL="0">
              <a:buNone/>
            </a:pPr>
            <a:r>
              <a:rPr lang="en-US" sz="1300" dirty="0">
                <a:solidFill>
                  <a:srgbClr val="FFFFFF"/>
                </a:solidFill>
              </a:rPr>
              <a:t>1. Sign up (public)</a:t>
            </a:r>
            <a:endParaRPr lang="en-US" sz="1300" dirty="0"/>
          </a:p>
          <a:p>
            <a:pPr indent="0" marL="0">
              <a:buNone/>
            </a:pPr>
            <a:r>
              <a:rPr lang="en-US" sz="1300" dirty="0">
                <a:solidFill>
                  <a:srgbClr val="FFFFFF"/>
                </a:solidFill>
              </a:rPr>
              <a:t>2. Log in: wrong password → 401</a:t>
            </a:r>
            <a:endParaRPr lang="en-US" sz="1300" dirty="0"/>
          </a:p>
          <a:p>
            <a:pPr indent="0" marL="0">
              <a:buNone/>
            </a:pPr>
            <a:r>
              <a:rPr lang="en-US" sz="1300" dirty="0">
                <a:solidFill>
                  <a:srgbClr val="FFFFFF"/>
                </a:solidFill>
              </a:rPr>
              <a:t>3. Log in: unknown email → the same 401</a:t>
            </a:r>
            <a:endParaRPr lang="en-US" sz="1300" dirty="0"/>
          </a:p>
          <a:p>
            <a:pPr indent="0" marL="0">
              <a:buNone/>
            </a:pPr>
            <a:r>
              <a:rPr lang="en-US" sz="1300" dirty="0">
                <a:solidFill>
                  <a:srgbClr val="FFFFFF"/>
                </a:solidFill>
              </a:rPr>
              <a:t>4. Log in (Basic) → token</a:t>
            </a:r>
            <a:endParaRPr lang="en-US" sz="1300" dirty="0"/>
          </a:p>
          <a:p>
            <a:pPr indent="0" marL="0">
              <a:buNone/>
            </a:pPr>
            <a:r>
              <a:rPr lang="en-US" sz="1300" dirty="0">
                <a:solidFill>
                  <a:srgbClr val="FFFFFF"/>
                </a:solidFill>
              </a:rPr>
              <a:t>5. Me (Bearer token)</a:t>
            </a:r>
            <a:endParaRPr lang="en-US" sz="1300" dirty="0"/>
          </a:p>
          <a:p>
            <a:pPr indent="0" marL="0">
              <a:spcBef>
                <a:spcPts val="600"/>
              </a:spcBef>
              <a:buNone/>
            </a:pPr>
            <a:r>
              <a:rPr lang="en-US" sz="1300" b="1" dirty="0">
                <a:solidFill>
                  <a:srgbClr val="FFFFFF"/>
                </a:solidFill>
              </a:rPr>
              <a:t>04 · Devices (module 3)</a:t>
            </a:r>
            <a:endParaRPr lang="en-US" sz="1300" dirty="0"/>
          </a:p>
          <a:p>
            <a:pPr indent="0" marL="0">
              <a:buNone/>
            </a:pPr>
            <a:r>
              <a:rPr lang="en-US" sz="1300" dirty="0">
                <a:solidFill>
                  <a:srgbClr val="FFFFFF"/>
                </a:solidFill>
              </a:rPr>
              <a:t>1. Provision device (key + secret shown once)</a:t>
            </a:r>
            <a:endParaRPr lang="en-US" sz="1300" dirty="0"/>
          </a:p>
          <a:p>
            <a:pPr indent="0" marL="0">
              <a:buNone/>
            </a:pPr>
            <a:r>
              <a:rPr lang="en-US" sz="1300" dirty="0">
                <a:solidFill>
                  <a:srgbClr val="FFFFFF"/>
                </a:solidFill>
              </a:rPr>
              <a:t>2. Get device (no secret, no hash)</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a token, one 401, one secret</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from the code, then expected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Log in: unknown email</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HTTP/1.1 401 Unauthorized</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WWW-Authenticate: Basic</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  realm="nest-ai-starter", charset="UTF-8"</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Log in (Basic) → token</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"tokenType":"Bearer","expiresIn":3600</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Provision device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"deviceKey":"DK…","secret":"dsk_…"</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pnpm db:migrate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db:migrate: ledger rows: 3</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03 04</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only provision and rotate ever show a secret</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another user's device → 404, not 403</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3</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hand-writes a Basic parser</a:t>
            </a:r>
            <a:endParaRPr lang="en-US" sz="1600" dirty="0"/>
          </a:p>
          <a:p>
            <a:pPr indent="0" marL="0">
              <a:buNone/>
            </a:pPr>
            <a:r>
              <a:rPr lang="en-US" sz="1400" dirty="0">
                <a:solidFill>
                  <a:srgbClr val="2B3440"/>
                </a:solidFill>
              </a:rPr>
              <a:t>Point it at the spec: passport-http does the parsing. The colon limit is recorded, not worked around.</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Skipped tests, exit 1</a:t>
            </a:r>
            <a:endParaRPr lang="en-US" sz="1600" dirty="0"/>
          </a:p>
          <a:p>
            <a:pPr indent="0" marL="0">
              <a:buNone/>
            </a:pPr>
            <a:r>
              <a:rPr lang="en-US" sz="1400" dirty="0">
                <a:solidFill>
                  <a:srgbClr val="2B3440"/>
                </a:solidFill>
              </a:rPr>
              <a:t>A beforeAll threw (sign-up or login lost @Public()). The failure is on the Test Files line.</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malformed Basic header gives 400</a:t>
            </a:r>
            <a:endParaRPr lang="en-US" sz="1600" dirty="0"/>
          </a:p>
          <a:p>
            <a:pPr indent="0" marL="0">
              <a:buNone/>
            </a:pPr>
            <a:r>
              <a:rPr lang="en-US" sz="1400" dirty="0">
                <a:solidFill>
                  <a:srgbClr val="2B3440"/>
                </a:solidFill>
              </a:rPr>
              <a:t>passport-http alone does that. The guard's handleRequest must turn every failure into the one 401.</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4</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Your first MCP server</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turns the notes service into MCP tools over stdio, then adds a </a:t>
            </a:r>
            <a:pPr indent="0" marL="0">
              <a:buNone/>
            </a:pPr>
            <a:r>
              <a:rPr lang="en-US" sz="1800" dirty="0">
                <a:solidFill>
                  <a:srgbClr val="CBD5E1"/>
                </a:solidFill>
                <a:latin typeface="Courier New" pitchFamily="34" charset="0"/>
                <a:ea typeface="Courier New" pitchFamily="34" charset="-122"/>
                <a:cs typeface="Courier New" pitchFamily="34" charset="-120"/>
              </a:rPr>
              <a:t>publish-note</a:t>
            </a:r>
            <a:pPr indent="0" marL="0">
              <a:buNone/>
            </a:pPr>
            <a:r>
              <a:rPr lang="en-US" sz="1800" dirty="0">
                <a:solidFill>
                  <a:srgbClr val="CBD5E1"/>
                </a:solidFill>
              </a:rPr>
              <a:t> tool.</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30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over stdio</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same services, now as tools an AI client can call. Stdout belongs to the protocol.</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Make the notes service usable by AI clients over MCP,</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stdio first: module 4 of specs/mcp.md, plus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publish-note tool in section 06 of test/labs/README.md.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Done when pnpm lab 06 and pnpm verify are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library,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tools call NotesService: no rules of their own</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an e2e test that reads RAW stdout</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publish-note reuses the published-needs-a-body rule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4</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4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pnpm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mcp:inspect:cli --method tools/list</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mcp:inspect:cli --method tools/call \</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  --tool-name get-note \</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  --tool-arg id=00000000-0000-4000-8000-000000000000</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echo "exit: $?"</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lab 06   # the lab check: all green?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errors the model can read</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"content": [ { "type": "text",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  "text": "NOT_FOUND: Note … not found" } ],</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  "isError": true }</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exit: 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06</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tools/list shows create-note, get-note, list-notes, publish-note</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a rule violation is a tool error, not a crash</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4</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console.log "for debugging"</a:t>
            </a:r>
            <a:endParaRPr lang="en-US" sz="1600" dirty="0"/>
          </a:p>
          <a:p>
            <a:pPr indent="0" marL="0">
              <a:buNone/>
            </a:pPr>
            <a:r>
              <a:rPr lang="en-US" sz="1400" dirty="0">
                <a:solidFill>
                  <a:srgbClr val="2B3440"/>
                </a:solidFill>
              </a:rPr>
              <a:t>It goes into the protocol stream. The SDK client ignores it, so only the RAW stdout test catches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copied the zod schema into the tool</a:t>
            </a:r>
            <a:endParaRPr lang="en-US" sz="1600" dirty="0"/>
          </a:p>
          <a:p>
            <a:pPr indent="0" marL="0">
              <a:buNone/>
            </a:pPr>
            <a:r>
              <a:rPr lang="en-US" sz="1400" dirty="0">
                <a:solidFill>
                  <a:srgbClr val="2B3440"/>
                </a:solidFill>
              </a:rPr>
              <a:t>Two copies drift. Ask it to import the REST schema.</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Tool errors come back as exceptions</a:t>
            </a:r>
            <a:endParaRPr lang="en-US" sz="1600" dirty="0"/>
          </a:p>
          <a:p>
            <a:pPr indent="0" marL="0">
              <a:buNone/>
            </a:pPr>
            <a:r>
              <a:rPr lang="en-US" sz="1400" dirty="0">
                <a:solidFill>
                  <a:srgbClr val="2B3440"/>
                </a:solidFill>
              </a:rPr>
              <a:t>Wrap tool bodies in the tool-result helper: a DomainError must be </a:t>
            </a:r>
            <a:pPr indent="0" marL="0">
              <a:buNone/>
            </a:pPr>
            <a:r>
              <a:rPr lang="en-US" sz="1400" dirty="0">
                <a:solidFill>
                  <a:srgbClr val="2B3440"/>
                </a:solidFill>
                <a:latin typeface="Courier New" pitchFamily="34" charset="0"/>
                <a:ea typeface="Courier New" pitchFamily="34" charset="-122"/>
                <a:cs typeface="Courier New" pitchFamily="34" charset="-120"/>
              </a:rPr>
              <a:t>isError: true</a:t>
            </a:r>
            <a:pPr indent="0" marL="0">
              <a:buNone/>
            </a:pPr>
            <a:r>
              <a:rPr lang="en-US" sz="1400" dirty="0">
                <a:solidFill>
                  <a:srgbClr val="2B3440"/>
                </a:solidFill>
              </a:rPr>
              <a: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5</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Inspector and transports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serves the same tools over HTTP at /mcp; you drive them with the Inspector.</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25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MCP over Streamable HTTP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Same tools, over HTTP, inside the app. No auth yet: name that state in a test, module 6 closes it.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Serve the same MCP tools over HTTP inside the app: module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5 of specs/mcp.md. Done when pnpm lab 08 and pnpm verify</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how the transport mounts on the app</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MCP_ALLOWED_HOSTS the env-config way</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the tools module imported by the app</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a test that says /mcp is still open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Run this: the Inspector UI</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5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pnpm mcp:inspect:ui      # leave it running</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open the localhost:6274 URL it prints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in a second terminal:</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eval "$(node scripts/demo-device.mjs)"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the values for the two headers:</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echo "$DEVICE_KEY"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echo "$DEVICE_SECRET"</a:t>
            </a:r>
            <a:endParaRPr lang="en-US" sz="1400" dirty="0"/>
          </a:p>
        </p:txBody>
      </p:sp>
      <p:sp>
        <p:nvSpPr>
          <p:cNvPr id="9" name="inspector-ui"/>
          <p:cNvSpPr/>
          <p:nvPr/>
        </p:nvSpPr>
        <p:spPr>
          <a:xfrm>
            <a:off x="5852160" y="1097280"/>
            <a:ext cx="2834640" cy="3520440"/>
          </a:xfrm>
          <a:prstGeom prst="roundRect">
            <a:avLst>
              <a:gd name="adj" fmla="val 2581"/>
            </a:avLst>
          </a:prstGeom>
          <a:solidFill>
            <a:srgbClr val="6D4AE8"/>
          </a:solidFill>
          <a:ln w="12700">
            <a:solidFill>
              <a:srgbClr val="6D4AE8"/>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Inspector UI</a:t>
            </a:r>
            <a:endParaRPr lang="en-US" sz="1600" dirty="0"/>
          </a:p>
        </p:txBody>
      </p:sp>
      <p:sp>
        <p:nvSpPr>
          <p:cNvPr id="12" name="postman-request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dirty="0">
                <a:solidFill>
                  <a:srgbClr val="FFFFFF"/>
                </a:solidFill>
              </a:rPr>
              <a:t>1. Add Servers → + Add manually</a:t>
            </a:r>
            <a:endParaRPr lang="en-US" sz="1300" dirty="0"/>
          </a:p>
          <a:p>
            <a:pPr indent="0" marL="0">
              <a:buNone/>
            </a:pPr>
            <a:r>
              <a:rPr lang="en-US" sz="1300" dirty="0">
                <a:solidFill>
                  <a:srgbClr val="FFFFFF"/>
                </a:solidFill>
              </a:rPr>
              <a:t>2. streamable-http · http://localhost:3000/mcp → Add</a:t>
            </a:r>
            <a:endParaRPr lang="en-US" sz="1300" dirty="0"/>
          </a:p>
          <a:p>
            <a:pPr indent="0" marL="0">
              <a:buNone/>
            </a:pPr>
            <a:r>
              <a:rPr lang="en-US" sz="1300" dirty="0">
                <a:solidFill>
                  <a:srgbClr val="FFFFFF"/>
                </a:solidFill>
              </a:rPr>
              <a:t>3. Settings → Custom Headers → + Add Header, twice</a:t>
            </a:r>
            <a:endParaRPr lang="en-US" sz="1300" dirty="0"/>
          </a:p>
          <a:p>
            <a:pPr indent="0" marL="0">
              <a:buNone/>
            </a:pPr>
            <a:r>
              <a:rPr lang="en-US" sz="1300" dirty="0">
                <a:solidFill>
                  <a:srgbClr val="FFFFFF"/>
                </a:solidFill>
              </a:rPr>
              <a:t>4. X-Device-Key and X-Device-Secret, then close</a:t>
            </a:r>
            <a:endParaRPr lang="en-US" sz="1300" dirty="0"/>
          </a:p>
          <a:p>
            <a:pPr indent="0" marL="0">
              <a:buNone/>
            </a:pPr>
            <a:r>
              <a:rPr lang="en-US" sz="1300" dirty="0">
                <a:solidFill>
                  <a:srgbClr val="FFFFFF"/>
                </a:solidFill>
              </a:rPr>
              <a:t>5. Switch the card on: Connected</a:t>
            </a:r>
            <a:endParaRPr lang="en-US" sz="1300" dirty="0"/>
          </a:p>
          <a:p>
            <a:pPr indent="0" marL="0">
              <a:buNone/>
            </a:pPr>
            <a:r>
              <a:rPr lang="en-US" sz="1300" dirty="0">
                <a:solidFill>
                  <a:srgbClr val="FFFFFF"/>
                </a:solidFill>
              </a:rPr>
              <a:t>6. Tools → whoami → Execute Tool</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5</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5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400" dirty="0">
                <a:solidFill>
                  <a:srgbClr val="8B98A5"/>
                </a:solidFill>
                <a:latin typeface="Courier New" pitchFamily="34" charset="0"/>
                <a:ea typeface="Courier New" pitchFamily="34" charset="-122"/>
                <a:cs typeface="Courier New" pitchFamily="34" charset="-120"/>
              </a:rPr>
              <a:t># Postman 05 › initialize: an SSE stream</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Postman 08 › Foreign Host → 403</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lab 08   # the lab check: all green?</a:t>
            </a:r>
            <a:endParaRPr lang="en-US" sz="1400" dirty="0"/>
          </a:p>
        </p:txBody>
      </p:sp>
      <p:sp>
        <p:nvSpPr>
          <p:cNvPr id="9" name="postman"/>
          <p:cNvSpPr/>
          <p:nvPr/>
        </p:nvSpPr>
        <p:spPr>
          <a:xfrm>
            <a:off x="5852160" y="1097280"/>
            <a:ext cx="2834640" cy="3520440"/>
          </a:xfrm>
          <a:prstGeom prst="roundRect">
            <a:avLst>
              <a:gd name="adj" fmla="val 2581"/>
            </a:avLst>
          </a:prstGeom>
          <a:solidFill>
            <a:srgbClr val="EF5B25"/>
          </a:solidFill>
          <a:ln w="12700">
            <a:solidFill>
              <a:srgbClr val="EF5B25"/>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Postman</a:t>
            </a:r>
            <a:endParaRPr lang="en-US" sz="1600" dirty="0"/>
          </a:p>
        </p:txBody>
      </p:sp>
      <p:sp>
        <p:nvSpPr>
          <p:cNvPr id="12" name="postman-request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05 · MCP over HTTP (module 5)</a:t>
            </a:r>
            <a:endParaRPr lang="en-US" sz="1300" dirty="0"/>
          </a:p>
          <a:p>
            <a:pPr indent="0" marL="0">
              <a:buNone/>
            </a:pPr>
            <a:r>
              <a:rPr lang="en-US" sz="1300" dirty="0">
                <a:solidFill>
                  <a:srgbClr val="FFFFFF"/>
                </a:solidFill>
              </a:rPr>
              <a:t>1. initialize</a:t>
            </a:r>
            <a:endParaRPr lang="en-US" sz="1300" dirty="0"/>
          </a:p>
          <a:p>
            <a:pPr indent="0" marL="0">
              <a:spcBef>
                <a:spcPts val="600"/>
              </a:spcBef>
              <a:buNone/>
            </a:pPr>
            <a:r>
              <a:rPr lang="en-US" sz="1300" b="1" dirty="0">
                <a:solidFill>
                  <a:srgbClr val="FFFFFF"/>
                </a:solidFill>
              </a:rPr>
              <a:t>08 · Host check (module 5)</a:t>
            </a:r>
            <a:endParaRPr lang="en-US" sz="1300" dirty="0"/>
          </a:p>
          <a:p>
            <a:pPr indent="0" marL="0">
              <a:buNone/>
            </a:pPr>
            <a:r>
              <a:rPr lang="en-US" sz="1300" dirty="0">
                <a:solidFill>
                  <a:srgbClr val="FFFFFF"/>
                </a:solidFill>
              </a:rPr>
              <a:t>1. Foreign Host → 403</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one message, SSE framing</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content-type: text/event-stream</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event: message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data: {"result":{"protocolVersion":…},</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 "jsonrpc":"2.0","id":1}</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08</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tools listed over HTTP, the same as stdio</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a foreign Host is refused (403)</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5</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tools/list over HTTP is empty</a:t>
            </a:r>
            <a:endParaRPr lang="en-US" sz="1600" dirty="0"/>
          </a:p>
          <a:p>
            <a:pPr indent="0" marL="0">
              <a:buNone/>
            </a:pPr>
            <a:r>
              <a:rPr lang="en-US" sz="1400" dirty="0">
                <a:solidFill>
                  <a:srgbClr val="2B3440"/>
                </a:solidFill>
              </a:rPr>
              <a:t>McpToolsModule is not in AppModule (measured while building this course). Lab 08 checks for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Called by hostname: 403</a:t>
            </a:r>
            <a:endParaRPr lang="en-US" sz="1600" dirty="0"/>
          </a:p>
          <a:p>
            <a:pPr indent="0" marL="0">
              <a:buNone/>
            </a:pPr>
            <a:r>
              <a:rPr lang="en-US" sz="1400" dirty="0">
                <a:solidFill>
                  <a:srgbClr val="2B3440"/>
                </a:solidFill>
              </a:rPr>
              <a:t>That name is not in MCP_ALLOWED_HOSTS: localhost,&lt;hostname&gt;.</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My fetch Host test passes 200</a:t>
            </a:r>
            <a:endParaRPr lang="en-US" sz="1600" dirty="0"/>
          </a:p>
          <a:p>
            <a:pPr indent="0" marL="0">
              <a:buNone/>
            </a:pPr>
            <a:r>
              <a:rPr lang="en-US" sz="1400" dirty="0">
                <a:solidFill>
                  <a:srgbClr val="2B3440"/>
                </a:solidFill>
              </a:rPr>
              <a:t>fetch silently replaces Host (measured). node:http, curl and Postman send it as written.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6</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Secure MCP, then the capstone</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locks /mcp to devices; you rotate a secret mid-session and watch the next call fail.</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20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lock /mcp to devices</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transport authenticates, not the tools: a failure is an HTTP 401 before any JSON-RPC is read.</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Only devices may use /mcp: module 6 of specs/mcp.md.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pnpm lab 09 and pnpm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middleware BEFORE the transport mounts</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one 401 body for every failure</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whoami: device and owner, public fields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proves the order matters by breaking it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rotate mid-session</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6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eval "$(node scripts/demo-device.mjs)"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npx -y @modelcontextprotocol/inspector@2.12.0 \</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  --cli http://localhost:3000/mcp \</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  --method tools/call --tool-name whoami \</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  --header "X-Device-Key: $DEVICE_KEY" \</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  --header "X-Device-Secret: $DEVICE_SECRET"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lab 09   # the lab check: all green?</a:t>
            </a:r>
            <a:endParaRPr lang="en-US" sz="1200" dirty="0"/>
          </a:p>
        </p:txBody>
      </p:sp>
      <p:sp>
        <p:nvSpPr>
          <p:cNvPr id="9" name="postman"/>
          <p:cNvSpPr/>
          <p:nvPr/>
        </p:nvSpPr>
        <p:spPr>
          <a:xfrm>
            <a:off x="5852160" y="1097280"/>
            <a:ext cx="2834640" cy="3520440"/>
          </a:xfrm>
          <a:prstGeom prst="roundRect">
            <a:avLst>
              <a:gd name="adj" fmla="val 2581"/>
            </a:avLst>
          </a:prstGeom>
          <a:solidFill>
            <a:srgbClr val="EF5B25"/>
          </a:solidFill>
          <a:ln w="12700">
            <a:solidFill>
              <a:srgbClr val="EF5B25"/>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Postman</a:t>
            </a:r>
            <a:endParaRPr lang="en-US" sz="1600" dirty="0"/>
          </a:p>
        </p:txBody>
      </p:sp>
      <p:sp>
        <p:nvSpPr>
          <p:cNvPr id="12" name="postman-request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09 · Rotate mid-session (module 6)</a:t>
            </a:r>
            <a:endParaRPr lang="en-US" sz="1300" dirty="0"/>
          </a:p>
          <a:p>
            <a:pPr indent="0" marL="0">
              <a:buNone/>
            </a:pPr>
            <a:r>
              <a:rPr lang="en-US" sz="1300" dirty="0">
                <a:solidFill>
                  <a:srgbClr val="FFFFFF"/>
                </a:solidFill>
              </a:rPr>
              <a:t>1. Rotate secret</a:t>
            </a:r>
            <a:endParaRPr lang="en-US" sz="1300" dirty="0"/>
          </a:p>
          <a:p>
            <a:pPr indent="0" marL="0">
              <a:buNone/>
            </a:pPr>
            <a:r>
              <a:rPr lang="en-US" sz="1300" dirty="0">
                <a:solidFill>
                  <a:srgbClr val="FFFFFF"/>
                </a:solidFill>
              </a:rPr>
              <a:t>2. whoami with the OLD secret → 401</a:t>
            </a:r>
            <a:endParaRPr lang="en-US" sz="1300" dirty="0"/>
          </a:p>
          <a:p>
            <a:pPr indent="0" marL="0">
              <a:buNone/>
            </a:pPr>
            <a:r>
              <a:rPr lang="en-US" sz="1300" dirty="0">
                <a:solidFill>
                  <a:srgbClr val="FFFFFF"/>
                </a:solidFill>
              </a:rPr>
              <a:t>3. whoami with the NEW secret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rotation bites immediately</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Inspector whoami</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"device": { … "status": "active" … },</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"owner":  { … "email": "demo@example.com" }</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Postman 09 · Rotate mid-session</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Rotate secret                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whoami with the OLD secret   401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whoami with the NEW secret   200</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09</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old secret failed on the NEXT call</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a user token on /mcp → 401</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6</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Calls without headers still work</a:t>
            </a:r>
            <a:endParaRPr lang="en-US" sz="1600" dirty="0"/>
          </a:p>
          <a:p>
            <a:pPr indent="0" marL="0">
              <a:buNone/>
            </a:pPr>
            <a:r>
              <a:rPr lang="en-US" sz="1400" dirty="0">
                <a:solidFill>
                  <a:srgbClr val="2B3440"/>
                </a:solidFill>
              </a:rPr>
              <a:t>The middleware is registered after the transport mounts. Move it before (measured: 2 e2e tests fail otherwise).</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logs the headers to debug</a:t>
            </a:r>
            <a:endParaRPr lang="en-US" sz="1600" dirty="0"/>
          </a:p>
          <a:p>
            <a:pPr indent="0" marL="0">
              <a:buNone/>
            </a:pPr>
            <a:r>
              <a:rPr lang="en-US" sz="1400" dirty="0">
                <a:solidFill>
                  <a:srgbClr val="2B3440"/>
                </a:solidFill>
              </a:rPr>
              <a:t>Never: a device secret in a log is a leaked secret. Ask it to remove the line.</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The Inspector UI says Failed</a:t>
            </a:r>
            <a:endParaRPr lang="en-US" sz="1600" dirty="0"/>
          </a:p>
          <a:p>
            <a:pPr indent="0" marL="0">
              <a:buNone/>
            </a:pPr>
            <a:r>
              <a:rPr lang="en-US" sz="1400" dirty="0">
                <a:solidFill>
                  <a:srgbClr val="2B3440"/>
                </a:solidFill>
              </a:rPr>
              <a:t>Wrong or missing device headers. The 401 makes the Inspector try OAuth (404s in Network).</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Capstone (homework): evidence, not claims</a:t>
            </a:r>
            <a:endParaRPr lang="en-US" sz="3200" dirty="0"/>
          </a:p>
        </p:txBody>
      </p:sp>
      <p:sp>
        <p:nvSpPr>
          <p:cNvPr id="3" name="Shape 1"/>
          <p:cNvSpPr/>
          <p:nvPr/>
        </p:nvSpPr>
        <p:spPr>
          <a:xfrm>
            <a:off x="457200" y="1234440"/>
            <a:ext cx="384048" cy="384048"/>
          </a:xfrm>
          <a:prstGeom prst="ellipse">
            <a:avLst/>
          </a:prstGeom>
          <a:solidFill>
            <a:srgbClr val="1FB68A"/>
          </a:solidFill>
          <a:ln w="12700">
            <a:solidFill>
              <a:srgbClr val="1FB68A"/>
            </a:solidFill>
            <a:prstDash val="solid"/>
          </a:ln>
        </p:spPr>
      </p:sp>
      <p:pic>
        <p:nvPicPr>
          <p:cNvPr id="4" name="Image 0" descr="preencoded.png">    </p:cNvPr>
          <p:cNvPicPr>
            <a:picLocks noChangeAspect="1"/>
          </p:cNvPicPr>
          <p:nvPr/>
        </p:nvPicPr>
        <p:blipFill>
          <a:blip r:embed="rId1"/>
          <a:stretch>
            <a:fillRect/>
          </a:stretch>
        </p:blipFill>
        <p:spPr>
          <a:xfrm>
            <a:off x="541691" y="1318931"/>
            <a:ext cx="215067" cy="215067"/>
          </a:xfrm>
          <a:prstGeom prst="rect">
            <a:avLst/>
          </a:prstGeom>
        </p:spPr>
      </p:pic>
      <p:sp>
        <p:nvSpPr>
          <p:cNvPr id="5" name="Text 2"/>
          <p:cNvSpPr txBox="1"/>
          <p:nvPr/>
        </p:nvSpPr>
        <p:spPr>
          <a:xfrm>
            <a:off x="960120" y="1188720"/>
            <a:ext cx="3520440" cy="731520"/>
          </a:xfrm>
          <a:prstGeom prst="rect">
            <a:avLst/>
          </a:prstGeom>
          <a:noFill/>
          <a:ln/>
        </p:spPr>
        <p:txBody>
          <a:bodyPr wrap="square" lIns="0" tIns="0" rIns="0" bIns="0" rtlCol="0" anchor="t"/>
          <a:lstStyle/>
          <a:p>
            <a:pPr indent="0" marL="0">
              <a:buNone/>
            </a:pPr>
            <a:r>
              <a:rPr lang="en-US" sz="1400" b="1" dirty="0">
                <a:solidFill>
                  <a:srgbClr val="1B1F24"/>
                </a:solidFill>
              </a:rPr>
              <a:t>1. </a:t>
            </a:r>
            <a:pPr indent="0" marL="0">
              <a:buNone/>
            </a:pPr>
            <a:r>
              <a:rPr lang="en-US" sz="1400" dirty="0">
                <a:solidFill>
                  <a:srgbClr val="1B1F24"/>
                </a:solidFill>
              </a:rPr>
              <a:t>spec diff + every open question you raised</a:t>
            </a:r>
            <a:endParaRPr lang="en-US" sz="1400" dirty="0"/>
          </a:p>
        </p:txBody>
      </p:sp>
      <p:sp>
        <p:nvSpPr>
          <p:cNvPr id="6" name="Shape 3"/>
          <p:cNvSpPr/>
          <p:nvPr/>
        </p:nvSpPr>
        <p:spPr>
          <a:xfrm>
            <a:off x="457200" y="2075688"/>
            <a:ext cx="384048" cy="384048"/>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541691" y="2160179"/>
            <a:ext cx="215067" cy="215067"/>
          </a:xfrm>
          <a:prstGeom prst="rect">
            <a:avLst/>
          </a:prstGeom>
        </p:spPr>
      </p:pic>
      <p:sp>
        <p:nvSpPr>
          <p:cNvPr id="8" name="Text 4"/>
          <p:cNvSpPr txBox="1"/>
          <p:nvPr/>
        </p:nvSpPr>
        <p:spPr>
          <a:xfrm>
            <a:off x="960120" y="2029968"/>
            <a:ext cx="3520440" cy="731520"/>
          </a:xfrm>
          <a:prstGeom prst="rect">
            <a:avLst/>
          </a:prstGeom>
          <a:noFill/>
          <a:ln/>
        </p:spPr>
        <p:txBody>
          <a:bodyPr wrap="square" lIns="0" tIns="0" rIns="0" bIns="0" rtlCol="0" anchor="t"/>
          <a:lstStyle/>
          <a:p>
            <a:pPr indent="0" marL="0">
              <a:buNone/>
            </a:pPr>
            <a:r>
              <a:rPr lang="en-US" sz="1400" b="1" dirty="0">
                <a:solidFill>
                  <a:srgbClr val="1B1F24"/>
                </a:solidFill>
              </a:rPr>
              <a:t>2. </a:t>
            </a:r>
            <a:pPr indent="0" marL="0">
              <a:buNone/>
            </a:pPr>
            <a:r>
              <a:rPr lang="en-US" sz="1400" dirty="0">
                <a:solidFill>
                  <a:srgbClr val="1B1F24"/>
                </a:solidFill>
              </a:rPr>
              <a:t>plan with a verify line per task</a:t>
            </a:r>
            <a:endParaRPr lang="en-US" sz="1400" dirty="0"/>
          </a:p>
        </p:txBody>
      </p:sp>
      <p:sp>
        <p:nvSpPr>
          <p:cNvPr id="9" name="Shape 5"/>
          <p:cNvSpPr/>
          <p:nvPr/>
        </p:nvSpPr>
        <p:spPr>
          <a:xfrm>
            <a:off x="457200" y="2916936"/>
            <a:ext cx="384048" cy="384048"/>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541691" y="3001427"/>
            <a:ext cx="215067" cy="215067"/>
          </a:xfrm>
          <a:prstGeom prst="rect">
            <a:avLst/>
          </a:prstGeom>
        </p:spPr>
      </p:pic>
      <p:sp>
        <p:nvSpPr>
          <p:cNvPr id="11" name="Text 6"/>
          <p:cNvSpPr txBox="1"/>
          <p:nvPr/>
        </p:nvSpPr>
        <p:spPr>
          <a:xfrm>
            <a:off x="960120" y="2871216"/>
            <a:ext cx="3520440" cy="731520"/>
          </a:xfrm>
          <a:prstGeom prst="rect">
            <a:avLst/>
          </a:prstGeom>
          <a:noFill/>
          <a:ln/>
        </p:spPr>
        <p:txBody>
          <a:bodyPr wrap="square" lIns="0" tIns="0" rIns="0" bIns="0" rtlCol="0" anchor="t"/>
          <a:lstStyle/>
          <a:p>
            <a:pPr indent="0" marL="0">
              <a:buNone/>
            </a:pPr>
            <a:r>
              <a:rPr lang="en-US" sz="1400" b="1" dirty="0">
                <a:solidFill>
                  <a:srgbClr val="1B1F24"/>
                </a:solidFill>
              </a:rPr>
              <a:t>3. </a:t>
            </a:r>
            <a:pPr indent="0" marL="0">
              <a:buNone/>
            </a:pPr>
            <a:r>
              <a:rPr lang="en-US" sz="1400" dirty="0">
                <a:solidFill>
                  <a:srgbClr val="1B1F24"/>
                </a:solidFill>
              </a:rPr>
              <a:t>the migration and your edits, or why none</a:t>
            </a:r>
            <a:endParaRPr lang="en-US" sz="1400" dirty="0"/>
          </a:p>
        </p:txBody>
      </p:sp>
      <p:sp>
        <p:nvSpPr>
          <p:cNvPr id="12" name="Shape 7"/>
          <p:cNvSpPr/>
          <p:nvPr/>
        </p:nvSpPr>
        <p:spPr>
          <a:xfrm>
            <a:off x="457200" y="3758184"/>
            <a:ext cx="384048" cy="384048"/>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541691" y="3842675"/>
            <a:ext cx="215067" cy="215067"/>
          </a:xfrm>
          <a:prstGeom prst="rect">
            <a:avLst/>
          </a:prstGeom>
        </p:spPr>
      </p:pic>
      <p:sp>
        <p:nvSpPr>
          <p:cNvPr id="14" name="Text 8"/>
          <p:cNvSpPr txBox="1"/>
          <p:nvPr/>
        </p:nvSpPr>
        <p:spPr>
          <a:xfrm>
            <a:off x="960120" y="3712464"/>
            <a:ext cx="3520440" cy="731520"/>
          </a:xfrm>
          <a:prstGeom prst="rect">
            <a:avLst/>
          </a:prstGeom>
          <a:noFill/>
          <a:ln/>
        </p:spPr>
        <p:txBody>
          <a:bodyPr wrap="square" lIns="0" tIns="0" rIns="0" bIns="0" rtlCol="0" anchor="t"/>
          <a:lstStyle/>
          <a:p>
            <a:pPr indent="0" marL="0">
              <a:buNone/>
            </a:pPr>
            <a:r>
              <a:rPr lang="en-US" sz="1400" b="1" dirty="0">
                <a:solidFill>
                  <a:srgbClr val="1B1F24"/>
                </a:solidFill>
              </a:rPr>
              <a:t>4. </a:t>
            </a:r>
            <a:pPr indent="0" marL="0">
              <a:buNone/>
            </a:pPr>
            <a:r>
              <a:rPr lang="en-US" sz="1400" dirty="0">
                <a:solidFill>
                  <a:srgbClr val="1B1F24"/>
                </a:solidFill>
              </a:rPr>
              <a:t>unit + e2e counts; owner-check mutation result</a:t>
            </a:r>
            <a:endParaRPr lang="en-US" sz="1400" dirty="0"/>
          </a:p>
        </p:txBody>
      </p:sp>
      <p:sp>
        <p:nvSpPr>
          <p:cNvPr id="15" name="Shape 9"/>
          <p:cNvSpPr/>
          <p:nvPr/>
        </p:nvSpPr>
        <p:spPr>
          <a:xfrm>
            <a:off x="4663440" y="1234440"/>
            <a:ext cx="384048" cy="384048"/>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4747931" y="1318931"/>
            <a:ext cx="215067" cy="215067"/>
          </a:xfrm>
          <a:prstGeom prst="rect">
            <a:avLst/>
          </a:prstGeom>
        </p:spPr>
      </p:pic>
      <p:sp>
        <p:nvSpPr>
          <p:cNvPr id="17" name="Text 10"/>
          <p:cNvSpPr txBox="1"/>
          <p:nvPr/>
        </p:nvSpPr>
        <p:spPr>
          <a:xfrm>
            <a:off x="5166360" y="1188720"/>
            <a:ext cx="3520440" cy="731520"/>
          </a:xfrm>
          <a:prstGeom prst="rect">
            <a:avLst/>
          </a:prstGeom>
          <a:noFill/>
          <a:ln/>
        </p:spPr>
        <p:txBody>
          <a:bodyPr wrap="square" lIns="0" tIns="0" rIns="0" bIns="0" rtlCol="0" anchor="t"/>
          <a:lstStyle/>
          <a:p>
            <a:pPr indent="0" marL="0">
              <a:buNone/>
            </a:pPr>
            <a:r>
              <a:rPr lang="en-US" sz="1400" b="1" dirty="0">
                <a:solidFill>
                  <a:srgbClr val="1B1F24"/>
                </a:solidFill>
              </a:rPr>
              <a:t>5. </a:t>
            </a:r>
            <a:pPr indent="0" marL="0">
              <a:buNone/>
            </a:pPr>
            <a:r>
              <a:rPr lang="en-US" sz="1400" dirty="0">
                <a:solidFill>
                  <a:srgbClr val="1B1F24"/>
                </a:solidFill>
              </a:rPr>
              <a:t>my-notes e2e: two devices of two users</a:t>
            </a:r>
            <a:endParaRPr lang="en-US" sz="1400" dirty="0"/>
          </a:p>
        </p:txBody>
      </p:sp>
      <p:sp>
        <p:nvSpPr>
          <p:cNvPr id="18" name="Shape 11"/>
          <p:cNvSpPr/>
          <p:nvPr/>
        </p:nvSpPr>
        <p:spPr>
          <a:xfrm>
            <a:off x="4663440" y="2075688"/>
            <a:ext cx="384048" cy="384048"/>
          </a:xfrm>
          <a:prstGeom prst="ellipse">
            <a:avLst/>
          </a:prstGeom>
          <a:solidFill>
            <a:srgbClr val="1FB68A"/>
          </a:solidFill>
          <a:ln w="12700">
            <a:solidFill>
              <a:srgbClr val="1FB68A"/>
            </a:solidFill>
            <a:prstDash val="solid"/>
          </a:ln>
        </p:spPr>
      </p:sp>
      <p:pic>
        <p:nvPicPr>
          <p:cNvPr id="19" name="Image 5" descr="preencoded.png">    </p:cNvPr>
          <p:cNvPicPr>
            <a:picLocks noChangeAspect="1"/>
          </p:cNvPicPr>
          <p:nvPr/>
        </p:nvPicPr>
        <p:blipFill>
          <a:blip r:embed="rId6"/>
          <a:stretch>
            <a:fillRect/>
          </a:stretch>
        </p:blipFill>
        <p:spPr>
          <a:xfrm>
            <a:off x="4747931" y="2160179"/>
            <a:ext cx="215067" cy="215067"/>
          </a:xfrm>
          <a:prstGeom prst="rect">
            <a:avLst/>
          </a:prstGeom>
        </p:spPr>
      </p:pic>
      <p:sp>
        <p:nvSpPr>
          <p:cNvPr id="20" name="Text 12"/>
          <p:cNvSpPr txBox="1"/>
          <p:nvPr/>
        </p:nvSpPr>
        <p:spPr>
          <a:xfrm>
            <a:off x="5166360" y="2029968"/>
            <a:ext cx="3520440" cy="731520"/>
          </a:xfrm>
          <a:prstGeom prst="rect">
            <a:avLst/>
          </a:prstGeom>
          <a:noFill/>
          <a:ln/>
        </p:spPr>
        <p:txBody>
          <a:bodyPr wrap="square" lIns="0" tIns="0" rIns="0" bIns="0" rtlCol="0" anchor="t"/>
          <a:lstStyle/>
          <a:p>
            <a:pPr indent="0" marL="0">
              <a:buNone/>
            </a:pPr>
            <a:r>
              <a:rPr lang="en-US" sz="1400" b="1" dirty="0">
                <a:solidFill>
                  <a:srgbClr val="1B1F24"/>
                </a:solidFill>
              </a:rPr>
              <a:t>6. </a:t>
            </a:r>
            <a:pPr indent="0" marL="0">
              <a:buNone/>
            </a:pPr>
            <a:r>
              <a:rPr lang="en-US" sz="1400" dirty="0">
                <a:solidFill>
                  <a:srgbClr val="1B1F24"/>
                </a:solidFill>
              </a:rPr>
              <a:t>pnpm verify + pnpm lab 10: every line</a:t>
            </a:r>
            <a:endParaRPr lang="en-US" sz="1400" dirty="0"/>
          </a:p>
        </p:txBody>
      </p:sp>
      <p:sp>
        <p:nvSpPr>
          <p:cNvPr id="21" name="Shape 13"/>
          <p:cNvSpPr/>
          <p:nvPr/>
        </p:nvSpPr>
        <p:spPr>
          <a:xfrm>
            <a:off x="4663440" y="2916936"/>
            <a:ext cx="384048" cy="384048"/>
          </a:xfrm>
          <a:prstGeom prst="ellipse">
            <a:avLst/>
          </a:prstGeom>
          <a:solidFill>
            <a:srgbClr val="1FB68A"/>
          </a:solidFill>
          <a:ln w="12700">
            <a:solidFill>
              <a:srgbClr val="1FB68A"/>
            </a:solidFill>
            <a:prstDash val="solid"/>
          </a:ln>
        </p:spPr>
      </p:sp>
      <p:pic>
        <p:nvPicPr>
          <p:cNvPr id="22" name="Image 6" descr="preencoded.png">    </p:cNvPr>
          <p:cNvPicPr>
            <a:picLocks noChangeAspect="1"/>
          </p:cNvPicPr>
          <p:nvPr/>
        </p:nvPicPr>
        <p:blipFill>
          <a:blip r:embed="rId7"/>
          <a:stretch>
            <a:fillRect/>
          </a:stretch>
        </p:blipFill>
        <p:spPr>
          <a:xfrm>
            <a:off x="4747931" y="3001427"/>
            <a:ext cx="215067" cy="215067"/>
          </a:xfrm>
          <a:prstGeom prst="rect">
            <a:avLst/>
          </a:prstGeom>
        </p:spPr>
      </p:pic>
      <p:sp>
        <p:nvSpPr>
          <p:cNvPr id="23" name="Text 14"/>
          <p:cNvSpPr txBox="1"/>
          <p:nvPr/>
        </p:nvSpPr>
        <p:spPr>
          <a:xfrm>
            <a:off x="5166360" y="2871216"/>
            <a:ext cx="3520440" cy="731520"/>
          </a:xfrm>
          <a:prstGeom prst="rect">
            <a:avLst/>
          </a:prstGeom>
          <a:noFill/>
          <a:ln/>
        </p:spPr>
        <p:txBody>
          <a:bodyPr wrap="square" lIns="0" tIns="0" rIns="0" bIns="0" rtlCol="0" anchor="t"/>
          <a:lstStyle/>
          <a:p>
            <a:pPr indent="0" marL="0">
              <a:buNone/>
            </a:pPr>
            <a:r>
              <a:rPr lang="en-US" sz="1400" b="1" dirty="0">
                <a:solidFill>
                  <a:srgbClr val="1B1F24"/>
                </a:solidFill>
              </a:rPr>
              <a:t>7. </a:t>
            </a:r>
            <a:pPr indent="0" marL="0">
              <a:buNone/>
            </a:pPr>
            <a:r>
              <a:rPr lang="en-US" sz="1400" dirty="0">
                <a:solidFill>
                  <a:srgbClr val="1B1F24"/>
                </a:solidFill>
              </a:rPr>
              <a:t>Inspector capture with headers (secret redacted)</a:t>
            </a:r>
            <a:endParaRPr lang="en-US" sz="1400" dirty="0"/>
          </a:p>
        </p:txBody>
      </p:sp>
      <p:sp>
        <p:nvSpPr>
          <p:cNvPr id="24" name="Shape 15"/>
          <p:cNvSpPr/>
          <p:nvPr/>
        </p:nvSpPr>
        <p:spPr>
          <a:xfrm>
            <a:off x="4663440" y="3758184"/>
            <a:ext cx="384048" cy="384048"/>
          </a:xfrm>
          <a:prstGeom prst="ellipse">
            <a:avLst/>
          </a:prstGeom>
          <a:solidFill>
            <a:srgbClr val="1FB68A"/>
          </a:solidFill>
          <a:ln w="12700">
            <a:solidFill>
              <a:srgbClr val="1FB68A"/>
            </a:solidFill>
            <a:prstDash val="solid"/>
          </a:ln>
        </p:spPr>
      </p:sp>
      <p:pic>
        <p:nvPicPr>
          <p:cNvPr id="25" name="Image 7" descr="preencoded.png">    </p:cNvPr>
          <p:cNvPicPr>
            <a:picLocks noChangeAspect="1"/>
          </p:cNvPicPr>
          <p:nvPr/>
        </p:nvPicPr>
        <p:blipFill>
          <a:blip r:embed="rId8"/>
          <a:stretch>
            <a:fillRect/>
          </a:stretch>
        </p:blipFill>
        <p:spPr>
          <a:xfrm>
            <a:off x="4747931" y="3842675"/>
            <a:ext cx="215067" cy="215067"/>
          </a:xfrm>
          <a:prstGeom prst="rect">
            <a:avLst/>
          </a:prstGeom>
        </p:spPr>
      </p:pic>
      <p:sp>
        <p:nvSpPr>
          <p:cNvPr id="26" name="Text 16"/>
          <p:cNvSpPr txBox="1"/>
          <p:nvPr/>
        </p:nvSpPr>
        <p:spPr>
          <a:xfrm>
            <a:off x="5166360" y="3712464"/>
            <a:ext cx="3520440" cy="731520"/>
          </a:xfrm>
          <a:prstGeom prst="rect">
            <a:avLst/>
          </a:prstGeom>
          <a:noFill/>
          <a:ln/>
        </p:spPr>
        <p:txBody>
          <a:bodyPr wrap="square" lIns="0" tIns="0" rIns="0" bIns="0" rtlCol="0" anchor="t"/>
          <a:lstStyle/>
          <a:p>
            <a:pPr indent="0" marL="0">
              <a:buNone/>
            </a:pPr>
            <a:r>
              <a:rPr lang="en-US" sz="1400" b="1" dirty="0">
                <a:solidFill>
                  <a:srgbClr val="1B1F24"/>
                </a:solidFill>
              </a:rPr>
              <a:t>8. </a:t>
            </a:r>
            <a:pPr indent="0" marL="0">
              <a:buNone/>
            </a:pPr>
            <a:r>
              <a:rPr lang="en-US" sz="1400" dirty="0">
                <a:solidFill>
                  <a:srgbClr val="1B1F24"/>
                </a:solidFill>
              </a:rPr>
              <a:t>WORKLOG entry, with any corrections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Node +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REST + drizzle</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Auth</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Devices</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OAuth for interactive MCP clients (@rekog/mcp-nest-auth) · Redis-backed rate limits · deploy with MCP_ALLOWED_HOSTS set</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2026-10-27T01:51:22Z</dcterms:created>
  <dcterms:modified xsi:type="dcterms:W3CDTF">2026-10-27T01:51:22Z</dcterms:modified>
</cp:coreProperties>
</file>