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</p:sldIdLst>
  <p:notesMasterIdLst>
    <p:notesMasterId r:id="rId3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notesMaster" Target="notesMasters/notesMaster1.xml"/><Relationship Id="rId36" Type="http://schemas.openxmlformats.org/officeDocument/2006/relationships/presProps" Target="presProps.xml"/><Relationship Id="rId37" Type="http://schemas.openxmlformats.org/officeDocument/2006/relationships/viewProps" Target="viewProps.xml"/><Relationship Id="rId38" Type="http://schemas.openxmlformats.org/officeDocument/2006/relationships/theme" Target="theme/theme1.xml"/><Relationship Id="rId3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Keep this deck on screen during lab work. Each chapter has: a divider (goal + time), RUN THIS (commands), CHECKPOINT (what correct looks like) and IF YOU ARE STUCK (snags we actually hit). The full explanations are in the chapter documents.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repeatable work belongs to tools; judgement belongs to the agent, fenced into markers. If a learner hand-edits generated code, steer them back to the template or the marker.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PowerShell has no alias for multi-word commands: function dev { docker compose run --rm dev @args }. Not tested here; Linux, macOS and WSL shells were the target.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Inspector CLI (chapters 07 and 09) stays in the terminal: it is a real MCP client, which is the point of those chapters.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checks drive the app over HTTP and MCP and never import learner code, so they compile before the lab is done. The contracts are in test/labs/README.md in the starter. Reference solutions for facilitators are in docs/ai-agent-training/solutions/.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Six modules, about 170 minutes of labs plus the capstone as homework. Times are ESTIMATES: nobody has run these labs with an audience yet. The full track (ch00-ch10) has the labs this one cuts.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Covers full-track chapters 00 + 01. Cut for time: the stack-persistence and clean-wipe demos (chapter 00).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first image build takes a few minutes: use it to walk through docker-compose.yml and specs/notes.md. Learners give their agent the spec and the skill name (nest-resource-scaffold), not ad-hoc instructions.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Covers full-track chapters 02. Cut for time: nothing. This is chapter 02 as it stands.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Make learners read the generated SQL out loud. A nullable ADD COLUMN is safe on populated tables; NOT NULL is not (chapter 04).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Covers full-track chapters 03 + 04. Cut for time: reading the hand-written middleware commit (chapter 03) and the expiresAt lab (chapter 04). Offer expiresAt as a stretch.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Issuing credentials stores a live secret in a collection variable: never export or share the collection after a run. Re-sending Issue credentials is a rotation.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Covers full-track chapters 05 + 06. Cut for time: the separate envelope-discussion lab (chapter 05): the raw initialize below covers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 the Body tab of initialize: one SSE event, `event: message` then `data: {...}`, and the Headers tab: X-Access-Key-Id / X-Secret-Key come from the variables 04 · Devices stored. Then ask: which id answers which request? Where is the SSE framing? What would a tool error look like vs a protocol error?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Then: dev pnpm verify. The stdio e2e test pins the EXACT tool list, so it fails until they update it deliberately. That is the lesson.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Covers full-track chapters 07 + 08. Cut for time: the Host-header lab (chapter 08). Mention MCP_ALLOWED_HOSTS; the stuck slide covers its snags.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Inspector web UI binds 127.0.0.1 inside its container: use the CLI in Docker. Exit 5 comes from the tool's own isError, which is why it is a sound CI signal.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Covers full-track chapters 09 + 10. Cut for time: nothing from chapter 09; the chapter 10 capstone moves to homework.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Two clients, two devices: the Inspector uses the helper's device, Postman its own. Rotating in Postman therefore does not break the Inspector call; that is a good question to ask. The rotation response contains the NEW secret: do not paste it anywhere.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Inspector treats any 401 as an OAuth challenge. Device keys suit header-configured machine clients; the OAuth path is @rekog/mcp-nest-auth (not built in this course).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Distinction: a false statement found in a comment, skill, spec or this course, measured and corrected. Rework: "tests pass" without counts, or any credential in an artefact.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by asking each learner for one false statement they found in a tool, a doc or this course, and how they measured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">
    <p:bg>
      <p:bgPr>
        <a:solidFill>
          <a:srgbClr val="1B1F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371600"/>
            <a:ext cx="80467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FFFFFF"/>
                </a:solidFill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697480"/>
            <a:ext cx="804672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800" dirty="0">
                <a:solidFill>
                  <a:srgbClr val="1FB68A"/>
                </a:solidFill>
              </a:defRPr>
            </a:lvl1pPr>
          </a:lstStyle>
          <a:p>
            <a:pPr indent="0" marL="0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">
    <p:bg>
      <p:bgPr>
        <a:solidFill>
          <a:srgbClr val="1B1F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1097280"/>
            <a:ext cx="548640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400" b="1" spc="300" kern="0" dirty="0">
                <a:solidFill>
                  <a:srgbClr val="1FB68A"/>
                </a:solidFill>
              </a:defRPr>
            </a:lvl1pPr>
          </a:lstStyle>
          <a:p>
            <a:pPr indent="0" marL="0">
              <a:buNone/>
            </a:pP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1508760"/>
            <a:ext cx="804672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2560320"/>
            <a:ext cx="566928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800" dirty="0">
                <a:solidFill>
                  <a:srgbClr val="CBD5E1"/>
                </a:solidFill>
              </a:defRPr>
            </a:lvl1pPr>
          </a:lstStyle>
          <a:p>
            <a:pPr indent="0" marL="0">
              <a:buNone/>
            </a:pPr>
            <a:endParaRPr lang="en-US" sz="1800" dirty="0"/>
          </a:p>
        </p:txBody>
      </p:sp>
      <p:sp>
        <p:nvSpPr>
          <p:cNvPr id="5" name="Text 0"/>
          <p:cNvSpPr/>
          <p:nvPr/>
        </p:nvSpPr>
        <p:spPr>
          <a:xfrm>
            <a:off x="457200" y="475488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</a:rPr>
              <a:t>Lab companion · Building apps with AI agents · NestJS + MCP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4A3B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rgbClr val="1B1F24"/>
                </a:solidFill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3" name="Text 0"/>
          <p:cNvSpPr/>
          <p:nvPr/>
        </p:nvSpPr>
        <p:spPr>
          <a:xfrm>
            <a:off x="457200" y="475488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Lab companion · Building apps with AI agents · NestJS + MCP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4A3B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image" Target="../media/image-17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image" Target="../media/image-18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image" Target="../media/image-22-3.png"/><Relationship Id="rId4" Type="http://schemas.openxmlformats.org/officeDocument/2006/relationships/image" Target="../media/image-22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png"/><Relationship Id="rId3" Type="http://schemas.openxmlformats.org/officeDocument/2006/relationships/image" Target="../media/image-23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image" Target="../media/image-26-2.png"/><Relationship Id="rId3" Type="http://schemas.openxmlformats.org/officeDocument/2006/relationships/image" Target="../media/image-26-3.png"/><Relationship Id="rId4" Type="http://schemas.openxmlformats.org/officeDocument/2006/relationships/image" Target="../media/image-26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image" Target="../media/image-27-2.png"/><Relationship Id="rId3" Type="http://schemas.openxmlformats.org/officeDocument/2006/relationships/image" Target="../media/image-27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image" Target="../media/image-30-2.png"/><Relationship Id="rId3" Type="http://schemas.openxmlformats.org/officeDocument/2006/relationships/image" Target="../media/image-30-3.png"/><Relationship Id="rId4" Type="http://schemas.openxmlformats.org/officeDocument/2006/relationships/image" Target="../media/image-30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image" Target="../media/image-31-2.png"/><Relationship Id="rId3" Type="http://schemas.openxmlformats.org/officeDocument/2006/relationships/image" Target="../media/image-31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image" Target="../media/image-32-2.png"/><Relationship Id="rId3" Type="http://schemas.openxmlformats.org/officeDocument/2006/relationships/image" Target="../media/image-32-3.png"/><Relationship Id="rId4" Type="http://schemas.openxmlformats.org/officeDocument/2006/relationships/image" Target="../media/image-32-4.png"/><Relationship Id="rId5" Type="http://schemas.openxmlformats.org/officeDocument/2006/relationships/image" Target="../media/image-32-5.png"/><Relationship Id="rId6" Type="http://schemas.openxmlformats.org/officeDocument/2006/relationships/image" Target="../media/image-32-6.png"/><Relationship Id="rId7" Type="http://schemas.openxmlformats.org/officeDocument/2006/relationships/image" Target="../media/image-32-7.png"/><Relationship Id="rId8" Type="http://schemas.openxmlformats.org/officeDocument/2006/relationships/image" Target="../media/image-32-8.png"/><Relationship Id="rId9" Type="http://schemas.openxmlformats.org/officeDocument/2006/relationships/slideLayout" Target="../slideLayouts/slideLayout4.xml"/><Relationship Id="rId10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371600"/>
            <a:ext cx="8046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</a:rPr>
              <a:t>Building Apps with AI Agents</a:t>
            </a:r>
            <a:endParaRPr lang="en-US" sz="4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697480"/>
            <a:ext cx="8046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FB68A"/>
                </a:solidFill>
              </a:rPr>
              <a:t>Lab companion, LITE track · six modules · NestJS 12 · drizzle · Passport · MCP · Docker</a:t>
            </a:r>
            <a:endParaRPr lang="en-US" sz="1800" dirty="0"/>
          </a:p>
        </p:txBody>
      </p:sp>
      <p:sp>
        <p:nvSpPr>
          <p:cNvPr id="4" name="terminal"/>
          <p:cNvSpPr/>
          <p:nvPr/>
        </p:nvSpPr>
        <p:spPr>
          <a:xfrm>
            <a:off x="548640" y="3703320"/>
            <a:ext cx="5120640" cy="777240"/>
          </a:xfrm>
          <a:prstGeom prst="roundRect">
            <a:avLst>
              <a:gd name="adj" fmla="val 9412"/>
            </a:avLst>
          </a:prstGeom>
          <a:solidFill>
            <a:srgbClr val="1B1F24"/>
          </a:solidFill>
          <a:ln w="12700">
            <a:solidFill>
              <a:srgbClr val="1B1F24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1520" y="3831336"/>
            <a:ext cx="109728" cy="109728"/>
          </a:xfrm>
          <a:prstGeom prst="ellipse">
            <a:avLst/>
          </a:prstGeom>
          <a:solidFill>
            <a:srgbClr val="E5484D"/>
          </a:solidFill>
          <a:ln w="12700">
            <a:solidFill>
              <a:srgbClr val="E5484D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14400" y="3831336"/>
            <a:ext cx="109728" cy="109728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097280" y="3831336"/>
            <a:ext cx="109728" cy="10972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sp>
        <p:nvSpPr>
          <p:cNvPr id="8" name="terminal-text"/>
          <p:cNvSpPr txBox="1"/>
          <p:nvPr/>
        </p:nvSpPr>
        <p:spPr>
          <a:xfrm>
            <a:off x="777240" y="4087368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docker compose run --rm dev pnpm verify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1F24"/>
                </a:solidFill>
              </a:rPr>
              <a:t>How every lab works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786384" y="1325880"/>
            <a:ext cx="822960" cy="822960"/>
          </a:xfrm>
          <a:prstGeom prst="ellipse">
            <a:avLst/>
          </a:prstGeom>
          <a:solidFill>
            <a:srgbClr val="1B1F24"/>
          </a:solidFill>
          <a:ln w="12700">
            <a:solidFill>
              <a:srgbClr val="1B1F2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86384" y="132588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1</a:t>
            </a:r>
            <a:endParaRPr lang="en-US" sz="28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911096" y="1627632"/>
            <a:ext cx="237744" cy="23774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457200" y="2331720"/>
            <a:ext cx="148132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B1F24"/>
                </a:solidFill>
              </a:rPr>
              <a:t>Spec</a:t>
            </a:r>
            <a:endParaRPr lang="en-US" sz="1800" dirty="0"/>
          </a:p>
        </p:txBody>
      </p:sp>
      <p:sp>
        <p:nvSpPr>
          <p:cNvPr id="7" name="Text 4"/>
          <p:cNvSpPr txBox="1"/>
          <p:nvPr/>
        </p:nvSpPr>
        <p:spPr>
          <a:xfrm>
            <a:off x="457200" y="2788920"/>
            <a:ext cx="148132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specs/&lt;name&gt;.md: fields, rules, gaps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2468880" y="1325880"/>
            <a:ext cx="822960" cy="822960"/>
          </a:xfrm>
          <a:prstGeom prst="ellipse">
            <a:avLst/>
          </a:prstGeom>
          <a:solidFill>
            <a:srgbClr val="1B1F24"/>
          </a:solidFill>
          <a:ln w="12700">
            <a:solidFill>
              <a:srgbClr val="1B1F24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2468880" y="132588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2</a:t>
            </a:r>
            <a:endParaRPr lang="en-US" sz="28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93592" y="1627632"/>
            <a:ext cx="237744" cy="237744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2139696" y="2331720"/>
            <a:ext cx="148132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B1F24"/>
                </a:solidFill>
              </a:rPr>
              <a:t>Generate</a:t>
            </a:r>
            <a:endParaRPr lang="en-US" sz="1800" dirty="0"/>
          </a:p>
        </p:txBody>
      </p:sp>
      <p:sp>
        <p:nvSpPr>
          <p:cNvPr id="12" name="Text 8"/>
          <p:cNvSpPr txBox="1"/>
          <p:nvPr/>
        </p:nvSpPr>
        <p:spPr>
          <a:xfrm>
            <a:off x="2139696" y="2788920"/>
            <a:ext cx="148132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nest-cli: structure + wiring</a:t>
            </a:r>
            <a:endParaRPr lang="en-US" sz="1400" dirty="0"/>
          </a:p>
        </p:txBody>
      </p:sp>
      <p:sp>
        <p:nvSpPr>
          <p:cNvPr id="13" name="Shape 9"/>
          <p:cNvSpPr/>
          <p:nvPr/>
        </p:nvSpPr>
        <p:spPr>
          <a:xfrm>
            <a:off x="4151376" y="1325880"/>
            <a:ext cx="822960" cy="822960"/>
          </a:xfrm>
          <a:prstGeom prst="ellipse">
            <a:avLst/>
          </a:prstGeom>
          <a:solidFill>
            <a:srgbClr val="1B1F24"/>
          </a:solidFill>
          <a:ln w="12700">
            <a:solidFill>
              <a:srgbClr val="1B1F24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4151376" y="132588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3</a:t>
            </a:r>
            <a:endParaRPr lang="en-US" sz="2800" dirty="0"/>
          </a:p>
        </p:txBody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76088" y="1627632"/>
            <a:ext cx="237744" cy="237744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3822192" y="2331720"/>
            <a:ext cx="148132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B1F24"/>
                </a:solidFill>
              </a:rPr>
              <a:t>Template</a:t>
            </a:r>
            <a:endParaRPr lang="en-US" sz="1800" dirty="0"/>
          </a:p>
        </p:txBody>
      </p:sp>
      <p:sp>
        <p:nvSpPr>
          <p:cNvPr id="17" name="Text 12"/>
          <p:cNvSpPr txBox="1"/>
          <p:nvPr/>
        </p:nvSpPr>
        <p:spPr>
          <a:xfrm>
            <a:off x="3822192" y="2788920"/>
            <a:ext cx="148132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house conventions, identical every time</a:t>
            </a:r>
            <a:endParaRPr lang="en-US" sz="1400" dirty="0"/>
          </a:p>
        </p:txBody>
      </p:sp>
      <p:sp>
        <p:nvSpPr>
          <p:cNvPr id="18" name="Shape 13"/>
          <p:cNvSpPr/>
          <p:nvPr/>
        </p:nvSpPr>
        <p:spPr>
          <a:xfrm>
            <a:off x="5833872" y="1325880"/>
            <a:ext cx="822960" cy="822960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sp>
        <p:nvSpPr>
          <p:cNvPr id="19" name="Text 14"/>
          <p:cNvSpPr txBox="1"/>
          <p:nvPr/>
        </p:nvSpPr>
        <p:spPr>
          <a:xfrm>
            <a:off x="5833872" y="132588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4</a:t>
            </a:r>
            <a:endParaRPr lang="en-US" sz="2800" dirty="0"/>
          </a:p>
        </p:txBody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58584" y="1627632"/>
            <a:ext cx="237744" cy="237744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5504688" y="2331720"/>
            <a:ext cx="148132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B1F24"/>
                </a:solidFill>
              </a:rPr>
              <a:t>Fill</a:t>
            </a:r>
            <a:endParaRPr lang="en-US" sz="1800" dirty="0"/>
          </a:p>
        </p:txBody>
      </p:sp>
      <p:sp>
        <p:nvSpPr>
          <p:cNvPr id="22" name="Text 16"/>
          <p:cNvSpPr txBox="1"/>
          <p:nvPr/>
        </p:nvSpPr>
        <p:spPr>
          <a:xfrm>
            <a:off x="5504688" y="2788920"/>
            <a:ext cx="148132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your agent, ONLY inside AI-FILL markers</a:t>
            </a:r>
            <a:endParaRPr lang="en-US" sz="1400" dirty="0"/>
          </a:p>
        </p:txBody>
      </p:sp>
      <p:sp>
        <p:nvSpPr>
          <p:cNvPr id="23" name="Shape 17"/>
          <p:cNvSpPr/>
          <p:nvPr/>
        </p:nvSpPr>
        <p:spPr>
          <a:xfrm>
            <a:off x="7516368" y="1325880"/>
            <a:ext cx="822960" cy="822960"/>
          </a:xfrm>
          <a:prstGeom prst="ellipse">
            <a:avLst/>
          </a:prstGeom>
          <a:solidFill>
            <a:srgbClr val="1B1F24"/>
          </a:solidFill>
          <a:ln w="12700">
            <a:solidFill>
              <a:srgbClr val="1B1F24"/>
            </a:solidFill>
            <a:prstDash val="solid"/>
          </a:ln>
        </p:spPr>
      </p:sp>
      <p:sp>
        <p:nvSpPr>
          <p:cNvPr id="24" name="Text 18"/>
          <p:cNvSpPr txBox="1"/>
          <p:nvPr/>
        </p:nvSpPr>
        <p:spPr>
          <a:xfrm>
            <a:off x="7516368" y="132588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5</a:t>
            </a:r>
            <a:endParaRPr lang="en-US" sz="2800" dirty="0"/>
          </a:p>
        </p:txBody>
      </p:sp>
      <p:sp>
        <p:nvSpPr>
          <p:cNvPr id="25" name="Text 19"/>
          <p:cNvSpPr txBox="1"/>
          <p:nvPr/>
        </p:nvSpPr>
        <p:spPr>
          <a:xfrm>
            <a:off x="7187184" y="2331720"/>
            <a:ext cx="148132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B1F24"/>
                </a:solidFill>
              </a:rPr>
              <a:t>Verify</a:t>
            </a:r>
            <a:endParaRPr lang="en-US" sz="1800" dirty="0"/>
          </a:p>
        </p:txBody>
      </p:sp>
      <p:sp>
        <p:nvSpPr>
          <p:cNvPr id="26" name="Text 20"/>
          <p:cNvSpPr txBox="1"/>
          <p:nvPr/>
        </p:nvSpPr>
        <p:spPr>
          <a:xfrm>
            <a:off x="7187184" y="2788920"/>
            <a:ext cx="148132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pnpm verify: read the counts</a:t>
            </a:r>
            <a:endParaRPr lang="en-US" sz="1400" dirty="0"/>
          </a:p>
        </p:txBody>
      </p:sp>
      <p:sp>
        <p:nvSpPr>
          <p:cNvPr id="27" name="Text 21"/>
          <p:cNvSpPr txBox="1"/>
          <p:nvPr/>
        </p:nvSpPr>
        <p:spPr>
          <a:xfrm>
            <a:off x="457200" y="406908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64748B"/>
                </a:solidFill>
              </a:rPr>
              <a:t>Repeatable work → tools.  Judgement → the agent, fenced in.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1F24"/>
                </a:solidFill>
              </a:rPr>
              <a:t>Three rules for the lab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640080" cy="640080"/>
          </a:xfrm>
          <a:prstGeom prst="ellipse">
            <a:avLst/>
          </a:prstGeom>
          <a:solidFill>
            <a:srgbClr val="1B1F24"/>
          </a:solidFill>
          <a:ln w="12700">
            <a:solidFill>
              <a:srgbClr val="1B1F24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8018" y="1329538"/>
            <a:ext cx="358445" cy="358445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325880" y="1097280"/>
            <a:ext cx="73609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B1F24"/>
                </a:solidFill>
              </a:rPr>
              <a:t>dev = the toolbox</a:t>
            </a:r>
            <a:endParaRPr lang="en-US" sz="1800" dirty="0"/>
          </a:p>
          <a:p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alias dev='docker compose run --rm dev'. Every </a:t>
            </a:r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pnpm X</a:t>
            </a:r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 in the course becomes </a:t>
            </a:r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dev pnpm X</a:t>
            </a:r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.</a:t>
            </a:r>
            <a:endParaRPr lang="en-US" sz="1800" dirty="0"/>
          </a:p>
        </p:txBody>
      </p:sp>
      <p:sp>
        <p:nvSpPr>
          <p:cNvPr id="6" name="Shape 3"/>
          <p:cNvSpPr/>
          <p:nvPr/>
        </p:nvSpPr>
        <p:spPr>
          <a:xfrm>
            <a:off x="457200" y="2331720"/>
            <a:ext cx="640080" cy="640080"/>
          </a:xfrm>
          <a:prstGeom prst="ellipse">
            <a:avLst/>
          </a:prstGeom>
          <a:solidFill>
            <a:srgbClr val="1B1F24"/>
          </a:solidFill>
          <a:ln w="12700">
            <a:solidFill>
              <a:srgbClr val="1B1F24"/>
            </a:solidFill>
            <a:prstDash val="solid"/>
          </a:ln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8018" y="2472538"/>
            <a:ext cx="358445" cy="358445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325880" y="2240280"/>
            <a:ext cx="73609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B1F24"/>
                </a:solidFill>
              </a:rPr>
              <a:t>Counts, not exit codes</a:t>
            </a:r>
            <a:endParaRPr lang="en-US" sz="1800" dirty="0"/>
          </a:p>
          <a:p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Read "Tests N passed" AND "Test Files": a failed beforeAll shows 0 failures in the Tests line and exit 1.</a:t>
            </a:r>
            <a:endParaRPr lang="en-US" sz="1800" dirty="0"/>
          </a:p>
        </p:txBody>
      </p:sp>
      <p:sp>
        <p:nvSpPr>
          <p:cNvPr id="9" name="Shape 5"/>
          <p:cNvSpPr/>
          <p:nvPr/>
        </p:nvSpPr>
        <p:spPr>
          <a:xfrm>
            <a:off x="457200" y="3474720"/>
            <a:ext cx="640080" cy="640080"/>
          </a:xfrm>
          <a:prstGeom prst="ellipse">
            <a:avLst/>
          </a:prstGeom>
          <a:solidFill>
            <a:srgbClr val="1B1F24"/>
          </a:solidFill>
          <a:ln w="12700">
            <a:solidFill>
              <a:srgbClr val="1B1F24"/>
            </a:solidFill>
            <a:prstDash val="solid"/>
          </a:ln>
        </p:spPr>
      </p:sp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8018" y="3615538"/>
            <a:ext cx="358445" cy="358445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325880" y="3383280"/>
            <a:ext cx="73609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B1F24"/>
                </a:solidFill>
              </a:rPr>
              <a:t>Never share a secret</a:t>
            </a:r>
            <a:endParaRPr lang="en-US" sz="1800" dirty="0"/>
          </a:p>
          <a:p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Device secrets, Basic credentials and Inspector URLs (they carry a token) stay in your terminal.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1F24"/>
                </a:solidFill>
              </a:rPr>
              <a:t>Calling the API with Postman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640080" cy="640080"/>
          </a:xfrm>
          <a:prstGeom prst="ellipse">
            <a:avLst/>
          </a:prstGeom>
          <a:solidFill>
            <a:srgbClr val="1B1F24"/>
          </a:solidFill>
          <a:ln w="12700">
            <a:solidFill>
              <a:srgbClr val="1B1F24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8018" y="1329538"/>
            <a:ext cx="358445" cy="358445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325880" y="1097280"/>
            <a:ext cx="73609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B1F24"/>
                </a:solidFill>
              </a:rPr>
              <a:t>Import one file</a:t>
            </a:r>
            <a:endParaRPr lang="en-US" sz="1800" dirty="0"/>
          </a:p>
          <a:p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In the starter: </a:t>
            </a:r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postman/nest-ai-starter.postman_collection.json</a:t>
            </a:r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. baseUrl is http://localhost:3000; the first request in folder 03 signs up the demo user.</a:t>
            </a:r>
            <a:endParaRPr lang="en-US" sz="1800" dirty="0"/>
          </a:p>
        </p:txBody>
      </p:sp>
      <p:sp>
        <p:nvSpPr>
          <p:cNvPr id="6" name="Shape 3"/>
          <p:cNvSpPr/>
          <p:nvPr/>
        </p:nvSpPr>
        <p:spPr>
          <a:xfrm>
            <a:off x="457200" y="2331720"/>
            <a:ext cx="640080" cy="640080"/>
          </a:xfrm>
          <a:prstGeom prst="ellipse">
            <a:avLst/>
          </a:prstGeom>
          <a:solidFill>
            <a:srgbClr val="1B1F24"/>
          </a:solidFill>
          <a:ln w="12700">
            <a:solidFill>
              <a:srgbClr val="1B1F24"/>
            </a:solidFill>
            <a:prstDash val="solid"/>
          </a:ln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8018" y="2472538"/>
            <a:ext cx="358445" cy="358445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325880" y="2240280"/>
            <a:ext cx="73609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B1F24"/>
                </a:solidFill>
              </a:rPr>
              <a:t>Folders follow the labs</a:t>
            </a:r>
            <a:endParaRPr lang="en-US" sz="1800" dirty="0"/>
          </a:p>
          <a:p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Numbered by chapter, and each name says the lite module. Every request has tests: read the Test Results tab, not just the status.</a:t>
            </a:r>
            <a:endParaRPr lang="en-US" sz="1800" dirty="0"/>
          </a:p>
        </p:txBody>
      </p:sp>
      <p:sp>
        <p:nvSpPr>
          <p:cNvPr id="9" name="Shape 5"/>
          <p:cNvSpPr/>
          <p:nvPr/>
        </p:nvSpPr>
        <p:spPr>
          <a:xfrm>
            <a:off x="457200" y="3474720"/>
            <a:ext cx="640080" cy="640080"/>
          </a:xfrm>
          <a:prstGeom prst="ellipse">
            <a:avLst/>
          </a:prstGeom>
          <a:solidFill>
            <a:srgbClr val="1B1F24"/>
          </a:solidFill>
          <a:ln w="12700">
            <a:solidFill>
              <a:srgbClr val="1B1F24"/>
            </a:solidFill>
            <a:prstDash val="solid"/>
          </a:ln>
        </p:spPr>
      </p:sp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8018" y="3615538"/>
            <a:ext cx="358445" cy="358445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325880" y="3383280"/>
            <a:ext cx="73609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B1F24"/>
                </a:solidFill>
              </a:rPr>
              <a:t>It stores a live secret</a:t>
            </a:r>
            <a:endParaRPr lang="en-US" sz="1800" dirty="0"/>
          </a:p>
          <a:p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Issuing credentials saves the device secret in a collection variable. Never export or share the collection after a run.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1F24"/>
                </a:solidFill>
              </a:rPr>
              <a:t>Lab checks: is my lab done?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640080" cy="640080"/>
          </a:xfrm>
          <a:prstGeom prst="ellipse">
            <a:avLst/>
          </a:prstGeom>
          <a:solidFill>
            <a:srgbClr val="1B1F24"/>
          </a:solidFill>
          <a:ln w="12700">
            <a:solidFill>
              <a:srgbClr val="1B1F24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8018" y="1329538"/>
            <a:ext cx="358445" cy="358445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325880" y="1097280"/>
            <a:ext cx="73609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B1F24"/>
                </a:solidFill>
              </a:rPr>
              <a:t>One check per lab</a:t>
            </a:r>
            <a:endParaRPr lang="en-US" sz="1800" dirty="0"/>
          </a:p>
          <a:p>
            <a:pPr indent="0" marL="0">
              <a:buNone/>
            </a:pPr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dev pnpm lab 04</a:t>
            </a:r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 runs the check for lab 04, </a:t>
            </a:r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dev pnpm lab</a:t>
            </a:r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 all of them. Done means </a:t>
            </a:r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Test Files 1 passed</a:t>
            </a:r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 and every test green.</a:t>
            </a:r>
            <a:endParaRPr lang="en-US" sz="1800" dirty="0"/>
          </a:p>
        </p:txBody>
      </p:sp>
      <p:sp>
        <p:nvSpPr>
          <p:cNvPr id="6" name="Shape 3"/>
          <p:cNvSpPr/>
          <p:nvPr/>
        </p:nvSpPr>
        <p:spPr>
          <a:xfrm>
            <a:off x="457200" y="2331720"/>
            <a:ext cx="640080" cy="640080"/>
          </a:xfrm>
          <a:prstGeom prst="ellipse">
            <a:avLst/>
          </a:prstGeom>
          <a:solidFill>
            <a:srgbClr val="1B1F24"/>
          </a:solidFill>
          <a:ln w="12700">
            <a:solidFill>
              <a:srgbClr val="1B1F24"/>
            </a:solidFill>
            <a:prstDash val="solid"/>
          </a:ln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8018" y="2472538"/>
            <a:ext cx="358445" cy="358445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325880" y="2240280"/>
            <a:ext cx="73609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B1F24"/>
                </a:solidFill>
              </a:rPr>
              <a:t>Build labs start red</a:t>
            </a:r>
            <a:endParaRPr lang="en-US" sz="1800" dirty="0"/>
          </a:p>
          <a:p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Labs 01, 02, 04, 06 and 10 fail on the starter, because the feature is not there yet. They pass once you have built it.</a:t>
            </a:r>
            <a:endParaRPr lang="en-US" sz="1800" dirty="0"/>
          </a:p>
        </p:txBody>
      </p:sp>
      <p:sp>
        <p:nvSpPr>
          <p:cNvPr id="9" name="Shape 5"/>
          <p:cNvSpPr/>
          <p:nvPr/>
        </p:nvSpPr>
        <p:spPr>
          <a:xfrm>
            <a:off x="457200" y="3474720"/>
            <a:ext cx="640080" cy="640080"/>
          </a:xfrm>
          <a:prstGeom prst="ellipse">
            <a:avLst/>
          </a:prstGeom>
          <a:solidFill>
            <a:srgbClr val="1B1F24"/>
          </a:solidFill>
          <a:ln w="12700">
            <a:solidFill>
              <a:srgbClr val="1B1F24"/>
            </a:solidFill>
            <a:prstDash val="solid"/>
          </a:ln>
        </p:spPr>
      </p:sp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8018" y="3615538"/>
            <a:ext cx="358445" cy="358445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325880" y="3383280"/>
            <a:ext cx="73609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B1F24"/>
                </a:solidFill>
              </a:rPr>
              <a:t>Guard labs start green</a:t>
            </a:r>
            <a:endParaRPr lang="en-US" sz="1800" dirty="0"/>
          </a:p>
          <a:p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Labs 03, 08 and 09 pass on the starter. Break the rule on purpose, watch the check fail, then put it back.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1F24"/>
                </a:solidFill>
              </a:rPr>
              <a:t>The lite track (draft lab times)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1143000"/>
            <a:ext cx="4023360" cy="475488"/>
          </a:xfrm>
          <a:prstGeom prst="roundRect">
            <a:avLst>
              <a:gd name="adj" fmla="val 11538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94360" y="1143000"/>
            <a:ext cx="3017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B6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  </a:t>
            </a:r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Setup and the loop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3566160" y="1143000"/>
            <a:ext cx="777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64748B"/>
                </a:solidFill>
              </a:rPr>
              <a:t>40'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57200" y="1709928"/>
            <a:ext cx="4023360" cy="475488"/>
          </a:xfrm>
          <a:prstGeom prst="roundRect">
            <a:avLst>
              <a:gd name="adj" fmla="val 11538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94360" y="1709928"/>
            <a:ext cx="3017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B6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  </a:t>
            </a:r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Data: drizzle and zod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3566160" y="1709928"/>
            <a:ext cx="777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64748B"/>
                </a:solidFill>
              </a:rPr>
              <a:t>25'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57200" y="2276856"/>
            <a:ext cx="4023360" cy="475488"/>
          </a:xfrm>
          <a:prstGeom prst="roundRect">
            <a:avLst>
              <a:gd name="adj" fmla="val 11538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94360" y="2276856"/>
            <a:ext cx="3017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B6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  </a:t>
            </a:r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Identity: auth and devices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3566160" y="2276856"/>
            <a:ext cx="777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64748B"/>
                </a:solidFill>
              </a:rPr>
              <a:t>30'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4663440" y="1143000"/>
            <a:ext cx="4023360" cy="475488"/>
          </a:xfrm>
          <a:prstGeom prst="roundRect">
            <a:avLst>
              <a:gd name="adj" fmla="val 11538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800600" y="1143000"/>
            <a:ext cx="3017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B6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  </a:t>
            </a:r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Your first MCP server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7772400" y="1143000"/>
            <a:ext cx="777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64748B"/>
                </a:solidFill>
              </a:rPr>
              <a:t>30'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4663440" y="1709928"/>
            <a:ext cx="4023360" cy="475488"/>
          </a:xfrm>
          <a:prstGeom prst="roundRect">
            <a:avLst>
              <a:gd name="adj" fmla="val 11538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800600" y="1709928"/>
            <a:ext cx="3017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B6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  </a:t>
            </a:r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Inspector and transports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7772400" y="1709928"/>
            <a:ext cx="777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64748B"/>
                </a:solidFill>
              </a:rPr>
              <a:t>25'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4663440" y="2276856"/>
            <a:ext cx="4023360" cy="475488"/>
          </a:xfrm>
          <a:prstGeom prst="roundRect">
            <a:avLst>
              <a:gd name="adj" fmla="val 11538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4800600" y="2276856"/>
            <a:ext cx="3017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B6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  </a:t>
            </a:r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Secure MCP, then the capstone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7772400" y="2276856"/>
            <a:ext cx="777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64748B"/>
                </a:solidFill>
              </a:rPr>
              <a:t>20'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10972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1FB68A"/>
                </a:solidFill>
              </a:rPr>
              <a:t>MODULE 1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1508760"/>
            <a:ext cx="8046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Setup and the loop</a:t>
            </a:r>
            <a:endParaRPr lang="en-US" sz="4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2560320"/>
            <a:ext cx="5669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CBD5E1"/>
                </a:solidFill>
              </a:rPr>
              <a:t>Start the stack, then add an </a:t>
            </a:r>
            <a:pPr indent="0" marL="0">
              <a:buNone/>
            </a:pPr>
            <a:r>
              <a:rPr lang="en-US" sz="1800" dirty="0">
                <a:solidFill>
                  <a:srgbClr val="CBD5E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orders</a:t>
            </a:r>
            <a:pPr indent="0" marL="0">
              <a:buNone/>
            </a:pPr>
            <a:r>
              <a:rPr lang="en-US" sz="1800" dirty="0">
                <a:solidFill>
                  <a:srgbClr val="CBD5E1"/>
                </a:solidFill>
              </a:rPr>
              <a:t> resource: generate → template → fill → verify.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6675120" y="2560320"/>
            <a:ext cx="2011680" cy="1097280"/>
          </a:xfrm>
          <a:prstGeom prst="roundRect">
            <a:avLst>
              <a:gd name="adj" fmla="val 8333"/>
            </a:avLst>
          </a:prstGeom>
          <a:solidFill>
            <a:srgbClr val="2B3440"/>
          </a:solidFill>
          <a:ln w="12700">
            <a:solidFill>
              <a:srgbClr val="2B344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858000" y="2788920"/>
            <a:ext cx="640080" cy="640080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98818" y="2929738"/>
            <a:ext cx="358445" cy="358445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7589520" y="2697480"/>
            <a:ext cx="1051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40 min</a:t>
            </a:r>
            <a:endParaRPr lang="en-US" sz="2200" dirty="0"/>
          </a:p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</a:rPr>
              <a:t>lab (draft)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4A3B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1F24"/>
                </a:solidFill>
              </a:rPr>
              <a:t>Run this: stack up, then an orders resource</a:t>
            </a:r>
            <a:endParaRPr lang="en-US" sz="3200" dirty="0"/>
          </a:p>
        </p:txBody>
      </p:sp>
      <p:sp>
        <p:nvSpPr>
          <p:cNvPr id="3" name="terminal"/>
          <p:cNvSpPr/>
          <p:nvPr/>
        </p:nvSpPr>
        <p:spPr>
          <a:xfrm>
            <a:off x="457200" y="1097280"/>
            <a:ext cx="8229600" cy="3520440"/>
          </a:xfrm>
          <a:prstGeom prst="roundRect">
            <a:avLst>
              <a:gd name="adj" fmla="val 2078"/>
            </a:avLst>
          </a:prstGeom>
          <a:solidFill>
            <a:srgbClr val="1B1F24"/>
          </a:solidFill>
          <a:ln w="12700">
            <a:solidFill>
              <a:srgbClr val="1B1F2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225296"/>
            <a:ext cx="109728" cy="109728"/>
          </a:xfrm>
          <a:prstGeom prst="ellipse">
            <a:avLst/>
          </a:prstGeom>
          <a:solidFill>
            <a:srgbClr val="E5484D"/>
          </a:solidFill>
          <a:ln w="12700">
            <a:solidFill>
              <a:srgbClr val="E5484D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225296"/>
            <a:ext cx="109728" cy="109728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05840" y="1225296"/>
            <a:ext cx="109728" cy="10972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280160" y="1152144"/>
            <a:ext cx="7223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1 · run this</a:t>
            </a:r>
            <a:endParaRPr lang="en-US" sz="1000" dirty="0"/>
          </a:p>
        </p:txBody>
      </p:sp>
      <p:sp>
        <p:nvSpPr>
          <p:cNvPr id="8" name="terminal-text"/>
          <p:cNvSpPr txBox="1"/>
          <p:nvPr/>
        </p:nvSpPr>
        <p:spPr>
          <a:xfrm>
            <a:off x="685800" y="1481328"/>
            <a:ext cx="777240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cd boilerplate/nest-ai-starter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docker compose up -d --build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alias dev='docker compose run --rm dev'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dev pnpm verify                # 67 + 61 tests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write specs/orders.md (copy specs/notes.md), then: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dev pnpm exec nest g resource orders --type rest --crud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dev pnpm resource:template --name order --plural orders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dev pnpm check:ai-fill         # your agent's to-do list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your agent fills every AI-FILL marker, then: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dev pnpm verify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dev pnpm lab 01   # the lab check: all green?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1F24"/>
                </a:solidFill>
              </a:rPr>
              <a:t>Checkpoint: stack green, markers to zero</a:t>
            </a:r>
            <a:endParaRPr lang="en-US" sz="3200" dirty="0"/>
          </a:p>
        </p:txBody>
      </p:sp>
      <p:sp>
        <p:nvSpPr>
          <p:cNvPr id="3" name="terminal"/>
          <p:cNvSpPr/>
          <p:nvPr/>
        </p:nvSpPr>
        <p:spPr>
          <a:xfrm>
            <a:off x="457200" y="1097280"/>
            <a:ext cx="5029200" cy="3520440"/>
          </a:xfrm>
          <a:prstGeom prst="roundRect">
            <a:avLst>
              <a:gd name="adj" fmla="val 2078"/>
            </a:avLst>
          </a:prstGeom>
          <a:solidFill>
            <a:srgbClr val="1B1F24"/>
          </a:solidFill>
          <a:ln w="12700">
            <a:solidFill>
              <a:srgbClr val="1B1F2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225296"/>
            <a:ext cx="109728" cy="109728"/>
          </a:xfrm>
          <a:prstGeom prst="ellipse">
            <a:avLst/>
          </a:prstGeom>
          <a:solidFill>
            <a:srgbClr val="E5484D"/>
          </a:solidFill>
          <a:ln w="12700">
            <a:solidFill>
              <a:srgbClr val="E5484D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225296"/>
            <a:ext cx="109728" cy="109728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05840" y="1225296"/>
            <a:ext cx="109728" cy="10972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280160" y="1152144"/>
            <a:ext cx="4023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output: captured, then expected</a:t>
            </a:r>
            <a:endParaRPr lang="en-US" sz="1000" dirty="0"/>
          </a:p>
        </p:txBody>
      </p:sp>
      <p:sp>
        <p:nvSpPr>
          <p:cNvPr id="8" name="terminal-text"/>
          <p:cNvSpPr txBox="1"/>
          <p:nvPr/>
        </p:nvSpPr>
        <p:spPr>
          <a:xfrm>
            <a:off x="685800" y="1481328"/>
            <a:ext cx="457200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docker compose ps -a  (STATUS)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       Up … (healthy)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migrate   Exited (0)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dev pnpm verify (before your resource)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Tests  67 passed (67)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Tests  61 passed (61)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after the template step (captured)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files written: 11;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AI-FILL markers to complete: 16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after your agent (expected)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AI-FILL markers: 0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5852160" y="109728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1F24"/>
                </a:solidFill>
              </a:rPr>
              <a:t>Done when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5852160" y="1645920"/>
            <a:ext cx="384048" cy="38404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36651" y="1730411"/>
            <a:ext cx="215067" cy="215067"/>
          </a:xfrm>
          <a:prstGeom prst="rect">
            <a:avLst/>
          </a:prstGeom>
        </p:spPr>
      </p:pic>
      <p:sp>
        <p:nvSpPr>
          <p:cNvPr id="12" name="Text 9"/>
          <p:cNvSpPr txBox="1"/>
          <p:nvPr/>
        </p:nvSpPr>
        <p:spPr>
          <a:xfrm>
            <a:off x="6355080" y="1609344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dev pnpm lab 01</a:t>
            </a:r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: every test passes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5852160" y="2377440"/>
            <a:ext cx="384048" cy="38404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36651" y="2461931"/>
            <a:ext cx="215067" cy="215067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6355080" y="2340864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app healthy, migrate exited 0, both gates green</a:t>
            </a:r>
            <a:endParaRPr lang="en-US" sz="1400" dirty="0"/>
          </a:p>
        </p:txBody>
      </p:sp>
      <p:sp>
        <p:nvSpPr>
          <p:cNvPr id="16" name="Shape 12"/>
          <p:cNvSpPr/>
          <p:nvPr/>
        </p:nvSpPr>
        <p:spPr>
          <a:xfrm>
            <a:off x="5852160" y="3108960"/>
            <a:ext cx="384048" cy="38404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36651" y="3193451"/>
            <a:ext cx="215067" cy="215067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6355080" y="3072384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check:ai-fill prints 0 markers</a:t>
            </a:r>
            <a:endParaRPr lang="en-US" sz="1400" dirty="0"/>
          </a:p>
        </p:txBody>
      </p:sp>
      <p:sp>
        <p:nvSpPr>
          <p:cNvPr id="19" name="Shape 14"/>
          <p:cNvSpPr/>
          <p:nvPr/>
        </p:nvSpPr>
        <p:spPr>
          <a:xfrm>
            <a:off x="5852160" y="3840480"/>
            <a:ext cx="384048" cy="38404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36651" y="3924971"/>
            <a:ext cx="215067" cy="215067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6355080" y="3803904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delete one service rule: exactly one test goes red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1F24"/>
                </a:solidFill>
              </a:rPr>
              <a:t>If you are stuck: module 1</a:t>
            </a:r>
            <a:endParaRPr lang="en-US" sz="3200" dirty="0"/>
          </a:p>
        </p:txBody>
      </p:sp>
      <p:sp>
        <p:nvSpPr>
          <p:cNvPr id="3" name="snag-1"/>
          <p:cNvSpPr/>
          <p:nvPr/>
        </p:nvSpPr>
        <p:spPr>
          <a:xfrm>
            <a:off x="457200" y="1097280"/>
            <a:ext cx="8229600" cy="1051560"/>
          </a:xfrm>
          <a:prstGeom prst="roundRect">
            <a:avLst>
              <a:gd name="adj" fmla="val 6957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85800" y="1371600"/>
            <a:ext cx="502920" cy="502920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6442" y="1482242"/>
            <a:ext cx="281635" cy="281635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417320" y="1188720"/>
            <a:ext cx="7086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1F24"/>
                </a:solidFill>
              </a:rPr>
              <a:t>A port is already in use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Something local owns 5432, 6379 or 3000. Stop it, or change the LEFT side of that </a:t>
            </a:r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ports:</a:t>
            </a:r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 entry.</a:t>
            </a:r>
            <a:endParaRPr lang="en-US" sz="1600" dirty="0"/>
          </a:p>
        </p:txBody>
      </p:sp>
      <p:sp>
        <p:nvSpPr>
          <p:cNvPr id="7" name="snag-2"/>
          <p:cNvSpPr/>
          <p:nvPr/>
        </p:nvSpPr>
        <p:spPr>
          <a:xfrm>
            <a:off x="457200" y="2286000"/>
            <a:ext cx="8229600" cy="1051560"/>
          </a:xfrm>
          <a:prstGeom prst="roundRect">
            <a:avLst>
              <a:gd name="adj" fmla="val 6957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685800" y="2560320"/>
            <a:ext cx="502920" cy="502920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6442" y="2670962"/>
            <a:ext cx="281635" cy="281635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1417320" y="2377440"/>
            <a:ext cx="7086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1F24"/>
                </a:solidFill>
              </a:rPr>
              <a:t>"Run step 1 first"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The template script refuses before </a:t>
            </a:r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nest g resource</a:t>
            </a:r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, and refuses a second run. Never use --force after filling.</a:t>
            </a:r>
            <a:endParaRPr lang="en-US" sz="1600" dirty="0"/>
          </a:p>
        </p:txBody>
      </p:sp>
      <p:sp>
        <p:nvSpPr>
          <p:cNvPr id="11" name="snag-3"/>
          <p:cNvSpPr/>
          <p:nvPr/>
        </p:nvSpPr>
        <p:spPr>
          <a:xfrm>
            <a:off x="457200" y="3474720"/>
            <a:ext cx="8229600" cy="1051560"/>
          </a:xfrm>
          <a:prstGeom prst="roundRect">
            <a:avLst>
              <a:gd name="adj" fmla="val 6957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685800" y="3749040"/>
            <a:ext cx="502920" cy="502920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6442" y="3859682"/>
            <a:ext cx="281635" cy="281635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1417320" y="3566160"/>
            <a:ext cx="7086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1F24"/>
                </a:solidFill>
              </a:rPr>
              <a:t>Unit green, e2e red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Validation, defaults and status codes live at the HTTP boundary. Only e2e sees them.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10972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1FB68A"/>
                </a:solidFill>
              </a:rPr>
              <a:t>MODULE 2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1508760"/>
            <a:ext cx="8046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Data: drizzle and zod</a:t>
            </a:r>
            <a:endParaRPr lang="en-US" sz="4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2560320"/>
            <a:ext cx="5669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CBD5E1"/>
                </a:solidFill>
              </a:rPr>
              <a:t>Add a </a:t>
            </a:r>
            <a:pPr indent="0" marL="0">
              <a:buNone/>
            </a:pPr>
            <a:r>
              <a:rPr lang="en-US" sz="1800" dirty="0">
                <a:solidFill>
                  <a:srgbClr val="CBD5E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phone</a:t>
            </a:r>
            <a:pPr indent="0" marL="0">
              <a:buNone/>
            </a:pPr>
            <a:r>
              <a:rPr lang="en-US" sz="1800" dirty="0">
                <a:solidFill>
                  <a:srgbClr val="CBD5E1"/>
                </a:solidFill>
              </a:rPr>
              <a:t> column and watch the migration checks work for you.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6675120" y="2560320"/>
            <a:ext cx="2011680" cy="1097280"/>
          </a:xfrm>
          <a:prstGeom prst="roundRect">
            <a:avLst>
              <a:gd name="adj" fmla="val 8333"/>
            </a:avLst>
          </a:prstGeom>
          <a:solidFill>
            <a:srgbClr val="2B3440"/>
          </a:solidFill>
          <a:ln w="12700">
            <a:solidFill>
              <a:srgbClr val="2B344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858000" y="2788920"/>
            <a:ext cx="640080" cy="640080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98818" y="2929738"/>
            <a:ext cx="358445" cy="358445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7589520" y="2697480"/>
            <a:ext cx="1051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25 min</a:t>
            </a:r>
            <a:endParaRPr lang="en-US" sz="2200" dirty="0"/>
          </a:p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</a:rPr>
              <a:t>lab (draft)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4A3B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1F24"/>
                </a:solidFill>
              </a:rPr>
              <a:t>Run this: add a phone column</a:t>
            </a:r>
            <a:endParaRPr lang="en-US" sz="3200" dirty="0"/>
          </a:p>
        </p:txBody>
      </p:sp>
      <p:sp>
        <p:nvSpPr>
          <p:cNvPr id="3" name="terminal"/>
          <p:cNvSpPr/>
          <p:nvPr/>
        </p:nvSpPr>
        <p:spPr>
          <a:xfrm>
            <a:off x="457200" y="1097280"/>
            <a:ext cx="8229600" cy="3520440"/>
          </a:xfrm>
          <a:prstGeom prst="roundRect">
            <a:avLst>
              <a:gd name="adj" fmla="val 2078"/>
            </a:avLst>
          </a:prstGeom>
          <a:solidFill>
            <a:srgbClr val="1B1F24"/>
          </a:solidFill>
          <a:ln w="12700">
            <a:solidFill>
              <a:srgbClr val="1B1F2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225296"/>
            <a:ext cx="109728" cy="109728"/>
          </a:xfrm>
          <a:prstGeom prst="ellipse">
            <a:avLst/>
          </a:prstGeom>
          <a:solidFill>
            <a:srgbClr val="E5484D"/>
          </a:solidFill>
          <a:ln w="12700">
            <a:solidFill>
              <a:srgbClr val="E5484D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225296"/>
            <a:ext cx="109728" cy="109728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05840" y="1225296"/>
            <a:ext cx="109728" cy="10972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280160" y="1152144"/>
            <a:ext cx="7223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2 · run this</a:t>
            </a:r>
            <a:endParaRPr lang="en-US" sz="1000" dirty="0"/>
          </a:p>
        </p:txBody>
      </p:sp>
      <p:sp>
        <p:nvSpPr>
          <p:cNvPr id="8" name="terminal-text"/>
          <p:cNvSpPr txBox="1"/>
          <p:nvPr/>
        </p:nvSpPr>
        <p:spPr>
          <a:xfrm>
            <a:off x="685800" y="1481328"/>
            <a:ext cx="777240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1. specs/users.md: phone (optional, E.164)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2. user.schema.ts + users.table.ts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dev pnpm check:migrations   # FAILS: drift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dev pnpm db:generate        # READ the SQL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dev pnpm check:migrations   # clean now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dev pnpm verify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docker compose up -d --build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docker compose logs migrate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dev pnpm lab 02   # the lab check: all green?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1F24"/>
                </a:solidFill>
              </a:rPr>
              <a:t>Checkpoint: drift caught, ledger grows</a:t>
            </a:r>
            <a:endParaRPr lang="en-US" sz="3200" dirty="0"/>
          </a:p>
        </p:txBody>
      </p:sp>
      <p:sp>
        <p:nvSpPr>
          <p:cNvPr id="3" name="terminal"/>
          <p:cNvSpPr/>
          <p:nvPr/>
        </p:nvSpPr>
        <p:spPr>
          <a:xfrm>
            <a:off x="457200" y="1097280"/>
            <a:ext cx="5029200" cy="3520440"/>
          </a:xfrm>
          <a:prstGeom prst="roundRect">
            <a:avLst>
              <a:gd name="adj" fmla="val 2078"/>
            </a:avLst>
          </a:prstGeom>
          <a:solidFill>
            <a:srgbClr val="1B1F24"/>
          </a:solidFill>
          <a:ln w="12700">
            <a:solidFill>
              <a:srgbClr val="1B1F2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225296"/>
            <a:ext cx="109728" cy="109728"/>
          </a:xfrm>
          <a:prstGeom prst="ellipse">
            <a:avLst/>
          </a:prstGeom>
          <a:solidFill>
            <a:srgbClr val="E5484D"/>
          </a:solidFill>
          <a:ln w="12700">
            <a:solidFill>
              <a:srgbClr val="E5484D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225296"/>
            <a:ext cx="109728" cy="109728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05840" y="1225296"/>
            <a:ext cx="109728" cy="10972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280160" y="1152144"/>
            <a:ext cx="4023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output: captured messages, expected count</a:t>
            </a:r>
            <a:endParaRPr lang="en-US" sz="1000" dirty="0"/>
          </a:p>
        </p:txBody>
      </p:sp>
      <p:sp>
        <p:nvSpPr>
          <p:cNvPr id="8" name="terminal-text"/>
          <p:cNvSpPr txBox="1"/>
          <p:nvPr/>
        </p:nvSpPr>
        <p:spPr>
          <a:xfrm>
            <a:off x="685800" y="1481328"/>
            <a:ext cx="457200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before db:generate (captured)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check-migrations: DRIFT - tables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changed without a migration.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db:generate (captured format)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[✓] Your SQL migration file ➜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drizzle/0003_….sql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after up -d --build (expected)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db:migrate: ledger rows: 4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5852160" y="109728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1F24"/>
                </a:solidFill>
              </a:rPr>
              <a:t>Done when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5852160" y="1645920"/>
            <a:ext cx="384048" cy="38404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36651" y="1730411"/>
            <a:ext cx="215067" cy="215067"/>
          </a:xfrm>
          <a:prstGeom prst="rect">
            <a:avLst/>
          </a:prstGeom>
        </p:spPr>
      </p:pic>
      <p:sp>
        <p:nvSpPr>
          <p:cNvPr id="12" name="Text 9"/>
          <p:cNvSpPr txBox="1"/>
          <p:nvPr/>
        </p:nvSpPr>
        <p:spPr>
          <a:xfrm>
            <a:off x="6355080" y="1609344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dev pnpm lab 02</a:t>
            </a:r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: every test passes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5852160" y="2377440"/>
            <a:ext cx="384048" cy="38404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36651" y="2461931"/>
            <a:ext cx="215067" cy="215067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6355080" y="2340864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check:migrations failed BEFORE generating</a:t>
            </a:r>
            <a:endParaRPr lang="en-US" sz="1400" dirty="0"/>
          </a:p>
        </p:txBody>
      </p:sp>
      <p:sp>
        <p:nvSpPr>
          <p:cNvPr id="16" name="Shape 12"/>
          <p:cNvSpPr/>
          <p:nvPr/>
        </p:nvSpPr>
        <p:spPr>
          <a:xfrm>
            <a:off x="5852160" y="3108960"/>
            <a:ext cx="384048" cy="38404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36651" y="3193451"/>
            <a:ext cx="215067" cy="215067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6355080" y="3072384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you read the SQL in </a:t>
            </a:r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drizzle/0003_*</a:t>
            </a:r>
            <a:pPr indent="0" marL="0">
              <a:buNone/>
            </a:pPr>
            <a:endParaRPr lang="en-US" sz="1400" dirty="0"/>
          </a:p>
        </p:txBody>
      </p:sp>
      <p:sp>
        <p:nvSpPr>
          <p:cNvPr id="19" name="Shape 14"/>
          <p:cNvSpPr/>
          <p:nvPr/>
        </p:nvSpPr>
        <p:spPr>
          <a:xfrm>
            <a:off x="5852160" y="3840480"/>
            <a:ext cx="384048" cy="38404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36651" y="3924971"/>
            <a:ext cx="215067" cy="215067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6355080" y="3803904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ledger rows: 4; phone appears in responses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1F24"/>
                </a:solidFill>
              </a:rPr>
              <a:t>If you are stuck: module 2</a:t>
            </a:r>
            <a:endParaRPr lang="en-US" sz="3200" dirty="0"/>
          </a:p>
        </p:txBody>
      </p:sp>
      <p:sp>
        <p:nvSpPr>
          <p:cNvPr id="3" name="snag-1"/>
          <p:cNvSpPr/>
          <p:nvPr/>
        </p:nvSpPr>
        <p:spPr>
          <a:xfrm>
            <a:off x="457200" y="1097280"/>
            <a:ext cx="8229600" cy="1051560"/>
          </a:xfrm>
          <a:prstGeom prst="roundRect">
            <a:avLst>
              <a:gd name="adj" fmla="val 6957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85800" y="1371600"/>
            <a:ext cx="502920" cy="502920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6442" y="1482242"/>
            <a:ext cx="281635" cy="281635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417320" y="1188720"/>
            <a:ext cx="7086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1F24"/>
                </a:solidFill>
              </a:rPr>
              <a:t>All tests pass, check fails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Correct: tests run on the MIGRATION SQL (PGlite), not your TypeScript table. Generate the migration.</a:t>
            </a:r>
            <a:endParaRPr lang="en-US" sz="1600" dirty="0"/>
          </a:p>
        </p:txBody>
      </p:sp>
      <p:sp>
        <p:nvSpPr>
          <p:cNvPr id="7" name="snag-2"/>
          <p:cNvSpPr/>
          <p:nvPr/>
        </p:nvSpPr>
        <p:spPr>
          <a:xfrm>
            <a:off x="457200" y="2286000"/>
            <a:ext cx="8229600" cy="1051560"/>
          </a:xfrm>
          <a:prstGeom prst="roundRect">
            <a:avLst>
              <a:gd name="adj" fmla="val 6957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685800" y="2560320"/>
            <a:ext cx="502920" cy="502920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6442" y="2670962"/>
            <a:ext cx="281635" cy="281635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1417320" y="2377440"/>
            <a:ext cx="7086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1F24"/>
                </a:solidFill>
              </a:rPr>
              <a:t>Drift test fails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The zod schema and the table must declare exactly the same fields, with the same TS names.</a:t>
            </a:r>
            <a:endParaRPr lang="en-US" sz="1600" dirty="0"/>
          </a:p>
        </p:txBody>
      </p:sp>
      <p:sp>
        <p:nvSpPr>
          <p:cNvPr id="11" name="snag-3"/>
          <p:cNvSpPr/>
          <p:nvPr/>
        </p:nvSpPr>
        <p:spPr>
          <a:xfrm>
            <a:off x="457200" y="3474720"/>
            <a:ext cx="8229600" cy="1051560"/>
          </a:xfrm>
          <a:prstGeom prst="roundRect">
            <a:avLst>
              <a:gd name="adj" fmla="val 6957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685800" y="3749040"/>
            <a:ext cx="502920" cy="502920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6442" y="3859682"/>
            <a:ext cx="281635" cy="281635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1417320" y="3566160"/>
            <a:ext cx="7086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1F24"/>
                </a:solidFill>
              </a:rPr>
              <a:t>The generated SQL says NOT NULL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That fails on populated tables (measured). Use nullable, then backfill, then SET NOT NULL.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10972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1FB68A"/>
                </a:solidFill>
              </a:rPr>
              <a:t>MODULE 3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1508760"/>
            <a:ext cx="8046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Identity: auth and devices</a:t>
            </a:r>
            <a:endParaRPr lang="en-US" sz="4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2560320"/>
            <a:ext cx="5669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CBD5E1"/>
                </a:solidFill>
              </a:rPr>
              <a:t>Break the "one identical 401" rule on purpose, then issue and rotate device credentials.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6675120" y="2560320"/>
            <a:ext cx="2011680" cy="1097280"/>
          </a:xfrm>
          <a:prstGeom prst="roundRect">
            <a:avLst>
              <a:gd name="adj" fmla="val 8333"/>
            </a:avLst>
          </a:prstGeom>
          <a:solidFill>
            <a:srgbClr val="2B3440"/>
          </a:solidFill>
          <a:ln w="12700">
            <a:solidFill>
              <a:srgbClr val="2B344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858000" y="2788920"/>
            <a:ext cx="640080" cy="640080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98818" y="2929738"/>
            <a:ext cx="358445" cy="358445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7589520" y="2697480"/>
            <a:ext cx="1051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30 min</a:t>
            </a:r>
            <a:endParaRPr lang="en-US" sz="2200" dirty="0"/>
          </a:p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</a:rPr>
              <a:t>lab (draft)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4A3B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1F24"/>
                </a:solidFill>
              </a:rPr>
              <a:t>Run this: break the 401, then rotate a key</a:t>
            </a:r>
            <a:endParaRPr lang="en-US" sz="3200" dirty="0"/>
          </a:p>
        </p:txBody>
      </p:sp>
      <p:sp>
        <p:nvSpPr>
          <p:cNvPr id="3" name="terminal"/>
          <p:cNvSpPr/>
          <p:nvPr/>
        </p:nvSpPr>
        <p:spPr>
          <a:xfrm>
            <a:off x="457200" y="1097280"/>
            <a:ext cx="5212080" cy="3520440"/>
          </a:xfrm>
          <a:prstGeom prst="roundRect">
            <a:avLst>
              <a:gd name="adj" fmla="val 2078"/>
            </a:avLst>
          </a:prstGeom>
          <a:solidFill>
            <a:srgbClr val="1B1F24"/>
          </a:solidFill>
          <a:ln w="12700">
            <a:solidFill>
              <a:srgbClr val="1B1F2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225296"/>
            <a:ext cx="109728" cy="109728"/>
          </a:xfrm>
          <a:prstGeom prst="ellipse">
            <a:avLst/>
          </a:prstGeom>
          <a:solidFill>
            <a:srgbClr val="E5484D"/>
          </a:solidFill>
          <a:ln w="12700">
            <a:solidFill>
              <a:srgbClr val="E5484D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225296"/>
            <a:ext cx="109728" cy="109728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05840" y="1225296"/>
            <a:ext cx="109728" cy="10972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280160" y="1152144"/>
            <a:ext cx="4206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3 · run this</a:t>
            </a:r>
            <a:endParaRPr lang="en-US" sz="1000" dirty="0"/>
          </a:p>
        </p:txBody>
      </p:sp>
      <p:sp>
        <p:nvSpPr>
          <p:cNvPr id="8" name="terminal-text"/>
          <p:cNvSpPr txBox="1"/>
          <p:nvPr/>
        </p:nvSpPr>
        <p:spPr>
          <a:xfrm>
            <a:off x="685800" y="1481328"/>
            <a:ext cx="475488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send folder 03, then the lab: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unknown emails get a different message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dev pnpm test:e2e   # which test fails?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re-send 03 in Postman, then revert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then send folder 04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dev pnpm lab 03 04   # the lab check: all green?</a:t>
            </a:r>
            <a:endParaRPr lang="en-US" sz="1200" dirty="0"/>
          </a:p>
        </p:txBody>
      </p:sp>
      <p:sp>
        <p:nvSpPr>
          <p:cNvPr id="9" name="postman"/>
          <p:cNvSpPr/>
          <p:nvPr/>
        </p:nvSpPr>
        <p:spPr>
          <a:xfrm>
            <a:off x="5852160" y="1097280"/>
            <a:ext cx="2834640" cy="3520440"/>
          </a:xfrm>
          <a:prstGeom prst="roundRect">
            <a:avLst>
              <a:gd name="adj" fmla="val 2581"/>
            </a:avLst>
          </a:prstGeom>
          <a:solidFill>
            <a:srgbClr val="EF5B25"/>
          </a:solidFill>
          <a:ln w="12700">
            <a:solidFill>
              <a:srgbClr val="EF5B25"/>
            </a:solidFill>
            <a:prstDash val="solid"/>
          </a:ln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35040" y="1252728"/>
            <a:ext cx="237744" cy="237744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6355080" y="1207008"/>
            <a:ext cx="2148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In Postman</a:t>
            </a:r>
            <a:endParaRPr lang="en-US" sz="1600" dirty="0"/>
          </a:p>
        </p:txBody>
      </p:sp>
      <p:sp>
        <p:nvSpPr>
          <p:cNvPr id="12" name="postman-requests"/>
          <p:cNvSpPr txBox="1"/>
          <p:nvPr/>
        </p:nvSpPr>
        <p:spPr>
          <a:xfrm>
            <a:off x="6035040" y="1645920"/>
            <a:ext cx="246888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03 · Auth (lite module 3)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1. Sign up (public)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2. Me: no credentials → 401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3. Me: unknown email → the same 401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4. Me (Basic auth)</a:t>
            </a:r>
            <a:endParaRPr lang="en-US" sz="1300" dirty="0"/>
          </a:p>
          <a:p>
            <a:pPr indent="0" marL="0">
              <a:spcBef>
                <a:spcPts val="600"/>
              </a:spcBef>
              <a:buNone/>
            </a:pPr>
            <a:r>
              <a:rPr lang="en-US" sz="1300" b="1" dirty="0">
                <a:solidFill>
                  <a:srgbClr val="FFFFFF"/>
                </a:solidFill>
              </a:rPr>
              <a:t>04 · Devices (lite module 3)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1. Create device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2. Issue credentials (secret shown once)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3. Activate device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4. Get device (no secret, no hash)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1F24"/>
                </a:solidFill>
              </a:rPr>
              <a:t>Checkpoint: one 401, one secret</a:t>
            </a:r>
            <a:endParaRPr lang="en-US" sz="3200" dirty="0"/>
          </a:p>
        </p:txBody>
      </p:sp>
      <p:sp>
        <p:nvSpPr>
          <p:cNvPr id="3" name="terminal"/>
          <p:cNvSpPr/>
          <p:nvPr/>
        </p:nvSpPr>
        <p:spPr>
          <a:xfrm>
            <a:off x="457200" y="1097280"/>
            <a:ext cx="5029200" cy="3520440"/>
          </a:xfrm>
          <a:prstGeom prst="roundRect">
            <a:avLst>
              <a:gd name="adj" fmla="val 2078"/>
            </a:avLst>
          </a:prstGeom>
          <a:solidFill>
            <a:srgbClr val="1B1F24"/>
          </a:solidFill>
          <a:ln w="12700">
            <a:solidFill>
              <a:srgbClr val="1B1F2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225296"/>
            <a:ext cx="109728" cy="109728"/>
          </a:xfrm>
          <a:prstGeom prst="ellipse">
            <a:avLst/>
          </a:prstGeom>
          <a:solidFill>
            <a:srgbClr val="E5484D"/>
          </a:solidFill>
          <a:ln w="12700">
            <a:solidFill>
              <a:srgbClr val="E5484D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225296"/>
            <a:ext cx="109728" cy="109728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05840" y="1225296"/>
            <a:ext cx="109728" cy="10972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280160" y="1152144"/>
            <a:ext cx="4023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output: from the code, then expected</a:t>
            </a:r>
            <a:endParaRPr lang="en-US" sz="1000" dirty="0"/>
          </a:p>
        </p:txBody>
      </p:sp>
      <p:sp>
        <p:nvSpPr>
          <p:cNvPr id="8" name="terminal-text"/>
          <p:cNvSpPr txBox="1"/>
          <p:nvPr/>
        </p:nvSpPr>
        <p:spPr>
          <a:xfrm>
            <a:off x="685800" y="1481328"/>
            <a:ext cx="457200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HTTP/1.1 401 Unauthorized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WWW-Authenticate: Basic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realm="nest-ai-starter", charset="UTF-8"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after your change, e2e reports: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× every failure is the SAME 401 …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GET device (expected)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"status":"active", "secretLast4":"…"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POST …/credentials (expected)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"secret":"dsk_…"   (shown ONCE)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5852160" y="109728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1F24"/>
                </a:solidFill>
              </a:rPr>
              <a:t>Done when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5852160" y="1645920"/>
            <a:ext cx="384048" cy="38404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36651" y="1730411"/>
            <a:ext cx="215067" cy="215067"/>
          </a:xfrm>
          <a:prstGeom prst="rect">
            <a:avLst/>
          </a:prstGeom>
        </p:spPr>
      </p:pic>
      <p:sp>
        <p:nvSpPr>
          <p:cNvPr id="12" name="Text 9"/>
          <p:cNvSpPr txBox="1"/>
          <p:nvPr/>
        </p:nvSpPr>
        <p:spPr>
          <a:xfrm>
            <a:off x="6355080" y="1609344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dev pnpm lab 03 04</a:t>
            </a:r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: every test passes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5852160" y="2377440"/>
            <a:ext cx="384048" cy="38404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36651" y="2461931"/>
            <a:ext cx="215067" cy="215067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6355080" y="2340864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you saw the test that pins the 401 rule fail, then reverted</a:t>
            </a:r>
            <a:endParaRPr lang="en-US" sz="1400" dirty="0"/>
          </a:p>
        </p:txBody>
      </p:sp>
      <p:sp>
        <p:nvSpPr>
          <p:cNvPr id="16" name="Shape 12"/>
          <p:cNvSpPr/>
          <p:nvPr/>
        </p:nvSpPr>
        <p:spPr>
          <a:xfrm>
            <a:off x="5852160" y="3108960"/>
            <a:ext cx="384048" cy="38404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36651" y="3193451"/>
            <a:ext cx="215067" cy="215067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6355080" y="3072384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no response but /credentials ever shows a secret</a:t>
            </a:r>
            <a:endParaRPr lang="en-US" sz="1400" dirty="0"/>
          </a:p>
        </p:txBody>
      </p:sp>
      <p:sp>
        <p:nvSpPr>
          <p:cNvPr id="19" name="Shape 14"/>
          <p:cNvSpPr/>
          <p:nvPr/>
        </p:nvSpPr>
        <p:spPr>
          <a:xfrm>
            <a:off x="5852160" y="3840480"/>
            <a:ext cx="384048" cy="38404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36651" y="3924971"/>
            <a:ext cx="215067" cy="215067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6355080" y="3803904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another user's device → 404, not 403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1F24"/>
                </a:solidFill>
              </a:rPr>
              <a:t>If you are stuck: module 3</a:t>
            </a:r>
            <a:endParaRPr lang="en-US" sz="3200" dirty="0"/>
          </a:p>
        </p:txBody>
      </p:sp>
      <p:sp>
        <p:nvSpPr>
          <p:cNvPr id="3" name="snag-1"/>
          <p:cNvSpPr/>
          <p:nvPr/>
        </p:nvSpPr>
        <p:spPr>
          <a:xfrm>
            <a:off x="457200" y="1097280"/>
            <a:ext cx="8229600" cy="1051560"/>
          </a:xfrm>
          <a:prstGeom prst="roundRect">
            <a:avLst>
              <a:gd name="adj" fmla="val 6957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85800" y="1371600"/>
            <a:ext cx="502920" cy="502920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6442" y="1482242"/>
            <a:ext cx="281635" cy="281635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417320" y="1188720"/>
            <a:ext cx="7086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1F24"/>
                </a:solidFill>
              </a:rPr>
              <a:t>"2 passed | 30 skipped", exit 1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A beforeAll threw (e.g. sign-up lost @Public()). The failure is on the Test Files line.</a:t>
            </a:r>
            <a:endParaRPr lang="en-US" sz="1600" dirty="0"/>
          </a:p>
        </p:txBody>
      </p:sp>
      <p:sp>
        <p:nvSpPr>
          <p:cNvPr id="7" name="snag-2"/>
          <p:cNvSpPr/>
          <p:nvPr/>
        </p:nvSpPr>
        <p:spPr>
          <a:xfrm>
            <a:off x="457200" y="2286000"/>
            <a:ext cx="8229600" cy="1051560"/>
          </a:xfrm>
          <a:prstGeom prst="roundRect">
            <a:avLst>
              <a:gd name="adj" fmla="val 6957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685800" y="2560320"/>
            <a:ext cx="502920" cy="502920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6442" y="2670962"/>
            <a:ext cx="281635" cy="281635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1417320" y="2377440"/>
            <a:ext cx="7086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1F24"/>
                </a:solidFill>
              </a:rPr>
              <a:t>My new route answers 401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Secure by default: the guard is global. Add @Public() only on purpose.</a:t>
            </a:r>
            <a:endParaRPr lang="en-US" sz="1600" dirty="0"/>
          </a:p>
        </p:txBody>
      </p:sp>
      <p:sp>
        <p:nvSpPr>
          <p:cNvPr id="11" name="snag-3"/>
          <p:cNvSpPr/>
          <p:nvPr/>
        </p:nvSpPr>
        <p:spPr>
          <a:xfrm>
            <a:off x="457200" y="3474720"/>
            <a:ext cx="8229600" cy="1051560"/>
          </a:xfrm>
          <a:prstGeom prst="roundRect">
            <a:avLst>
              <a:gd name="adj" fmla="val 6957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685800" y="3749040"/>
            <a:ext cx="502920" cy="502920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6442" y="3859682"/>
            <a:ext cx="281635" cy="281635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1417320" y="3566160"/>
            <a:ext cx="7086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1F24"/>
                </a:solidFill>
              </a:rPr>
              <a:t>Deleting a user gives a 500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Blocked FK deletes report 23001 (RESTRICT) or 23503 (NO ACTION). The adapter maps both to 409.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10972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1FB68A"/>
                </a:solidFill>
              </a:rPr>
              <a:t>MODULE 4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1508760"/>
            <a:ext cx="8046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Your first MCP server</a:t>
            </a:r>
            <a:endParaRPr lang="en-US" sz="4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2560320"/>
            <a:ext cx="5669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CBD5E1"/>
                </a:solidFill>
              </a:rPr>
              <a:t>Read one raw JSON-RPC exchange, then add a </a:t>
            </a:r>
            <a:pPr indent="0" marL="0">
              <a:buNone/>
            </a:pPr>
            <a:r>
              <a:rPr lang="en-US" sz="1800" dirty="0">
                <a:solidFill>
                  <a:srgbClr val="CBD5E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publish-note</a:t>
            </a:r>
            <a:pPr indent="0" marL="0">
              <a:buNone/>
            </a:pPr>
            <a:r>
              <a:rPr lang="en-US" sz="1800" dirty="0">
                <a:solidFill>
                  <a:srgbClr val="CBD5E1"/>
                </a:solidFill>
              </a:rPr>
              <a:t> tool and pin it with tests.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6675120" y="2560320"/>
            <a:ext cx="2011680" cy="1097280"/>
          </a:xfrm>
          <a:prstGeom prst="roundRect">
            <a:avLst>
              <a:gd name="adj" fmla="val 8333"/>
            </a:avLst>
          </a:prstGeom>
          <a:solidFill>
            <a:srgbClr val="2B3440"/>
          </a:solidFill>
          <a:ln w="12700">
            <a:solidFill>
              <a:srgbClr val="2B344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858000" y="2788920"/>
            <a:ext cx="640080" cy="640080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98818" y="2929738"/>
            <a:ext cx="358445" cy="358445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7589520" y="2697480"/>
            <a:ext cx="1051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30 min</a:t>
            </a:r>
            <a:endParaRPr lang="en-US" sz="2200" dirty="0"/>
          </a:p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</a:rPr>
              <a:t>lab (draft)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4A3B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1F24"/>
                </a:solidFill>
              </a:rPr>
              <a:t>Run this (1/2): a raw MCP initialize</a:t>
            </a:r>
            <a:endParaRPr lang="en-US" sz="3200" dirty="0"/>
          </a:p>
        </p:txBody>
      </p:sp>
      <p:sp>
        <p:nvSpPr>
          <p:cNvPr id="3" name="postman"/>
          <p:cNvSpPr/>
          <p:nvPr/>
        </p:nvSpPr>
        <p:spPr>
          <a:xfrm>
            <a:off x="457200" y="1097280"/>
            <a:ext cx="8229600" cy="3520440"/>
          </a:xfrm>
          <a:prstGeom prst="roundRect">
            <a:avLst>
              <a:gd name="adj" fmla="val 2078"/>
            </a:avLst>
          </a:prstGeom>
          <a:solidFill>
            <a:srgbClr val="EF5B25"/>
          </a:solidFill>
          <a:ln w="12700">
            <a:solidFill>
              <a:srgbClr val="EF5B25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52728"/>
            <a:ext cx="237744" cy="237744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960120" y="1207008"/>
            <a:ext cx="7543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In Postman</a:t>
            </a:r>
            <a:endParaRPr lang="en-US" sz="1800" dirty="0"/>
          </a:p>
        </p:txBody>
      </p:sp>
      <p:sp>
        <p:nvSpPr>
          <p:cNvPr id="6" name="postman-requests"/>
          <p:cNvSpPr txBox="1"/>
          <p:nvPr/>
        </p:nvSpPr>
        <p:spPr>
          <a:xfrm>
            <a:off x="640080" y="1645920"/>
            <a:ext cx="786384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05 · MCP over HTTP (lite module 4)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1. initialize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2. tools/list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3. tools/call whoami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4. No device headers → 401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1F24"/>
                </a:solidFill>
              </a:rPr>
              <a:t>Run this (2/2): add a publish-note tool</a:t>
            </a:r>
            <a:endParaRPr lang="en-US" sz="3200" dirty="0"/>
          </a:p>
        </p:txBody>
      </p:sp>
      <p:sp>
        <p:nvSpPr>
          <p:cNvPr id="3" name="terminal"/>
          <p:cNvSpPr/>
          <p:nvPr/>
        </p:nvSpPr>
        <p:spPr>
          <a:xfrm>
            <a:off x="457200" y="1097280"/>
            <a:ext cx="8229600" cy="3520440"/>
          </a:xfrm>
          <a:prstGeom prst="roundRect">
            <a:avLst>
              <a:gd name="adj" fmla="val 2078"/>
            </a:avLst>
          </a:prstGeom>
          <a:solidFill>
            <a:srgbClr val="1B1F24"/>
          </a:solidFill>
          <a:ln w="12700">
            <a:solidFill>
              <a:srgbClr val="1B1F2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225296"/>
            <a:ext cx="109728" cy="109728"/>
          </a:xfrm>
          <a:prstGeom prst="ellipse">
            <a:avLst/>
          </a:prstGeom>
          <a:solidFill>
            <a:srgbClr val="E5484D"/>
          </a:solidFill>
          <a:ln w="12700">
            <a:solidFill>
              <a:srgbClr val="E5484D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225296"/>
            <a:ext cx="109728" cy="109728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05840" y="1225296"/>
            <a:ext cx="109728" cy="10972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280160" y="1152144"/>
            <a:ext cx="7223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4 · run this</a:t>
            </a:r>
            <a:endParaRPr lang="en-US" sz="1000" dirty="0"/>
          </a:p>
        </p:txBody>
      </p:sp>
      <p:sp>
        <p:nvSpPr>
          <p:cNvPr id="8" name="terminal-text"/>
          <p:cNvSpPr txBox="1"/>
          <p:nvPr/>
        </p:nvSpPr>
        <p:spPr>
          <a:xfrm>
            <a:off x="685800" y="1481328"/>
            <a:ext cx="777240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src/mcp/notes.tools.ts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@Tool({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name: 'publish-note',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description: 'Publish a note. A published note needs a non-empty body.',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parameters: z.object({ id: z.string().uuid() }),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publishNote(@Payload() { id }: { id: string }): Promise&lt;ToolResult&gt; {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return runTool(() =&gt; this.notes.update(id, { status: 'published' }));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dev pnpm lab 06   # the lab check: all green?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1F24"/>
                </a:solidFill>
              </a:rPr>
              <a:t>Checkpoint: JSON-RPC in SSE, rule over MCP</a:t>
            </a:r>
            <a:endParaRPr lang="en-US" sz="3200" dirty="0"/>
          </a:p>
        </p:txBody>
      </p:sp>
      <p:sp>
        <p:nvSpPr>
          <p:cNvPr id="3" name="terminal"/>
          <p:cNvSpPr/>
          <p:nvPr/>
        </p:nvSpPr>
        <p:spPr>
          <a:xfrm>
            <a:off x="457200" y="1097280"/>
            <a:ext cx="5029200" cy="3520440"/>
          </a:xfrm>
          <a:prstGeom prst="roundRect">
            <a:avLst>
              <a:gd name="adj" fmla="val 2078"/>
            </a:avLst>
          </a:prstGeom>
          <a:solidFill>
            <a:srgbClr val="1B1F24"/>
          </a:solidFill>
          <a:ln w="12700">
            <a:solidFill>
              <a:srgbClr val="1B1F2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225296"/>
            <a:ext cx="109728" cy="109728"/>
          </a:xfrm>
          <a:prstGeom prst="ellipse">
            <a:avLst/>
          </a:prstGeom>
          <a:solidFill>
            <a:srgbClr val="E5484D"/>
          </a:solidFill>
          <a:ln w="12700">
            <a:solidFill>
              <a:srgbClr val="E5484D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225296"/>
            <a:ext cx="109728" cy="109728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05840" y="1225296"/>
            <a:ext cx="109728" cy="10972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280160" y="1152144"/>
            <a:ext cx="4023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output: captured</a:t>
            </a:r>
            <a:endParaRPr lang="en-US" sz="1000" dirty="0"/>
          </a:p>
        </p:txBody>
      </p:sp>
      <p:sp>
        <p:nvSpPr>
          <p:cNvPr id="8" name="terminal-text"/>
          <p:cNvSpPr txBox="1"/>
          <p:nvPr/>
        </p:nvSpPr>
        <p:spPr>
          <a:xfrm>
            <a:off x="685800" y="1481328"/>
            <a:ext cx="457200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content-type: text/event-stream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event: message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data: {"result":{"protocolVersion":…},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"jsonrpc":"2.0","id":1}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publish-note on a note with no body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{"content":[{"type":"text","text":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"RULE_VIOLATION: A published note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needs a non-empty body"}],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"isError":true}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5852160" y="109728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1F24"/>
                </a:solidFill>
              </a:rPr>
              <a:t>Done when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5852160" y="1645920"/>
            <a:ext cx="384048" cy="38404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36651" y="1730411"/>
            <a:ext cx="215067" cy="215067"/>
          </a:xfrm>
          <a:prstGeom prst="rect">
            <a:avLst/>
          </a:prstGeom>
        </p:spPr>
      </p:pic>
      <p:sp>
        <p:nvSpPr>
          <p:cNvPr id="12" name="Text 9"/>
          <p:cNvSpPr txBox="1"/>
          <p:nvPr/>
        </p:nvSpPr>
        <p:spPr>
          <a:xfrm>
            <a:off x="6355080" y="1609344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dev pnpm lab 06</a:t>
            </a:r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: every test passes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5852160" y="2377440"/>
            <a:ext cx="384048" cy="38404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36651" y="2461931"/>
            <a:ext cx="215067" cy="215067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6355080" y="2340864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you matched the response id to the request</a:t>
            </a:r>
            <a:endParaRPr lang="en-US" sz="1400" dirty="0"/>
          </a:p>
        </p:txBody>
      </p:sp>
      <p:sp>
        <p:nvSpPr>
          <p:cNvPr id="16" name="Shape 12"/>
          <p:cNvSpPr/>
          <p:nvPr/>
        </p:nvSpPr>
        <p:spPr>
          <a:xfrm>
            <a:off x="5852160" y="3108960"/>
            <a:ext cx="384048" cy="38404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36651" y="3193451"/>
            <a:ext cx="215067" cy="215067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6355080" y="3072384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the stdio e2e tool list updated on purpose</a:t>
            </a:r>
            <a:endParaRPr lang="en-US" sz="1400" dirty="0"/>
          </a:p>
        </p:txBody>
      </p:sp>
      <p:sp>
        <p:nvSpPr>
          <p:cNvPr id="19" name="Shape 14"/>
          <p:cNvSpPr/>
          <p:nvPr/>
        </p:nvSpPr>
        <p:spPr>
          <a:xfrm>
            <a:off x="5852160" y="3840480"/>
            <a:ext cx="384048" cy="38404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36651" y="3924971"/>
            <a:ext cx="215067" cy="215067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6355080" y="3803904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tool error (isError) vs protocol error (error)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1F24"/>
                </a:solidFill>
              </a:rPr>
              <a:t>If you are stuck: module 4</a:t>
            </a:r>
            <a:endParaRPr lang="en-US" sz="3200" dirty="0"/>
          </a:p>
        </p:txBody>
      </p:sp>
      <p:sp>
        <p:nvSpPr>
          <p:cNvPr id="3" name="snag-1"/>
          <p:cNvSpPr/>
          <p:nvPr/>
        </p:nvSpPr>
        <p:spPr>
          <a:xfrm>
            <a:off x="457200" y="1097280"/>
            <a:ext cx="8229600" cy="1051560"/>
          </a:xfrm>
          <a:prstGeom prst="roundRect">
            <a:avLst>
              <a:gd name="adj" fmla="val 6957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85800" y="1371600"/>
            <a:ext cx="502920" cy="502920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6442" y="1482242"/>
            <a:ext cx="281635" cy="281635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417320" y="1188720"/>
            <a:ext cx="7086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1F24"/>
                </a:solidFill>
              </a:rPr>
              <a:t>401 on /mcp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Missing headers, a draft or archived device, or a rotated secret: one 401 for all. Re-run the helper.</a:t>
            </a:r>
            <a:endParaRPr lang="en-US" sz="1600" dirty="0"/>
          </a:p>
        </p:txBody>
      </p:sp>
      <p:sp>
        <p:nvSpPr>
          <p:cNvPr id="7" name="snag-2"/>
          <p:cNvSpPr/>
          <p:nvPr/>
        </p:nvSpPr>
        <p:spPr>
          <a:xfrm>
            <a:off x="457200" y="2286000"/>
            <a:ext cx="8229600" cy="1051560"/>
          </a:xfrm>
          <a:prstGeom prst="roundRect">
            <a:avLst>
              <a:gd name="adj" fmla="val 6957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685800" y="2560320"/>
            <a:ext cx="502920" cy="502920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6442" y="2670962"/>
            <a:ext cx="281635" cy="281635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1417320" y="2377440"/>
            <a:ext cx="7086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1F24"/>
                </a:solidFill>
              </a:rPr>
              <a:t>console.log "for debugging"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It goes into the protocol stream. The SDK client ignores it, so only the RAW stdout test fails.</a:t>
            </a:r>
            <a:endParaRPr lang="en-US" sz="1600" dirty="0"/>
          </a:p>
        </p:txBody>
      </p:sp>
      <p:sp>
        <p:nvSpPr>
          <p:cNvPr id="11" name="snag-3"/>
          <p:cNvSpPr/>
          <p:nvPr/>
        </p:nvSpPr>
        <p:spPr>
          <a:xfrm>
            <a:off x="457200" y="3474720"/>
            <a:ext cx="8229600" cy="1051560"/>
          </a:xfrm>
          <a:prstGeom prst="roundRect">
            <a:avLst>
              <a:gd name="adj" fmla="val 6957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685800" y="3749040"/>
            <a:ext cx="502920" cy="502920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6442" y="3859682"/>
            <a:ext cx="281635" cy="281635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1417320" y="3566160"/>
            <a:ext cx="7086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1F24"/>
                </a:solidFill>
              </a:rPr>
              <a:t>A crash instead of isError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Wrap tool bodies in runTool(): DomainError → tool error the model can read.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10972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1FB68A"/>
                </a:solidFill>
              </a:rPr>
              <a:t>MODULE 5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1508760"/>
            <a:ext cx="8046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Inspector and transports</a:t>
            </a:r>
            <a:endParaRPr lang="en-US" sz="4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2560320"/>
            <a:ext cx="5669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CBD5E1"/>
                </a:solidFill>
              </a:rPr>
              <a:t>Turn an Inspector call into a CI check, then flip </a:t>
            </a:r>
            <a:pPr indent="0" marL="0">
              <a:buNone/>
            </a:pPr>
            <a:r>
              <a:rPr lang="en-US" sz="1800" dirty="0">
                <a:solidFill>
                  <a:srgbClr val="CBD5E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enableJsonResponse</a:t>
            </a:r>
            <a:pPr indent="0" marL="0">
              <a:buNone/>
            </a:pPr>
            <a:r>
              <a:rPr lang="en-US" sz="1800" dirty="0">
                <a:solidFill>
                  <a:srgbClr val="CBD5E1"/>
                </a:solidFill>
              </a:rPr>
              <a:t> and compare the wire.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6675120" y="2560320"/>
            <a:ext cx="2011680" cy="1097280"/>
          </a:xfrm>
          <a:prstGeom prst="roundRect">
            <a:avLst>
              <a:gd name="adj" fmla="val 8333"/>
            </a:avLst>
          </a:prstGeom>
          <a:solidFill>
            <a:srgbClr val="2B3440"/>
          </a:solidFill>
          <a:ln w="12700">
            <a:solidFill>
              <a:srgbClr val="2B344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858000" y="2788920"/>
            <a:ext cx="640080" cy="640080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98818" y="2929738"/>
            <a:ext cx="358445" cy="358445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7589520" y="2697480"/>
            <a:ext cx="1051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25 min</a:t>
            </a:r>
            <a:endParaRPr lang="en-US" sz="2200" dirty="0"/>
          </a:p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</a:rPr>
              <a:t>lab (draft)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4A3B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1F24"/>
                </a:solidFill>
              </a:rPr>
              <a:t>Run this: a CI check, then the wire</a:t>
            </a:r>
            <a:endParaRPr lang="en-US" sz="3200" dirty="0"/>
          </a:p>
        </p:txBody>
      </p:sp>
      <p:sp>
        <p:nvSpPr>
          <p:cNvPr id="3" name="terminal"/>
          <p:cNvSpPr/>
          <p:nvPr/>
        </p:nvSpPr>
        <p:spPr>
          <a:xfrm>
            <a:off x="457200" y="1097280"/>
            <a:ext cx="5212080" cy="3520440"/>
          </a:xfrm>
          <a:prstGeom prst="roundRect">
            <a:avLst>
              <a:gd name="adj" fmla="val 2078"/>
            </a:avLst>
          </a:prstGeom>
          <a:solidFill>
            <a:srgbClr val="1B1F24"/>
          </a:solidFill>
          <a:ln w="12700">
            <a:solidFill>
              <a:srgbClr val="1B1F2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225296"/>
            <a:ext cx="109728" cy="109728"/>
          </a:xfrm>
          <a:prstGeom prst="ellipse">
            <a:avLst/>
          </a:prstGeom>
          <a:solidFill>
            <a:srgbClr val="E5484D"/>
          </a:solidFill>
          <a:ln w="12700">
            <a:solidFill>
              <a:srgbClr val="E5484D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225296"/>
            <a:ext cx="109728" cy="109728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05840" y="1225296"/>
            <a:ext cx="109728" cy="10972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280160" y="1152144"/>
            <a:ext cx="4206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5 · run this</a:t>
            </a:r>
            <a:endParaRPr lang="en-US" sz="1000" dirty="0"/>
          </a:p>
        </p:txBody>
      </p:sp>
      <p:sp>
        <p:nvSpPr>
          <p:cNvPr id="8" name="terminal-text"/>
          <p:cNvSpPr txBox="1"/>
          <p:nvPr/>
        </p:nvSpPr>
        <p:spPr>
          <a:xfrm>
            <a:off x="685800" y="1481328"/>
            <a:ext cx="475488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dev pnpm build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dev pnpm mcp:inspect:cli --method tools/call \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--tool-name get-note \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--tool-arg id=00000000-0000-4000-8000-000000000000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echo "exit: $?"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attach-mcp.ts: enableJsonResponse: true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docker compose up -d --build app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re-send Postman 05 › initialize: what changed?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then revert enableJsonResponse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dev pnpm lab 08   # green now; break it, see red, revert</a:t>
            </a:r>
            <a:endParaRPr lang="en-US" sz="1000" dirty="0"/>
          </a:p>
        </p:txBody>
      </p:sp>
      <p:sp>
        <p:nvSpPr>
          <p:cNvPr id="9" name="postman"/>
          <p:cNvSpPr/>
          <p:nvPr/>
        </p:nvSpPr>
        <p:spPr>
          <a:xfrm>
            <a:off x="5852160" y="1097280"/>
            <a:ext cx="2834640" cy="3520440"/>
          </a:xfrm>
          <a:prstGeom prst="roundRect">
            <a:avLst>
              <a:gd name="adj" fmla="val 2581"/>
            </a:avLst>
          </a:prstGeom>
          <a:solidFill>
            <a:srgbClr val="EF5B25"/>
          </a:solidFill>
          <a:ln w="12700">
            <a:solidFill>
              <a:srgbClr val="EF5B25"/>
            </a:solidFill>
            <a:prstDash val="solid"/>
          </a:ln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35040" y="1252728"/>
            <a:ext cx="237744" cy="237744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6355080" y="1207008"/>
            <a:ext cx="2148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In Postman</a:t>
            </a:r>
            <a:endParaRPr lang="en-US" sz="1600" dirty="0"/>
          </a:p>
        </p:txBody>
      </p:sp>
      <p:sp>
        <p:nvSpPr>
          <p:cNvPr id="12" name="postman-requests"/>
          <p:cNvSpPr txBox="1"/>
          <p:nvPr/>
        </p:nvSpPr>
        <p:spPr>
          <a:xfrm>
            <a:off x="6035040" y="1645920"/>
            <a:ext cx="246888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05 · MCP over HTTP (lite module 4)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1. initialize</a:t>
            </a:r>
            <a:endParaRPr lang="en-US" sz="1300" dirty="0"/>
          </a:p>
          <a:p>
            <a:pPr indent="0" marL="0">
              <a:spcBef>
                <a:spcPts val="600"/>
              </a:spcBef>
              <a:buNone/>
            </a:pPr>
            <a:r>
              <a:rPr lang="en-US" sz="1300" b="1" dirty="0">
                <a:solidFill>
                  <a:srgbClr val="FFFFFF"/>
                </a:solidFill>
              </a:rPr>
              <a:t>08 · Host check (lite module 5)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1. Foreign Host → 403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1F24"/>
                </a:solidFill>
              </a:rPr>
              <a:t>Checkpoint: exit 5, then two framings</a:t>
            </a:r>
            <a:endParaRPr lang="en-US" sz="3200" dirty="0"/>
          </a:p>
        </p:txBody>
      </p:sp>
      <p:sp>
        <p:nvSpPr>
          <p:cNvPr id="3" name="terminal"/>
          <p:cNvSpPr/>
          <p:nvPr/>
        </p:nvSpPr>
        <p:spPr>
          <a:xfrm>
            <a:off x="457200" y="1097280"/>
            <a:ext cx="5029200" cy="3520440"/>
          </a:xfrm>
          <a:prstGeom prst="roundRect">
            <a:avLst>
              <a:gd name="adj" fmla="val 2078"/>
            </a:avLst>
          </a:prstGeom>
          <a:solidFill>
            <a:srgbClr val="1B1F24"/>
          </a:solidFill>
          <a:ln w="12700">
            <a:solidFill>
              <a:srgbClr val="1B1F2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225296"/>
            <a:ext cx="109728" cy="109728"/>
          </a:xfrm>
          <a:prstGeom prst="ellipse">
            <a:avLst/>
          </a:prstGeom>
          <a:solidFill>
            <a:srgbClr val="E5484D"/>
          </a:solidFill>
          <a:ln w="12700">
            <a:solidFill>
              <a:srgbClr val="E5484D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225296"/>
            <a:ext cx="109728" cy="109728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05840" y="1225296"/>
            <a:ext cx="109728" cy="10972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280160" y="1152144"/>
            <a:ext cx="4023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output: captured, then expected</a:t>
            </a:r>
            <a:endParaRPr lang="en-US" sz="1000" dirty="0"/>
          </a:p>
        </p:txBody>
      </p:sp>
      <p:sp>
        <p:nvSpPr>
          <p:cNvPr id="8" name="terminal-text"/>
          <p:cNvSpPr txBox="1"/>
          <p:nvPr/>
        </p:nvSpPr>
        <p:spPr>
          <a:xfrm>
            <a:off x="685800" y="1481328"/>
            <a:ext cx="457200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 "content": [ { "type": "text",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"text": "NOT_FOUND: Note … not found" } ],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"isError": true }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exit: 5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enableJsonResponse: true (expected)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content-type: application/json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{"result":…}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5852160" y="109728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1F24"/>
                </a:solidFill>
              </a:rPr>
              <a:t>Done when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5852160" y="1645920"/>
            <a:ext cx="384048" cy="38404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36651" y="1730411"/>
            <a:ext cx="215067" cy="215067"/>
          </a:xfrm>
          <a:prstGeom prst="rect">
            <a:avLst/>
          </a:prstGeom>
        </p:spPr>
      </p:pic>
      <p:sp>
        <p:nvSpPr>
          <p:cNvPr id="12" name="Text 9"/>
          <p:cNvSpPr txBox="1"/>
          <p:nvPr/>
        </p:nvSpPr>
        <p:spPr>
          <a:xfrm>
            <a:off x="6355080" y="1609344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dev pnpm lab 08</a:t>
            </a:r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: every test passes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5852160" y="2377440"/>
            <a:ext cx="384048" cy="38404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36651" y="2461931"/>
            <a:ext cx="215067" cy="215067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6355080" y="2340864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a script that FAILS when create-note accepts </a:t>
            </a:r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{title:'x', status:'published'}</a:t>
            </a:r>
            <a:pPr indent="0" marL="0">
              <a:buNone/>
            </a:pPr>
            <a:endParaRPr lang="en-US" sz="1400" dirty="0"/>
          </a:p>
        </p:txBody>
      </p:sp>
      <p:sp>
        <p:nvSpPr>
          <p:cNvPr id="16" name="Shape 12"/>
          <p:cNvSpPr/>
          <p:nvPr/>
        </p:nvSpPr>
        <p:spPr>
          <a:xfrm>
            <a:off x="5852160" y="3108960"/>
            <a:ext cx="384048" cy="38404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36651" y="3193451"/>
            <a:ext cx="215067" cy="215067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6355080" y="3072384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both framings captured and compared</a:t>
            </a:r>
            <a:endParaRPr lang="en-US" sz="1400" dirty="0"/>
          </a:p>
        </p:txBody>
      </p:sp>
      <p:sp>
        <p:nvSpPr>
          <p:cNvPr id="19" name="Shape 14"/>
          <p:cNvSpPr/>
          <p:nvPr/>
        </p:nvSpPr>
        <p:spPr>
          <a:xfrm>
            <a:off x="5852160" y="3840480"/>
            <a:ext cx="384048" cy="38404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36651" y="3924971"/>
            <a:ext cx="215067" cy="215067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6355080" y="3803904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MCP_ALLOWED_HOSTS explained in one sentence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1F24"/>
                </a:solidFill>
              </a:rPr>
              <a:t>If you are stuck: module 5</a:t>
            </a:r>
            <a:endParaRPr lang="en-US" sz="3200" dirty="0"/>
          </a:p>
        </p:txBody>
      </p:sp>
      <p:sp>
        <p:nvSpPr>
          <p:cNvPr id="3" name="snag-1"/>
          <p:cNvSpPr/>
          <p:nvPr/>
        </p:nvSpPr>
        <p:spPr>
          <a:xfrm>
            <a:off x="457200" y="1097280"/>
            <a:ext cx="8229600" cy="1051560"/>
          </a:xfrm>
          <a:prstGeom prst="roundRect">
            <a:avLst>
              <a:gd name="adj" fmla="val 6957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85800" y="1371600"/>
            <a:ext cx="502920" cy="502920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6442" y="1482242"/>
            <a:ext cx="281635" cy="281635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417320" y="1188720"/>
            <a:ext cx="7086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1F24"/>
                </a:solidFill>
              </a:rPr>
              <a:t>No such file dist/mcp-stdio.js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Build first: dev pnpm build.</a:t>
            </a:r>
            <a:endParaRPr lang="en-US" sz="1600" dirty="0"/>
          </a:p>
        </p:txBody>
      </p:sp>
      <p:sp>
        <p:nvSpPr>
          <p:cNvPr id="7" name="snag-2"/>
          <p:cNvSpPr/>
          <p:nvPr/>
        </p:nvSpPr>
        <p:spPr>
          <a:xfrm>
            <a:off x="457200" y="2286000"/>
            <a:ext cx="8229600" cy="1051560"/>
          </a:xfrm>
          <a:prstGeom prst="roundRect">
            <a:avLst>
              <a:gd name="adj" fmla="val 6957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685800" y="2560320"/>
            <a:ext cx="502920" cy="502920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6442" y="2670962"/>
            <a:ext cx="281635" cy="281635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1417320" y="2377440"/>
            <a:ext cx="7086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1F24"/>
                </a:solidFill>
              </a:rPr>
              <a:t>Sharing the Inspector UI URL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Don't: it carries MCP_INSPECTOR_API_TOKEN, which is a credential.</a:t>
            </a:r>
            <a:endParaRPr lang="en-US" sz="1600" dirty="0"/>
          </a:p>
        </p:txBody>
      </p:sp>
      <p:sp>
        <p:nvSpPr>
          <p:cNvPr id="11" name="snag-3"/>
          <p:cNvSpPr/>
          <p:nvPr/>
        </p:nvSpPr>
        <p:spPr>
          <a:xfrm>
            <a:off x="457200" y="3474720"/>
            <a:ext cx="8229600" cy="1051560"/>
          </a:xfrm>
          <a:prstGeom prst="roundRect">
            <a:avLst>
              <a:gd name="adj" fmla="val 6957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685800" y="3749040"/>
            <a:ext cx="502920" cy="502920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6442" y="3859682"/>
            <a:ext cx="281635" cy="281635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1417320" y="3566160"/>
            <a:ext cx="7086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1F24"/>
                </a:solidFill>
              </a:rPr>
              <a:t>Called by service name: 403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Add that name to MCP_ALLOWED_HOSTS (reproduced in Docker).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10972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1FB68A"/>
                </a:solidFill>
              </a:rPr>
              <a:t>MODULE 6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1508760"/>
            <a:ext cx="8046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Secure MCP, then the capstone</a:t>
            </a:r>
            <a:endParaRPr lang="en-US" sz="4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2560320"/>
            <a:ext cx="5669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CBD5E1"/>
                </a:solidFill>
              </a:rPr>
              <a:t>Rotate a device secret mid-session and watch the next call fail. The capstone is homework.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6675120" y="2560320"/>
            <a:ext cx="2011680" cy="1097280"/>
          </a:xfrm>
          <a:prstGeom prst="roundRect">
            <a:avLst>
              <a:gd name="adj" fmla="val 8333"/>
            </a:avLst>
          </a:prstGeom>
          <a:solidFill>
            <a:srgbClr val="2B3440"/>
          </a:solidFill>
          <a:ln w="12700">
            <a:solidFill>
              <a:srgbClr val="2B344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858000" y="2788920"/>
            <a:ext cx="640080" cy="640080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98818" y="2929738"/>
            <a:ext cx="358445" cy="358445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7589520" y="2697480"/>
            <a:ext cx="1051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20 min</a:t>
            </a:r>
            <a:endParaRPr lang="en-US" sz="2200" dirty="0"/>
          </a:p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</a:rPr>
              <a:t>lab (draft)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4A3B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1F24"/>
                </a:solidFill>
              </a:rPr>
              <a:t>Run this: rotate mid-session</a:t>
            </a:r>
            <a:endParaRPr lang="en-US" sz="3200" dirty="0"/>
          </a:p>
        </p:txBody>
      </p:sp>
      <p:sp>
        <p:nvSpPr>
          <p:cNvPr id="3" name="terminal"/>
          <p:cNvSpPr/>
          <p:nvPr/>
        </p:nvSpPr>
        <p:spPr>
          <a:xfrm>
            <a:off x="457200" y="1097280"/>
            <a:ext cx="5212080" cy="3520440"/>
          </a:xfrm>
          <a:prstGeom prst="roundRect">
            <a:avLst>
              <a:gd name="adj" fmla="val 2078"/>
            </a:avLst>
          </a:prstGeom>
          <a:solidFill>
            <a:srgbClr val="1B1F24"/>
          </a:solidFill>
          <a:ln w="12700">
            <a:solidFill>
              <a:srgbClr val="1B1F2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225296"/>
            <a:ext cx="109728" cy="109728"/>
          </a:xfrm>
          <a:prstGeom prst="ellipse">
            <a:avLst/>
          </a:prstGeom>
          <a:solidFill>
            <a:srgbClr val="E5484D"/>
          </a:solidFill>
          <a:ln w="12700">
            <a:solidFill>
              <a:srgbClr val="E5484D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225296"/>
            <a:ext cx="109728" cy="109728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05840" y="1225296"/>
            <a:ext cx="109728" cy="10972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280160" y="1152144"/>
            <a:ext cx="4206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6 · run this</a:t>
            </a:r>
            <a:endParaRPr lang="en-US" sz="1000" dirty="0"/>
          </a:p>
        </p:txBody>
      </p:sp>
      <p:sp>
        <p:nvSpPr>
          <p:cNvPr id="8" name="terminal-text"/>
          <p:cNvSpPr txBox="1"/>
          <p:nvPr/>
        </p:nvSpPr>
        <p:spPr>
          <a:xfrm>
            <a:off x="685800" y="1481328"/>
            <a:ext cx="475488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eval "$(docker compose run --rm -T dev \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node scripts/demo-device.mjs | grep '^export ')"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dev npx -y @modelcontextprotocol/inspector@2.12.0 \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--cli http://app:3000/mcp \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--method tools/call --tool-name whoami \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--header "X-Access-Key-Id: $MCP_KEY_ID" \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--header "X-Secret-Key: $MCP_SECRET"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dev pnpm lab 09   # green now; break it, see red, revert</a:t>
            </a:r>
            <a:endParaRPr lang="en-US" sz="1000" dirty="0"/>
          </a:p>
        </p:txBody>
      </p:sp>
      <p:sp>
        <p:nvSpPr>
          <p:cNvPr id="9" name="postman"/>
          <p:cNvSpPr/>
          <p:nvPr/>
        </p:nvSpPr>
        <p:spPr>
          <a:xfrm>
            <a:off x="5852160" y="1097280"/>
            <a:ext cx="2834640" cy="3520440"/>
          </a:xfrm>
          <a:prstGeom prst="roundRect">
            <a:avLst>
              <a:gd name="adj" fmla="val 2581"/>
            </a:avLst>
          </a:prstGeom>
          <a:solidFill>
            <a:srgbClr val="EF5B25"/>
          </a:solidFill>
          <a:ln w="12700">
            <a:solidFill>
              <a:srgbClr val="EF5B25"/>
            </a:solidFill>
            <a:prstDash val="solid"/>
          </a:ln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35040" y="1252728"/>
            <a:ext cx="237744" cy="237744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6355080" y="1207008"/>
            <a:ext cx="2148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In Postman</a:t>
            </a:r>
            <a:endParaRPr lang="en-US" sz="1600" dirty="0"/>
          </a:p>
        </p:txBody>
      </p:sp>
      <p:sp>
        <p:nvSpPr>
          <p:cNvPr id="12" name="postman-requests"/>
          <p:cNvSpPr txBox="1"/>
          <p:nvPr/>
        </p:nvSpPr>
        <p:spPr>
          <a:xfrm>
            <a:off x="6035040" y="1645920"/>
            <a:ext cx="246888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09 · Rotate mid-session (lite module 6)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1. Rotate credentials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2. whoami with the OLD secret → 401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3. whoami with the NEW secret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29</a:t>
            </a:fld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1F24"/>
                </a:solidFill>
              </a:rPr>
              <a:t>Checkpoint: rotation bites immediately</a:t>
            </a:r>
            <a:endParaRPr lang="en-US" sz="3200" dirty="0"/>
          </a:p>
        </p:txBody>
      </p:sp>
      <p:sp>
        <p:nvSpPr>
          <p:cNvPr id="3" name="terminal"/>
          <p:cNvSpPr/>
          <p:nvPr/>
        </p:nvSpPr>
        <p:spPr>
          <a:xfrm>
            <a:off x="457200" y="1097280"/>
            <a:ext cx="5029200" cy="3520440"/>
          </a:xfrm>
          <a:prstGeom prst="roundRect">
            <a:avLst>
              <a:gd name="adj" fmla="val 2078"/>
            </a:avLst>
          </a:prstGeom>
          <a:solidFill>
            <a:srgbClr val="1B1F24"/>
          </a:solidFill>
          <a:ln w="12700">
            <a:solidFill>
              <a:srgbClr val="1B1F2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225296"/>
            <a:ext cx="109728" cy="109728"/>
          </a:xfrm>
          <a:prstGeom prst="ellipse">
            <a:avLst/>
          </a:prstGeom>
          <a:solidFill>
            <a:srgbClr val="E5484D"/>
          </a:solidFill>
          <a:ln w="12700">
            <a:solidFill>
              <a:srgbClr val="E5484D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225296"/>
            <a:ext cx="109728" cy="109728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05840" y="1225296"/>
            <a:ext cx="109728" cy="10972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280160" y="1152144"/>
            <a:ext cx="4023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output: captured</a:t>
            </a:r>
            <a:endParaRPr lang="en-US" sz="1000" dirty="0"/>
          </a:p>
        </p:txBody>
      </p:sp>
      <p:sp>
        <p:nvSpPr>
          <p:cNvPr id="8" name="terminal-text"/>
          <p:cNvSpPr txBox="1"/>
          <p:nvPr/>
        </p:nvSpPr>
        <p:spPr>
          <a:xfrm>
            <a:off x="685800" y="1481328"/>
            <a:ext cx="457200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Inspector whoami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"device": { … "status": "active" … },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"owner":  { … "email": "demo@example.com" }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Postman 09 · Rotate mid-session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Rotate credentials           200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whoami with the OLD secret   401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whoami with the NEW secret   200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5852160" y="109728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1F24"/>
                </a:solidFill>
              </a:rPr>
              <a:t>Done when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5852160" y="1645920"/>
            <a:ext cx="384048" cy="38404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36651" y="1730411"/>
            <a:ext cx="215067" cy="215067"/>
          </a:xfrm>
          <a:prstGeom prst="rect">
            <a:avLst/>
          </a:prstGeom>
        </p:spPr>
      </p:pic>
      <p:sp>
        <p:nvSpPr>
          <p:cNvPr id="12" name="Text 9"/>
          <p:cNvSpPr txBox="1"/>
          <p:nvPr/>
        </p:nvSpPr>
        <p:spPr>
          <a:xfrm>
            <a:off x="6355080" y="1609344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dev pnpm lab 09</a:t>
            </a:r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: every test passes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5852160" y="2377440"/>
            <a:ext cx="384048" cy="38404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36651" y="2461931"/>
            <a:ext cx="215067" cy="215067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6355080" y="2340864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the old secret failed on the NEXT call</a:t>
            </a:r>
            <a:endParaRPr lang="en-US" sz="1400" dirty="0"/>
          </a:p>
        </p:txBody>
      </p:sp>
      <p:sp>
        <p:nvSpPr>
          <p:cNvPr id="16" name="Shape 12"/>
          <p:cNvSpPr/>
          <p:nvPr/>
        </p:nvSpPr>
        <p:spPr>
          <a:xfrm>
            <a:off x="5852160" y="3108960"/>
            <a:ext cx="384048" cy="38404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36651" y="3193451"/>
            <a:ext cx="215067" cy="215067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6355080" y="3072384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the 7 failure modes → one 401, explained</a:t>
            </a:r>
            <a:endParaRPr lang="en-US" sz="1400" dirty="0"/>
          </a:p>
        </p:txBody>
      </p:sp>
      <p:sp>
        <p:nvSpPr>
          <p:cNvPr id="19" name="Shape 14"/>
          <p:cNvSpPr/>
          <p:nvPr/>
        </p:nvSpPr>
        <p:spPr>
          <a:xfrm>
            <a:off x="5852160" y="3840480"/>
            <a:ext cx="384048" cy="38404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36651" y="3924971"/>
            <a:ext cx="215067" cy="215067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6355080" y="3803904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why stdio whoami is a tool error (local trust)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30</a:t>
            </a:fld>
            <a:endParaRPr lang="en-US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1F24"/>
                </a:solidFill>
              </a:rPr>
              <a:t>If you are stuck: module 6</a:t>
            </a:r>
            <a:endParaRPr lang="en-US" sz="3200" dirty="0"/>
          </a:p>
        </p:txBody>
      </p:sp>
      <p:sp>
        <p:nvSpPr>
          <p:cNvPr id="3" name="snag-1"/>
          <p:cNvSpPr/>
          <p:nvPr/>
        </p:nvSpPr>
        <p:spPr>
          <a:xfrm>
            <a:off x="457200" y="1097280"/>
            <a:ext cx="8229600" cy="1051560"/>
          </a:xfrm>
          <a:prstGeom prst="roundRect">
            <a:avLst>
              <a:gd name="adj" fmla="val 6957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85800" y="1371600"/>
            <a:ext cx="502920" cy="502920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6442" y="1482242"/>
            <a:ext cx="281635" cy="281635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417320" y="1188720"/>
            <a:ext cx="7086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1F24"/>
                </a:solidFill>
              </a:rPr>
              <a:t>Inspector says auth_required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That IS your 401. Check the headers, or re-run the helper for a fresh device.</a:t>
            </a:r>
            <a:endParaRPr lang="en-US" sz="1600" dirty="0"/>
          </a:p>
        </p:txBody>
      </p:sp>
      <p:sp>
        <p:nvSpPr>
          <p:cNvPr id="7" name="snag-2"/>
          <p:cNvSpPr/>
          <p:nvPr/>
        </p:nvSpPr>
        <p:spPr>
          <a:xfrm>
            <a:off x="457200" y="2286000"/>
            <a:ext cx="8229600" cy="1051560"/>
          </a:xfrm>
          <a:prstGeom prst="roundRect">
            <a:avLst>
              <a:gd name="adj" fmla="val 6957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685800" y="2560320"/>
            <a:ext cx="502920" cy="502920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6442" y="2670962"/>
            <a:ext cx="281635" cy="281635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1417320" y="2377440"/>
            <a:ext cx="7086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1F24"/>
                </a:solidFill>
              </a:rPr>
              <a:t>whoami over stdio fails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By design: stdio trusts the local user; there is no device identity.</a:t>
            </a:r>
            <a:endParaRPr lang="en-US" sz="1600" dirty="0"/>
          </a:p>
        </p:txBody>
      </p:sp>
      <p:sp>
        <p:nvSpPr>
          <p:cNvPr id="11" name="snag-3"/>
          <p:cNvSpPr/>
          <p:nvPr/>
        </p:nvSpPr>
        <p:spPr>
          <a:xfrm>
            <a:off x="457200" y="3474720"/>
            <a:ext cx="8229600" cy="1051560"/>
          </a:xfrm>
          <a:prstGeom prst="roundRect">
            <a:avLst>
              <a:gd name="adj" fmla="val 6957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685800" y="3749040"/>
            <a:ext cx="502920" cy="502920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6442" y="3859682"/>
            <a:ext cx="281635" cy="281635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1417320" y="3566160"/>
            <a:ext cx="7086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1F24"/>
                </a:solidFill>
              </a:rPr>
              <a:t>Auth seems bypassed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The middleware must be registered BEFORE the transport mounts (measured: after = bypassed).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31</a:t>
            </a:fld>
            <a:endParaRPr lang="en-US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1F24"/>
                </a:solidFill>
              </a:rPr>
              <a:t>Capstone (homework): evidence, not claims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1234440"/>
            <a:ext cx="384048" cy="38404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1691" y="1318931"/>
            <a:ext cx="215067" cy="215067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960120" y="1188720"/>
            <a:ext cx="3520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1F24"/>
                </a:solidFill>
              </a:rPr>
              <a:t>1. </a:t>
            </a:r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spec diff + every open question you raised</a:t>
            </a:r>
            <a:endParaRPr lang="en-US" sz="1400" dirty="0"/>
          </a:p>
        </p:txBody>
      </p:sp>
      <p:sp>
        <p:nvSpPr>
          <p:cNvPr id="6" name="Shape 3"/>
          <p:cNvSpPr/>
          <p:nvPr/>
        </p:nvSpPr>
        <p:spPr>
          <a:xfrm>
            <a:off x="457200" y="2075688"/>
            <a:ext cx="384048" cy="38404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1691" y="2160179"/>
            <a:ext cx="215067" cy="215067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2029968"/>
            <a:ext cx="3520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1F24"/>
                </a:solidFill>
              </a:rPr>
              <a:t>2. </a:t>
            </a:r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plan with a verify line per task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457200" y="2916936"/>
            <a:ext cx="384048" cy="38404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1691" y="3001427"/>
            <a:ext cx="215067" cy="215067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960120" y="2871216"/>
            <a:ext cx="3520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1F24"/>
                </a:solidFill>
              </a:rPr>
              <a:t>3. </a:t>
            </a:r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the migration and your edits, or why none</a:t>
            </a:r>
            <a:endParaRPr lang="en-US" sz="1400" dirty="0"/>
          </a:p>
        </p:txBody>
      </p:sp>
      <p:sp>
        <p:nvSpPr>
          <p:cNvPr id="12" name="Shape 7"/>
          <p:cNvSpPr/>
          <p:nvPr/>
        </p:nvSpPr>
        <p:spPr>
          <a:xfrm>
            <a:off x="457200" y="3758184"/>
            <a:ext cx="384048" cy="38404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1691" y="3842675"/>
            <a:ext cx="215067" cy="215067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960120" y="3712464"/>
            <a:ext cx="3520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1F24"/>
                </a:solidFill>
              </a:rPr>
              <a:t>4. </a:t>
            </a:r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unit + e2e counts; owner-check mutation result</a:t>
            </a:r>
            <a:endParaRPr lang="en-US" sz="1400" dirty="0"/>
          </a:p>
        </p:txBody>
      </p:sp>
      <p:sp>
        <p:nvSpPr>
          <p:cNvPr id="15" name="Shape 9"/>
          <p:cNvSpPr/>
          <p:nvPr/>
        </p:nvSpPr>
        <p:spPr>
          <a:xfrm>
            <a:off x="4663440" y="1234440"/>
            <a:ext cx="384048" cy="38404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1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47931" y="1318931"/>
            <a:ext cx="215067" cy="215067"/>
          </a:xfrm>
          <a:prstGeom prst="rect">
            <a:avLst/>
          </a:prstGeom>
        </p:spPr>
      </p:pic>
      <p:sp>
        <p:nvSpPr>
          <p:cNvPr id="17" name="Text 10"/>
          <p:cNvSpPr txBox="1"/>
          <p:nvPr/>
        </p:nvSpPr>
        <p:spPr>
          <a:xfrm>
            <a:off x="5166360" y="1188720"/>
            <a:ext cx="3520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1F24"/>
                </a:solidFill>
              </a:rPr>
              <a:t>5. </a:t>
            </a:r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my-notes e2e: two devices of two users</a:t>
            </a:r>
            <a:endParaRPr lang="en-US" sz="1400" dirty="0"/>
          </a:p>
        </p:txBody>
      </p:sp>
      <p:sp>
        <p:nvSpPr>
          <p:cNvPr id="18" name="Shape 11"/>
          <p:cNvSpPr/>
          <p:nvPr/>
        </p:nvSpPr>
        <p:spPr>
          <a:xfrm>
            <a:off x="4663440" y="2075688"/>
            <a:ext cx="384048" cy="38404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1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47931" y="2160179"/>
            <a:ext cx="215067" cy="215067"/>
          </a:xfrm>
          <a:prstGeom prst="rect">
            <a:avLst/>
          </a:prstGeom>
        </p:spPr>
      </p:pic>
      <p:sp>
        <p:nvSpPr>
          <p:cNvPr id="20" name="Text 12"/>
          <p:cNvSpPr txBox="1"/>
          <p:nvPr/>
        </p:nvSpPr>
        <p:spPr>
          <a:xfrm>
            <a:off x="5166360" y="2029968"/>
            <a:ext cx="3520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1F24"/>
                </a:solidFill>
              </a:rPr>
              <a:t>6. </a:t>
            </a:r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pnpm verify + pnpm lab 10: every line</a:t>
            </a:r>
            <a:endParaRPr lang="en-US" sz="1400" dirty="0"/>
          </a:p>
        </p:txBody>
      </p:sp>
      <p:sp>
        <p:nvSpPr>
          <p:cNvPr id="21" name="Shape 13"/>
          <p:cNvSpPr/>
          <p:nvPr/>
        </p:nvSpPr>
        <p:spPr>
          <a:xfrm>
            <a:off x="4663440" y="2916936"/>
            <a:ext cx="384048" cy="38404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22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747931" y="3001427"/>
            <a:ext cx="215067" cy="215067"/>
          </a:xfrm>
          <a:prstGeom prst="rect">
            <a:avLst/>
          </a:prstGeom>
        </p:spPr>
      </p:pic>
      <p:sp>
        <p:nvSpPr>
          <p:cNvPr id="23" name="Text 14"/>
          <p:cNvSpPr txBox="1"/>
          <p:nvPr/>
        </p:nvSpPr>
        <p:spPr>
          <a:xfrm>
            <a:off x="5166360" y="2871216"/>
            <a:ext cx="3520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1F24"/>
                </a:solidFill>
              </a:rPr>
              <a:t>7. </a:t>
            </a:r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Inspector capture with headers (secret redacted)</a:t>
            </a:r>
            <a:endParaRPr lang="en-US" sz="1400" dirty="0"/>
          </a:p>
        </p:txBody>
      </p:sp>
      <p:sp>
        <p:nvSpPr>
          <p:cNvPr id="24" name="Shape 15"/>
          <p:cNvSpPr/>
          <p:nvPr/>
        </p:nvSpPr>
        <p:spPr>
          <a:xfrm>
            <a:off x="4663440" y="3758184"/>
            <a:ext cx="384048" cy="38404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25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747931" y="3842675"/>
            <a:ext cx="215067" cy="215067"/>
          </a:xfrm>
          <a:prstGeom prst="rect">
            <a:avLst/>
          </a:prstGeom>
        </p:spPr>
      </p:pic>
      <p:sp>
        <p:nvSpPr>
          <p:cNvPr id="26" name="Text 16"/>
          <p:cNvSpPr txBox="1"/>
          <p:nvPr/>
        </p:nvSpPr>
        <p:spPr>
          <a:xfrm>
            <a:off x="5166360" y="3712464"/>
            <a:ext cx="3520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1F24"/>
                </a:solidFill>
              </a:rPr>
              <a:t>8. </a:t>
            </a:r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WORKLOG entry, with any corrections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32</a:t>
            </a:fld>
            <a:endParaRPr lang="en-US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371600"/>
            <a:ext cx="8046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</a:rPr>
              <a:t>What you built</a:t>
            </a:r>
            <a:endParaRPr lang="en-US" sz="4400" dirty="0"/>
          </a:p>
        </p:txBody>
      </p:sp>
      <p:sp>
        <p:nvSpPr>
          <p:cNvPr id="3" name="Shape 1"/>
          <p:cNvSpPr/>
          <p:nvPr/>
        </p:nvSpPr>
        <p:spPr>
          <a:xfrm>
            <a:off x="548640" y="2743200"/>
            <a:ext cx="1481328" cy="685800"/>
          </a:xfrm>
          <a:prstGeom prst="roundRect">
            <a:avLst>
              <a:gd name="adj" fmla="val 10667"/>
            </a:avLst>
          </a:prstGeom>
          <a:solidFill>
            <a:srgbClr val="2B3440"/>
          </a:solidFill>
          <a:ln w="12700">
            <a:solidFill>
              <a:srgbClr val="2B3440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2743200"/>
            <a:ext cx="148132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Docker stack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2185416" y="2743200"/>
            <a:ext cx="1481328" cy="685800"/>
          </a:xfrm>
          <a:prstGeom prst="roundRect">
            <a:avLst>
              <a:gd name="adj" fmla="val 10667"/>
            </a:avLst>
          </a:prstGeom>
          <a:solidFill>
            <a:srgbClr val="2B3440"/>
          </a:solidFill>
          <a:ln w="12700">
            <a:solidFill>
              <a:srgbClr val="2B3440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185416" y="2743200"/>
            <a:ext cx="148132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REST + drizzle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3822192" y="2743200"/>
            <a:ext cx="1481328" cy="685800"/>
          </a:xfrm>
          <a:prstGeom prst="roundRect">
            <a:avLst>
              <a:gd name="adj" fmla="val 10667"/>
            </a:avLst>
          </a:prstGeom>
          <a:solidFill>
            <a:srgbClr val="2B3440"/>
          </a:solidFill>
          <a:ln w="12700">
            <a:solidFill>
              <a:srgbClr val="2B3440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822192" y="2743200"/>
            <a:ext cx="148132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Auth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458968" y="2743200"/>
            <a:ext cx="1481328" cy="685800"/>
          </a:xfrm>
          <a:prstGeom prst="roundRect">
            <a:avLst>
              <a:gd name="adj" fmla="val 10667"/>
            </a:avLst>
          </a:prstGeom>
          <a:solidFill>
            <a:srgbClr val="2B3440"/>
          </a:solidFill>
          <a:ln w="12700">
            <a:solidFill>
              <a:srgbClr val="2B344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458968" y="2743200"/>
            <a:ext cx="148132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Devices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7095744" y="2743200"/>
            <a:ext cx="1481328" cy="685800"/>
          </a:xfrm>
          <a:prstGeom prst="roundRect">
            <a:avLst>
              <a:gd name="adj" fmla="val 10667"/>
            </a:avLst>
          </a:prstGeom>
          <a:solidFill>
            <a:srgbClr val="1FB68A"/>
          </a:solidFill>
          <a:ln w="12700">
            <a:solidFill>
              <a:srgbClr val="2B3440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095744" y="2743200"/>
            <a:ext cx="148132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MCP server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3703320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CBD5E1"/>
                </a:solidFill>
              </a:rPr>
              <a:t>Next: OAuth for interactive MCP clients (@rekog/mcp-nest-auth) · Redis-backed rate limits · deploy with MCP_ALLOWED_HOSTS set</a:t>
            </a:r>
            <a:endParaRPr lang="en-US" sz="1400" dirty="0"/>
          </a:p>
        </p:txBody>
      </p:sp>
      <p:sp>
        <p:nvSpPr>
          <p:cNvPr id="15" name="Text 0"/>
          <p:cNvSpPr/>
          <p:nvPr>
            <p:ph idx="101" type="body" hasCustomPrompt="1"/>
          </p:nvPr>
        </p:nvSpPr>
        <p:spPr>
          <a:xfrm>
            <a:off x="548640" y="2697480"/>
            <a:ext cx="8046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Lab Companion">
  <a:themeElements>
    <a:clrScheme name="Lab Companion">
      <a:dk1>
        <a:srgbClr val="1B1F24"/>
      </a:dk1>
      <a:lt1>
        <a:srgbClr val="FFFFFF"/>
      </a:lt1>
      <a:dk2>
        <a:srgbClr val="2B3440"/>
      </a:dk2>
      <a:lt2>
        <a:srgbClr val="F1F5F9"/>
      </a:lt2>
      <a:accent1>
        <a:srgbClr val="1FB68A"/>
      </a:accent1>
      <a:accent2>
        <a:srgbClr val="E69A28"/>
      </a:accent2>
      <a:accent3>
        <a:srgbClr val="7C5CFF"/>
      </a:accent3>
      <a:accent4>
        <a:srgbClr val="E5484D"/>
      </a:accent4>
      <a:accent5>
        <a:srgbClr val="0F766E"/>
      </a:accent5>
      <a:accent6>
        <a:srgbClr val="94A3B8"/>
      </a:accent6>
      <a:hlink>
        <a:srgbClr val="0F766E"/>
      </a:hlink>
      <a:folHlink>
        <a:srgbClr val="7C5CFF"/>
      </a:folHlink>
    </a:clrScheme>
    <a:fontScheme name="Lab Companion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33</Slides>
  <Notes>33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33</vt:i4>
      </vt:variant>
    </vt:vector>
  </HeadingPairs>
  <TitlesOfParts>
    <vt:vector size="3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Lab companion (lite): Building Apps with AI Agents</dc:title>
  <dc:subject>PptxGenJS Presentation</dc:subject>
  <dc:creator>edu-training</dc:creator>
  <cp:lastModifiedBy>edu-training</cp:lastModifiedBy>
  <cp:revision>1</cp:revision>
  <dcterms:created xsi:type="dcterms:W3CDTF">2026-10-26T01:14:47Z</dcterms:created>
  <dcterms:modified xsi:type="dcterms:W3CDTF">2026-10-26T01:14:47Z</dcterms:modified>
</cp:coreProperties>
</file>