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deck on screen during lab work. Each chapter has: a divider (goal + time), RUN THIS (commands), CHECKPOINT (what correct looks like) and IF YOU ARE STUCK (snags we actually hit). The full explanations are in the chapter documents.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repeatable work belongs to tools; judgement belongs to the agent, fenced into markers. If a learner hand-edits generated code, steer them back to the template or the marker.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Linux, macOS and WSL shells were the target. The `eval "$(…)"` lab helper needs a POSIX shell; on PowerShell, copy the printed values by hand. Not tested on PowerShell.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Inspector CLI (chapters 07 and 09) stays in the terminal: it is a real MCP client, which is the point of those chapters.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checks drive the app over HTTP and MCP and never import learner code, so they compile before the lab is done. The contracts are in test/labs/README.md in the starter. Reference solutions for facilitators are in docs/ai-agent-training/solutions/.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modules, about 170 minutes of labs plus the capstone as homework. Times are ESTIMATES: nobody has run these labs with an audience yet. The full track (ch00-ch10) has the labs this one cuts.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Covers full-track chapters 00 + 01. Cut for time: the persistence and clean-wipe demos (chapter 00).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While pnpm install runs, walk through specs/notes.md. Learners give their agent the spec and the skill name (nest-resource-scaffold), not ad-hoc instructions.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Covers full-track chapters 02. Cut for time: nothing. This is chapter 02 as it stands.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learners read the generated SQL out loud. A nullable ADD COLUMN is safe on populated tables; NOT NULL is not (chapter 04).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Covers full-track chapters 03 + 04. Cut for time: reading the hand-written middleware commit (chapter 03) and the expiresAt lab (chapter 04). Offer expiresAt as a stretch.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Issuing credentials stores a live secret in a collection variable: never export or share the collection after a run. Re-sending Issue credentials is a rotation.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Covers full-track chapters 05 + 06. Cut for time: the separate envelope-discussion lab (chapter 05): the raw initialize below covers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the Body tab of initialize: one SSE event, `event: message` then `data: {...}`, and the Headers tab: X-Access-Key-Id / X-Secret-Key come from the variables 04 · Devices stored. Then ask: which id answers which request? Where is the SSE framing? What would a tool error look like vs a protocol error?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Then: pnpm verify. The stdio e2e test pins the EXACT tool list, so it fails until they update it deliberately. That is the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Covers full-track chapters 07 + 08. Cut for time: the Host-header lab (chapter 08). Mention MCP_ALLOWED_HOSTS; the stuck slide covers its snags.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Inspector listens on loopback only (127.0.0.1:6274). Its URL carries an API token: a credential. The three example servers in its list can be ignored. Secret values: the helper prints them; never paste them anywhere but the header field.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CLI is the scriptable half of the Inspector. Exit 5 comes from the tool's own isError, which is why it is a sound CI signal.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Covers full-track chapters 09 + 10. Cut for time: nothing from chapter 09; the chapter 10 capstone moves to homework.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clients, two devices: the Inspector uses the helper's device, Postman its own. Rotating in Postman therefore does not break the Inspector call; that is a good question to ask. The rotation response contains the NEW secret: do not paste it anywhere.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Inspector treats any 401 as an OAuth challenge. Device keys suit header-configured machine clients; the OAuth path is @rekog/mcp-nest-auth (not built in this course).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Distinction: a false statement found in a comment, skill, spec or this course, measured and corrected. Rework: "tests pass" without counts, or any credential in an artefact.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asking each learner for one false statement they found in a tool, a doc or this course, and how they measured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B1F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804672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1FB68A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B1F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300" kern="0" dirty="0">
                <a:solidFill>
                  <a:srgbClr val="1FB68A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CBD5E1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5" name="Text 0"/>
          <p:cNvSpPr/>
          <p:nvPr/>
        </p:nvSpPr>
        <p:spPr>
          <a:xfrm>
            <a:off x="457200" y="47548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Lab companion · Building apps with AI agents · NestJS + MCP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1B1F24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Lab companion · Building apps with AI agents · NestJS + MCP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image" Target="../media/image-33-4.png"/><Relationship Id="rId5" Type="http://schemas.openxmlformats.org/officeDocument/2006/relationships/image" Target="../media/image-33-5.png"/><Relationship Id="rId6" Type="http://schemas.openxmlformats.org/officeDocument/2006/relationships/image" Target="../media/image-33-6.png"/><Relationship Id="rId7" Type="http://schemas.openxmlformats.org/officeDocument/2006/relationships/image" Target="../media/image-33-7.png"/><Relationship Id="rId8" Type="http://schemas.openxmlformats.org/officeDocument/2006/relationships/image" Target="../media/image-33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Building Apps with AI Agents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B68A"/>
                </a:solidFill>
              </a:rPr>
              <a:t>Lab companion, LITE track · six modules · NestJS 12 · drizzle · SQLite · Passport · MCP</a:t>
            </a:r>
            <a:endParaRPr lang="en-US" sz="1800" dirty="0"/>
          </a:p>
        </p:txBody>
      </p:sp>
      <p:sp>
        <p:nvSpPr>
          <p:cNvPr id="4" name="terminal"/>
          <p:cNvSpPr/>
          <p:nvPr/>
        </p:nvSpPr>
        <p:spPr>
          <a:xfrm>
            <a:off x="548640" y="3703320"/>
            <a:ext cx="5120640" cy="777240"/>
          </a:xfrm>
          <a:prstGeom prst="roundRect">
            <a:avLst>
              <a:gd name="adj" fmla="val 9412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383133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383133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7280" y="383133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8" name="terminal-text"/>
          <p:cNvSpPr txBox="1"/>
          <p:nvPr/>
        </p:nvSpPr>
        <p:spPr>
          <a:xfrm>
            <a:off x="777240" y="408736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pnpm verify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How every lab works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86384" y="1325880"/>
            <a:ext cx="822960" cy="82296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86384" y="1325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1</a:t>
            </a:r>
            <a:endParaRPr lang="en-US" sz="28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11096" y="1627632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2331720"/>
            <a:ext cx="1481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Spec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788920"/>
            <a:ext cx="14813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specs/&lt;name&gt;.md: fields, rules, gaps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2468880" y="1325880"/>
            <a:ext cx="822960" cy="82296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468880" y="1325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2</a:t>
            </a:r>
            <a:endParaRPr lang="en-US" sz="28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3592" y="1627632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139696" y="2331720"/>
            <a:ext cx="1481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Generate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2139696" y="2788920"/>
            <a:ext cx="14813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nest-cli: structure + wiring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4151376" y="1325880"/>
            <a:ext cx="822960" cy="82296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4151376" y="1325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3</a:t>
            </a:r>
            <a:endParaRPr lang="en-US" sz="280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6088" y="1627632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822192" y="2331720"/>
            <a:ext cx="1481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Template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3822192" y="2788920"/>
            <a:ext cx="14813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house conventions, identical every time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833872" y="1325880"/>
            <a:ext cx="822960" cy="82296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5833872" y="1325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4</a:t>
            </a:r>
            <a:endParaRPr lang="en-US" sz="2800" dirty="0"/>
          </a:p>
        </p:txBody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8584" y="1627632"/>
            <a:ext cx="237744" cy="23774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504688" y="2331720"/>
            <a:ext cx="1481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Fill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5504688" y="2788920"/>
            <a:ext cx="14813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your agent, ONLY inside AI-FILL markers</a:t>
            </a:r>
            <a:endParaRPr lang="en-US" sz="1400" dirty="0"/>
          </a:p>
        </p:txBody>
      </p:sp>
      <p:sp>
        <p:nvSpPr>
          <p:cNvPr id="23" name="Shape 17"/>
          <p:cNvSpPr/>
          <p:nvPr/>
        </p:nvSpPr>
        <p:spPr>
          <a:xfrm>
            <a:off x="7516368" y="1325880"/>
            <a:ext cx="822960" cy="82296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516368" y="1325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5</a:t>
            </a:r>
            <a:endParaRPr lang="en-US" sz="2800" dirty="0"/>
          </a:p>
        </p:txBody>
      </p:sp>
      <p:sp>
        <p:nvSpPr>
          <p:cNvPr id="25" name="Text 19"/>
          <p:cNvSpPr txBox="1"/>
          <p:nvPr/>
        </p:nvSpPr>
        <p:spPr>
          <a:xfrm>
            <a:off x="7187184" y="2331720"/>
            <a:ext cx="1481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Verify</a:t>
            </a:r>
            <a:endParaRPr lang="en-US" sz="1800" dirty="0"/>
          </a:p>
        </p:txBody>
      </p:sp>
      <p:sp>
        <p:nvSpPr>
          <p:cNvPr id="26" name="Text 20"/>
          <p:cNvSpPr txBox="1"/>
          <p:nvPr/>
        </p:nvSpPr>
        <p:spPr>
          <a:xfrm>
            <a:off x="7187184" y="2788920"/>
            <a:ext cx="14813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pnpm verify: read the counts</a:t>
            </a:r>
            <a:endParaRPr lang="en-US" sz="1400" dirty="0"/>
          </a:p>
        </p:txBody>
      </p:sp>
      <p:sp>
        <p:nvSpPr>
          <p:cNvPr id="27" name="Text 21"/>
          <p:cNvSpPr txBox="1"/>
          <p:nvPr/>
        </p:nvSpPr>
        <p:spPr>
          <a:xfrm>
            <a:off x="457200" y="40690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</a:rPr>
              <a:t>Repeatable work → tools.  Judgement → the agent, fenced in.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Three rules for the lab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018" y="1329538"/>
            <a:ext cx="358445" cy="35844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25880" y="1097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Node 24 + pnpm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Every command runs in boilerplate/nest-ai-starter.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corepack enable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 once puts pnpm on your PATH; otherwise write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corepack pnpm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.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457200" y="2331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018" y="2472538"/>
            <a:ext cx="358445" cy="35844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2240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Counts, not exit codes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Read "Tests N passed" AND "Test Files": a failed beforeAll shows 0 failures in the Tests line and exit 1.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457200" y="3474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18" y="3615538"/>
            <a:ext cx="358445" cy="358445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25880" y="3383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Never share a secret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Device secrets, Basic credentials and Inspector URLs (they carry a token) stay in your terminal.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Calling the API with Postman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018" y="1329538"/>
            <a:ext cx="358445" cy="35844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25880" y="1097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Import one file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In the starter: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postman/nest-ai-starter.postman_collection.json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. baseUrl is http://localhost:3000; the first request in folder 03 signs up the demo user.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457200" y="2331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018" y="2472538"/>
            <a:ext cx="358445" cy="35844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2240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Folders follow the labs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Numbered by chapter, and each name says the lite module. Every request has tests: read the Test Results tab, not just the status.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457200" y="3474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18" y="3615538"/>
            <a:ext cx="358445" cy="358445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25880" y="3383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It stores a live secret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Issuing credentials saves the device secret in a collection variable. Never export or share the collection after a run.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Lab checks: is my lab done?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018" y="1329538"/>
            <a:ext cx="358445" cy="35844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25880" y="1097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One check per lab</a:t>
            </a:r>
            <a:endParaRPr lang="en-US" sz="1800" dirty="0"/>
          </a:p>
          <a:p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 04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 runs the check for lab 04,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 all of them. Done means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 Files 1 passed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 and every test green.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457200" y="2331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018" y="2472538"/>
            <a:ext cx="358445" cy="35844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2240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Build labs start red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Labs 01, 02, 04, 06 and 10 fail on the starter, because the feature is not there yet. They pass once you have built it.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457200" y="3474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18" y="3615538"/>
            <a:ext cx="358445" cy="358445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25880" y="3383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Guard labs start green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Labs 03, 08 and 09 pass on the starter. Break the rule on purpose, watch the check fail, then put it back.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The lite track (draft lab times)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143000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Setup and the loop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566160" y="1143000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40'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709928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709928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Data: drizzle and zod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1709928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25'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276856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2276856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Identity: auth and devices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566160" y="2276856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30'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1143000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00600" y="1143000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Your first MCP server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0" y="1143000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30'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663440" y="1709928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800600" y="1709928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Inspector and transports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0" y="1709928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25'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663440" y="2276856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00600" y="2276856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Secure MCP, then the capstone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0" y="2276856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20'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MODULE 1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Setup and the loop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Start the stack, then add an 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orders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 resource: generate → template → fill → verify.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40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set up, then an orders resource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82296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7772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boilerplate/nest-ai-starter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corepack enable &amp;&amp; pnpm install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 .env.example .env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build &amp;&amp; pnpm db:migrate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verify                # 69 + 61 tests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write specs/orders.md (copy specs/notes.md), then: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exec nest g resource orders --type rest --crud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resource:template --name order --plural orders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check:ai-fill         # your agent's to-do list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your agent fills every AI-FILL marker, then: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verify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 01   # the lab check: all green?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gate green, markers to zero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captured, then expected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pnpm db:migrate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db:migrate: ledger rows: 3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pnpm verify (before your resource)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Tests  69 passed (69)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Tests  61 passed (61)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after the template step (captured)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files written: 11;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AI-FILL markers to complete: 16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after your agent (expected)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AI-FILL markers: 0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 01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: every test passes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3774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4619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3408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ledger rows: 3, both gates green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1089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1934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0723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check:ai-fill prints 0 markers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852160" y="384048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6651" y="3924971"/>
            <a:ext cx="215067" cy="21506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355080" y="380390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delete one service rule: exactly one test goes red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module 1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pnpm: command not found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Run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corepack enable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, or write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corepack pnpm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 instead of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"Run step 1 first"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The template script refuses before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nest g resource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, and refuses a second run. Never use --force after filling.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Unit green, e2e red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Validation, defaults and status codes live at the HTTP boundary. Only e2e sees them.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MODULE 2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Data: drizzle and zod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Add a 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phone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 column and watch the migration checks work for you.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25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add a phone column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82296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7772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specs/users.md: phone (optional, E.164)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user.schema.ts + users.table.ts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check:migrations   # FAILS: drift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db:generate        # READ the SQL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check:migrations   # clean now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verify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stop the app (Ctrl+C), then: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build &amp;&amp; pnpm db:migrate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start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 02   # the lab check: all green?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drift caught, ledger grows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captured messages, expected count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before db:generate (captured)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check-migrations: DRIFT - tables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changed without a migration.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db:generate (captured format)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[✓] Your SQL migration file ➜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drizzle/0003_….sql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pnpm db:migrate (expected)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db:migrate: ledger rows: 4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 02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: every test passes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3774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4619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3408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check:migrations failed BEFORE generating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1089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1934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0723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you read the SQL in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drizzle/0003_*</a:t>
            </a:r>
            <a:pPr indent="0" marL="0">
              <a:buNone/>
            </a:pP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852160" y="384048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6651" y="3924971"/>
            <a:ext cx="215067" cy="21506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355080" y="380390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ledger rows: 4; phone appears in responses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module 2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All tests pass, check fails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Correct: tests run on the MIGRATION SQL (in-memory SQLite), not your TypeScript table. Generate the migration.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Drift test fails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The zod schema and the table must declare exactly the same fields, with the same TS names.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The generated SQL says NOT NULL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SQLite refuses it on any table with rows (measured). Decide what happens to existing rows first, as drizzle/0002 does.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MODULE 3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Identity: auth and devices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Break the "one identical 401" rule on purpose, then issue and rotate device credentials.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30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break the 401, then rotate a key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21208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send folder 03, then the lab: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unknown emails get a different message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test:e2e   # which test fails?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re-send 03 in Postman, then revert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then send folder 04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 03 04   # the lab check: all green?</a:t>
            </a:r>
            <a:endParaRPr lang="en-US" sz="1200" dirty="0"/>
          </a:p>
        </p:txBody>
      </p:sp>
      <p:sp>
        <p:nvSpPr>
          <p:cNvPr id="9" name="postman"/>
          <p:cNvSpPr/>
          <p:nvPr/>
        </p:nvSpPr>
        <p:spPr>
          <a:xfrm>
            <a:off x="5852160" y="1097280"/>
            <a:ext cx="2834640" cy="3520440"/>
          </a:xfrm>
          <a:prstGeom prst="roundRect">
            <a:avLst>
              <a:gd name="adj" fmla="val 2581"/>
            </a:avLst>
          </a:prstGeom>
          <a:solidFill>
            <a:srgbClr val="EF5B25"/>
          </a:solidFill>
          <a:ln w="12700">
            <a:solidFill>
              <a:srgbClr val="EF5B25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252728"/>
            <a:ext cx="237744" cy="2377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6355080" y="120700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In Postman</a:t>
            </a:r>
            <a:endParaRPr lang="en-US" sz="1600" dirty="0"/>
          </a:p>
        </p:txBody>
      </p:sp>
      <p:sp>
        <p:nvSpPr>
          <p:cNvPr id="12" name="postman-requests"/>
          <p:cNvSpPr txBox="1"/>
          <p:nvPr/>
        </p:nvSpPr>
        <p:spPr>
          <a:xfrm>
            <a:off x="6035040" y="1645920"/>
            <a:ext cx="24688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03 · Auth (lite module 3)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1. Sign up (public)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2. Me: no credentials → 401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3. Me: unknown email → the same 401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4. Me (Basic auth)</a:t>
            </a:r>
            <a:endParaRPr lang="en-US" sz="13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300" b="1" dirty="0">
                <a:solidFill>
                  <a:srgbClr val="FFFFFF"/>
                </a:solidFill>
              </a:rPr>
              <a:t>04 · Devices (lite module 3)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1. Create device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2. Issue credentials (secret shown once)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3. Activate device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4. Get device (no secret, no hash)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one 401, one secret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from the code, then expected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HTTP/1.1 401 Unauthorized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WWW-Authenticate: Basic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realm="nest-ai-starter", charset="UTF-8"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after your change, e2e reports: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 every failure is the SAME 401 …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GET device (expected)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"status":"active", "secretLast4":"…"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POST …/credentials (expected)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"secret":"dsk_…"   (shown ONCE)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 03 04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: every test passes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3774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4619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3408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you saw the test that pins the 401 rule fail, then reverted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1089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1934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0723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no response but /credentials ever shows a secret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852160" y="384048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6651" y="3924971"/>
            <a:ext cx="215067" cy="21506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355080" y="380390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another user's device → 404, not 403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module 3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"2 passed | 30 skipped", exit 1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A beforeAll threw (e.g. sign-up lost @Public()). The failure is on the Test Files line.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My new route answers 401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Secure by default: the guard is global. Add @Public() only on purpose.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Deleting a user gives a 500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A blocked delete reports SQLITE_CONSTRAINT_TRIGGER (RESTRICT) or …_FOREIGNKEY (NO ACTION). Map both to 409.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MODULE 4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Your first MCP server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Read one raw JSON-RPC exchange, then add a 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publish-note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 tool and pin it with tests.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30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 (1/2): a raw MCP initialize</a:t>
            </a:r>
            <a:endParaRPr lang="en-US" sz="3200" dirty="0"/>
          </a:p>
        </p:txBody>
      </p:sp>
      <p:sp>
        <p:nvSpPr>
          <p:cNvPr id="3" name="postman"/>
          <p:cNvSpPr/>
          <p:nvPr/>
        </p:nvSpPr>
        <p:spPr>
          <a:xfrm>
            <a:off x="457200" y="1097280"/>
            <a:ext cx="8229600" cy="3520440"/>
          </a:xfrm>
          <a:prstGeom prst="roundRect">
            <a:avLst>
              <a:gd name="adj" fmla="val 2078"/>
            </a:avLst>
          </a:prstGeom>
          <a:solidFill>
            <a:srgbClr val="EF5B25"/>
          </a:solidFill>
          <a:ln w="12700">
            <a:solidFill>
              <a:srgbClr val="EF5B25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52728"/>
            <a:ext cx="237744" cy="23774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60120" y="1207008"/>
            <a:ext cx="7543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In Postman</a:t>
            </a:r>
            <a:endParaRPr lang="en-US" sz="1800" dirty="0"/>
          </a:p>
        </p:txBody>
      </p:sp>
      <p:sp>
        <p:nvSpPr>
          <p:cNvPr id="6" name="postman-requests"/>
          <p:cNvSpPr txBox="1"/>
          <p:nvPr/>
        </p:nvSpPr>
        <p:spPr>
          <a:xfrm>
            <a:off x="640080" y="1645920"/>
            <a:ext cx="7863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05 · MCP over HTTP (lite module 4)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1. initialize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2. tools/list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3. tools/call whoami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4. No device headers → 401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 (2/2): add a publish-note tool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82296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7772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src/mcp/notes.tools.ts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@Tool({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name: 'publish-note',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description: 'Publish a note. A published note needs a non-empty body.',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parameters: z.object({ id: z.string().uuid() }),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publishNote(@Payload() { id }: { id: string }): Promise&lt;ToolResult&gt;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runTool(() =&gt; this.notes.update(id, { status: 'published' }));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 06   # the lab check: all green?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JSON-RPC in SSE, rule over MCP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captured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content-type: text/event-stream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event: message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data: {"result":{"protocolVersion":…},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"jsonrpc":"2.0","id":1}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publish-note on a note with no body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{"content":[{"type":"text","text":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"RULE_VIOLATION: A published note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needs a non-empty body"}],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"isError":true}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 06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: every test passes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3774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4619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3408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you matched the response id to the request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1089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1934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0723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the stdio e2e tool list updated on purpose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852160" y="384048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6651" y="3924971"/>
            <a:ext cx="215067" cy="21506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355080" y="380390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tool error (isError) vs protocol error (error)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module 4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401 on /mcp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Missing headers, a draft or archived device, or a rotated secret: one 401 for all. Re-run the helper.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console.log "for debugging"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It goes into the protocol stream. The SDK client ignores it, so only the RAW stdout test fails.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A crash instead of isError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Wrap tool bodies in runTool(): DomainError → tool error the model can read.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MODULE 5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Inspector and transports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Turn an Inspector call into a CI check, then flip 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enableJsonResponse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 and compare the wire.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25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 (1/2): the Inspector UI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21208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mcp:inspect:ui      # leave it running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open the localhost:6274 URL it prints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 a second terminal: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 "$(node scripts/demo-device.mjs)"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values for the two headers: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echo "$MCP_KEY_ID"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echo "$MCP_SECRET"</a:t>
            </a:r>
            <a:endParaRPr lang="en-US" sz="1400" dirty="0"/>
          </a:p>
        </p:txBody>
      </p:sp>
      <p:sp>
        <p:nvSpPr>
          <p:cNvPr id="9" name="inspector-ui"/>
          <p:cNvSpPr/>
          <p:nvPr/>
        </p:nvSpPr>
        <p:spPr>
          <a:xfrm>
            <a:off x="5852160" y="1097280"/>
            <a:ext cx="2834640" cy="3520440"/>
          </a:xfrm>
          <a:prstGeom prst="roundRect">
            <a:avLst>
              <a:gd name="adj" fmla="val 2581"/>
            </a:avLst>
          </a:prstGeom>
          <a:solidFill>
            <a:srgbClr val="6D4AE8"/>
          </a:solidFill>
          <a:ln w="12700">
            <a:solidFill>
              <a:srgbClr val="6D4AE8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252728"/>
            <a:ext cx="237744" cy="2377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6355080" y="120700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In the Inspector UI</a:t>
            </a:r>
            <a:endParaRPr lang="en-US" sz="1600" dirty="0"/>
          </a:p>
        </p:txBody>
      </p:sp>
      <p:sp>
        <p:nvSpPr>
          <p:cNvPr id="12" name="postman-requests"/>
          <p:cNvSpPr txBox="1"/>
          <p:nvPr/>
        </p:nvSpPr>
        <p:spPr>
          <a:xfrm>
            <a:off x="6035040" y="1645920"/>
            <a:ext cx="24688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1. Add Servers → + Add manually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2. streamable-http · http://localhost:3000/mcp → Add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3. Settings → Custom Headers → + Add Header, twice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4. X-Access-Key-Id and X-Secret-Key, then close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5. Switch the card on: Connected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6. Tools → whoami → Execute Tool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 (2/2): a CI check, then the wire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21208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build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mcp:inspect:cli --method tools/call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--tool-name get-note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--tool-arg id=00000000-0000-4000-8000-000000000000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echo "exit: $?"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attach-mcp.ts: enableJsonResponse: true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restart the app: Ctrl+C, then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build &amp;&amp; pnpm start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re-send Postman 05 › initialize: what changed?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then revert enableJsonResponse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 08   # green now; break it, see red, revert</a:t>
            </a:r>
            <a:endParaRPr lang="en-US" sz="1100" dirty="0"/>
          </a:p>
        </p:txBody>
      </p:sp>
      <p:sp>
        <p:nvSpPr>
          <p:cNvPr id="9" name="postman"/>
          <p:cNvSpPr/>
          <p:nvPr/>
        </p:nvSpPr>
        <p:spPr>
          <a:xfrm>
            <a:off x="5852160" y="1097280"/>
            <a:ext cx="2834640" cy="3520440"/>
          </a:xfrm>
          <a:prstGeom prst="roundRect">
            <a:avLst>
              <a:gd name="adj" fmla="val 2581"/>
            </a:avLst>
          </a:prstGeom>
          <a:solidFill>
            <a:srgbClr val="EF5B25"/>
          </a:solidFill>
          <a:ln w="12700">
            <a:solidFill>
              <a:srgbClr val="EF5B25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252728"/>
            <a:ext cx="237744" cy="2377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6355080" y="120700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In Postman</a:t>
            </a:r>
            <a:endParaRPr lang="en-US" sz="1600" dirty="0"/>
          </a:p>
        </p:txBody>
      </p:sp>
      <p:sp>
        <p:nvSpPr>
          <p:cNvPr id="12" name="postman-requests"/>
          <p:cNvSpPr txBox="1"/>
          <p:nvPr/>
        </p:nvSpPr>
        <p:spPr>
          <a:xfrm>
            <a:off x="6035040" y="1645920"/>
            <a:ext cx="24688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05 · MCP over HTTP (lite module 4)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1. initialize</a:t>
            </a:r>
            <a:endParaRPr lang="en-US" sz="13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300" b="1" dirty="0">
                <a:solidFill>
                  <a:srgbClr val="FFFFFF"/>
                </a:solidFill>
              </a:rPr>
              <a:t>08 · Host check (lite module 5)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1. Foreign Host → 403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exit 5, then two framings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captured, then expected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"content": [ { "type": "text",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"text": "NOT_FOUND: Note … not found" } ],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"isError": true 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exit: 5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enableJsonResponse: true (expected)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content-type: application/json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{"result":…}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 08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: every test passes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3774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4619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3408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the Inspector UI shows Connected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1089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1934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0723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a script that FAILS when create-note accepts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{title:'x', status:'published'}</a:t>
            </a:r>
            <a:pPr indent="0" marL="0">
              <a:buNone/>
            </a:pP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852160" y="384048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6651" y="3924971"/>
            <a:ext cx="215067" cy="21506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355080" y="380390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both framings captured and compared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module 5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The UI says Failed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Wrong or missing device headers. The 401 makes the Inspector try OAuth (404s in Network). Check Settings → Custom Headers.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Sharing the Inspector UI URL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Don't: it carries MCP_INSPECTOR_API_TOKEN, which is a credential.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Called by hostname: 403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Add that name to MCP_ALLOWED_HOSTS: localhost,&lt;hostname&gt; (measured: 403 without, 200 with).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MODULE 6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Secure MCP, then the capstone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Rotate a device secret mid-session and watch the next call fail. The capstone is homework.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20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rotate mid-session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21208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 "$(node scripts/demo-device.mjs)"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npx -y @modelcontextprotocol/inspector@2.12.0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--cli http://localhost:3000/mcp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--method tools/call --tool-name whoami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--header "X-Access-Key-Id: $MCP_KEY_ID"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--header "X-Secret-Key: $MCP_SECRET"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 09   # green now; break it, see red, revert</a:t>
            </a:r>
            <a:endParaRPr lang="en-US" sz="1100" dirty="0"/>
          </a:p>
        </p:txBody>
      </p:sp>
      <p:sp>
        <p:nvSpPr>
          <p:cNvPr id="9" name="postman"/>
          <p:cNvSpPr/>
          <p:nvPr/>
        </p:nvSpPr>
        <p:spPr>
          <a:xfrm>
            <a:off x="5852160" y="1097280"/>
            <a:ext cx="2834640" cy="3520440"/>
          </a:xfrm>
          <a:prstGeom prst="roundRect">
            <a:avLst>
              <a:gd name="adj" fmla="val 2581"/>
            </a:avLst>
          </a:prstGeom>
          <a:solidFill>
            <a:srgbClr val="EF5B25"/>
          </a:solidFill>
          <a:ln w="12700">
            <a:solidFill>
              <a:srgbClr val="EF5B25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252728"/>
            <a:ext cx="237744" cy="2377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6355080" y="120700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In Postman</a:t>
            </a:r>
            <a:endParaRPr lang="en-US" sz="1600" dirty="0"/>
          </a:p>
        </p:txBody>
      </p:sp>
      <p:sp>
        <p:nvSpPr>
          <p:cNvPr id="12" name="postman-requests"/>
          <p:cNvSpPr txBox="1"/>
          <p:nvPr/>
        </p:nvSpPr>
        <p:spPr>
          <a:xfrm>
            <a:off x="6035040" y="1645920"/>
            <a:ext cx="24688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09 · Rotate mid-session (lite module 6)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1. Rotate credentials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2. whoami with the OLD secret → 401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3. whoami with the NEW secret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rotation bites immediately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captured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Inspector whoami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"device": { … "status": "active" … },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"owner":  { … "email": "demo@example.com" 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Postman 09 · Rotate mid-session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Rotate credentials           200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whoami with the OLD secret   401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whoami with the NEW secret   200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 09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: every test passes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3774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4619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3408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the old secret failed on the NEXT call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1089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1934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0723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the 7 failure modes → one 401, explained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852160" y="384048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6651" y="3924971"/>
            <a:ext cx="215067" cy="21506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355080" y="380390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why stdio whoami is a tool error (local trust)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module 6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Inspector says auth_required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That IS your 401. Check the headers, or re-run the helper for a fresh device.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whoami over stdio fails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By design: stdio trusts the local user; there is no device identity.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Auth seems bypassed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The middleware must be registered BEFORE the transport mounts (measured: after = bypassed).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Capstone (homework): evidence, not claims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1691" y="1318931"/>
            <a:ext cx="215067" cy="21506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60120" y="1188720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1.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spec diff + every open question you raised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2075688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691" y="2160179"/>
            <a:ext cx="215067" cy="215067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2029968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2.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plan with a verify line per task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2916936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691" y="3001427"/>
            <a:ext cx="215067" cy="215067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960120" y="2871216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3.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the migration and your edits, or why none</a:t>
            </a:r>
            <a:endParaRPr lang="en-US" sz="1400" dirty="0"/>
          </a:p>
        </p:txBody>
      </p:sp>
      <p:sp>
        <p:nvSpPr>
          <p:cNvPr id="12" name="Shape 7"/>
          <p:cNvSpPr/>
          <p:nvPr/>
        </p:nvSpPr>
        <p:spPr>
          <a:xfrm>
            <a:off x="457200" y="3758184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691" y="3842675"/>
            <a:ext cx="215067" cy="215067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960120" y="3712464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4.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unit + e2e counts; owner-check mutation result</a:t>
            </a:r>
            <a:endParaRPr lang="en-US" sz="1400" dirty="0"/>
          </a:p>
        </p:txBody>
      </p:sp>
      <p:sp>
        <p:nvSpPr>
          <p:cNvPr id="15" name="Shape 9"/>
          <p:cNvSpPr/>
          <p:nvPr/>
        </p:nvSpPr>
        <p:spPr>
          <a:xfrm>
            <a:off x="4663440" y="12344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7931" y="1318931"/>
            <a:ext cx="215067" cy="215067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5166360" y="1188720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5.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my-notes e2e: two devices of two users</a:t>
            </a:r>
            <a:endParaRPr lang="en-US" sz="1400" dirty="0"/>
          </a:p>
        </p:txBody>
      </p:sp>
      <p:sp>
        <p:nvSpPr>
          <p:cNvPr id="18" name="Shape 11"/>
          <p:cNvSpPr/>
          <p:nvPr/>
        </p:nvSpPr>
        <p:spPr>
          <a:xfrm>
            <a:off x="4663440" y="2075688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47931" y="2160179"/>
            <a:ext cx="215067" cy="215067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5166360" y="2029968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6.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pnpm verify + pnpm lab 10: every line</a:t>
            </a:r>
            <a:endParaRPr lang="en-US" sz="1400" dirty="0"/>
          </a:p>
        </p:txBody>
      </p:sp>
      <p:sp>
        <p:nvSpPr>
          <p:cNvPr id="21" name="Shape 13"/>
          <p:cNvSpPr/>
          <p:nvPr/>
        </p:nvSpPr>
        <p:spPr>
          <a:xfrm>
            <a:off x="4663440" y="2916936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2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47931" y="3001427"/>
            <a:ext cx="215067" cy="215067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5166360" y="2871216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7.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Inspector capture with headers (secret redacted)</a:t>
            </a:r>
            <a:endParaRPr lang="en-US" sz="1400" dirty="0"/>
          </a:p>
        </p:txBody>
      </p:sp>
      <p:sp>
        <p:nvSpPr>
          <p:cNvPr id="24" name="Shape 15"/>
          <p:cNvSpPr/>
          <p:nvPr/>
        </p:nvSpPr>
        <p:spPr>
          <a:xfrm>
            <a:off x="4663440" y="3758184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2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47931" y="3842675"/>
            <a:ext cx="215067" cy="215067"/>
          </a:xfrm>
          <a:prstGeom prst="rect">
            <a:avLst/>
          </a:prstGeom>
        </p:spPr>
      </p:pic>
      <p:sp>
        <p:nvSpPr>
          <p:cNvPr id="26" name="Text 16"/>
          <p:cNvSpPr txBox="1"/>
          <p:nvPr/>
        </p:nvSpPr>
        <p:spPr>
          <a:xfrm>
            <a:off x="5166360" y="3712464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8.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WORKLOG entry, with any corrections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What you built</a:t>
            </a:r>
            <a:endParaRPr lang="en-US" sz="4400" dirty="0"/>
          </a:p>
        </p:txBody>
      </p:sp>
      <p:sp>
        <p:nvSpPr>
          <p:cNvPr id="3" name="Shape 1"/>
          <p:cNvSpPr/>
          <p:nvPr/>
        </p:nvSpPr>
        <p:spPr>
          <a:xfrm>
            <a:off x="548640" y="2743200"/>
            <a:ext cx="1481328" cy="685800"/>
          </a:xfrm>
          <a:prstGeom prst="roundRect">
            <a:avLst>
              <a:gd name="adj" fmla="val 10667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274320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Node + SQLite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185416" y="2743200"/>
            <a:ext cx="1481328" cy="685800"/>
          </a:xfrm>
          <a:prstGeom prst="roundRect">
            <a:avLst>
              <a:gd name="adj" fmla="val 10667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185416" y="274320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REST + drizzle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822192" y="2743200"/>
            <a:ext cx="1481328" cy="685800"/>
          </a:xfrm>
          <a:prstGeom prst="roundRect">
            <a:avLst>
              <a:gd name="adj" fmla="val 10667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822192" y="274320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Auth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58968" y="2743200"/>
            <a:ext cx="1481328" cy="685800"/>
          </a:xfrm>
          <a:prstGeom prst="roundRect">
            <a:avLst>
              <a:gd name="adj" fmla="val 10667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58968" y="274320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Devices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095744" y="2743200"/>
            <a:ext cx="1481328" cy="685800"/>
          </a:xfrm>
          <a:prstGeom prst="roundRect">
            <a:avLst>
              <a:gd name="adj" fmla="val 10667"/>
            </a:avLst>
          </a:prstGeom>
          <a:solidFill>
            <a:srgbClr val="1FB68A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95744" y="274320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MCP server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70332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</a:rPr>
              <a:t>Next: OAuth for interactive MCP clients (@rekog/mcp-nest-auth) · Redis-backed rate limits · deploy with MCP_ALLOWED_HOSTS set</a:t>
            </a:r>
            <a:endParaRPr lang="en-US" sz="1400" dirty="0"/>
          </a:p>
        </p:txBody>
      </p:sp>
      <p:sp>
        <p:nvSpPr>
          <p:cNvPr id="15" name="Text 0"/>
          <p:cNvSpPr/>
          <p:nvPr>
            <p:ph idx="101" type="body" hasCustomPrompt="1"/>
          </p:nvPr>
        </p:nvSpPr>
        <p:spPr>
          <a:xfrm>
            <a:off x="548640" y="26974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Lab companion (lite): Building Apps with AI Agents</dc:title>
  <dc:subject>PptxGenJS Presentation</dc:subject>
  <dc:creator>edu-training</dc:creator>
  <cp:lastModifiedBy>edu-training</cp:lastModifiedBy>
  <cp:revision>1</cp:revision>
  <dcterms:created xsi:type="dcterms:W3CDTF">2026-10-26T08:47:49Z</dcterms:created>
  <dcterms:modified xsi:type="dcterms:W3CDTF">2026-10-26T08:47:49Z</dcterms:modified>
</cp:coreProperties>
</file>