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notesMasterIdLst>
    <p:notesMasterId r:id="rId3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this deck on screen during lab work. Each chapter has: a divider (goal + time), RUN THIS (commands), CHECKPOINT (what correct looks like) and IF YOU ARE STUCK (snags we actually hit). The full explanations are in the chapter documents.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repeatable work belongs to tools; judgement belongs to the agent, fenced into markers. If a learner hand-edits generated code, steer them back to the template or the marker.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PowerShell has no alias for multi-word commands: function dev { docker compose run --rm dev @args }. Not tested here; Linux, macOS and WSL shells were the target.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Six modules, about 170 minutes of labs plus the capstone as homework. Times are ESTIMATES: nobody has run these labs with an audience yet. The full track (ch00-ch10) has the labs this one cuts.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Covers full-track chapters 00 + 01. Cut for time: the stack-persistence and clean-wipe demos (chapter 00).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first image build takes a few minutes: use it to walk through docker-compose.yml and specs/notes.md. Learners give their agent the spec and the skill name (nest-resource-scaffold), not ad-hoc instructions.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Covers full-track chapters 02. Cut for time: nothing. This is chapter 02 as it stands.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Make learners read the generated SQL out loud. A nullable ADD COLUMN is safe on populated tables; NOT NULL is not (chapter 04).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Covers full-track chapters 03 + 04. Cut for time: reading the hand-written middleware commit (chapter 03) and the expiresAt lab (chapter 04). Offer expiresAt as a stretch.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helper prints exports only; keep the grep. Unfiltered, compose build-log lines run as shell commands (measured: they created stray files). The rotation output contains a NEW secret: do not paste it anywhere.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Covers full-track chapters 05 + 06. Cut for time: the separate envelope-discussion lab (chapter 05): the raw initialize below replaces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Then ask: which id answers which request? Where is the SSE framing? What would a tool error look like vs a protocol error?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Then: dev pnpm verify. The stdio e2e test pins the EXACT tool list, so it fails until they update it deliberately. That is the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Covers full-track chapters 07 + 08. Cut for time: the Host-header lab (chapter 08). Mention MCP_ALLOWED_HOSTS; the stuck slide covers its snags.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Inspector web UI binds 127.0.0.1 inside its container: use the CLI in Docker. Exit 5 comes from the tool's own isError, which is why it is a sound CI signal.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Covers full-track chapters 09 + 10. Cut for time: nothing from chapter 09; the chapter 10 capstone moves to homework.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rotation output contains the NEW secret. Tell learners not to paste it anywhere; redirect it to /dev/null if screens are shared.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Inspector treats any 401 as an OAuth challenge. Device keys suit header-configured machine clients; the OAuth path is @rekog/mcp-nest-auth (not built in this course).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Distinction: a false statement found in a comment, skill, spec or this course, measured and corrected. Rework: "tests pass" without counts, or any credential in an artefact.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by asking each learner for one false statement they found in a tool, a doc or this course, and how they measured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1B1F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80467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697480"/>
            <a:ext cx="804672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rgbClr val="1FB68A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1B1F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097280"/>
            <a:ext cx="54864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b="1" spc="300" kern="0" dirty="0">
                <a:solidFill>
                  <a:srgbClr val="1FB68A"/>
                </a:solidFill>
              </a:defRPr>
            </a:lvl1pPr>
          </a:lstStyle>
          <a:p>
            <a:pPr indent="0" marL="0">
              <a:buNone/>
            </a:pP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0876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560320"/>
            <a:ext cx="566928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rgbClr val="CBD5E1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  <p:sp>
        <p:nvSpPr>
          <p:cNvPr id="5" name="Text 0"/>
          <p:cNvSpPr/>
          <p:nvPr/>
        </p:nvSpPr>
        <p:spPr>
          <a:xfrm>
            <a:off x="457200" y="475488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</a:rPr>
              <a:t>Lab companion · Building apps with AI agents · NestJS + MCP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1B1F24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457200" y="475488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Lab companion · Building apps with AI agents · NestJS + MCP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image" Target="../media/image-29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image" Target="../media/image-30-3.png"/><Relationship Id="rId4" Type="http://schemas.openxmlformats.org/officeDocument/2006/relationships/image" Target="../media/image-30-4.png"/><Relationship Id="rId5" Type="http://schemas.openxmlformats.org/officeDocument/2006/relationships/image" Target="../media/image-30-5.png"/><Relationship Id="rId6" Type="http://schemas.openxmlformats.org/officeDocument/2006/relationships/image" Target="../media/image-30-6.png"/><Relationship Id="rId7" Type="http://schemas.openxmlformats.org/officeDocument/2006/relationships/image" Target="../media/image-30-7.png"/><Relationship Id="rId8" Type="http://schemas.openxmlformats.org/officeDocument/2006/relationships/image" Target="../media/image-30-8.png"/><Relationship Id="rId9" Type="http://schemas.openxmlformats.org/officeDocument/2006/relationships/slideLayout" Target="../slideLayouts/slideLayout4.xml"/><Relationship Id="rId10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8046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Building Apps with AI Agents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69748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FB68A"/>
                </a:solidFill>
              </a:rPr>
              <a:t>Lab companion, LITE track · six modules · NestJS 12 · drizzle · Passport · MCP · Docker</a:t>
            </a:r>
            <a:endParaRPr lang="en-US" sz="1800" dirty="0"/>
          </a:p>
        </p:txBody>
      </p:sp>
      <p:sp>
        <p:nvSpPr>
          <p:cNvPr id="4" name="terminal"/>
          <p:cNvSpPr/>
          <p:nvPr/>
        </p:nvSpPr>
        <p:spPr>
          <a:xfrm>
            <a:off x="548640" y="3703320"/>
            <a:ext cx="5120640" cy="777240"/>
          </a:xfrm>
          <a:prstGeom prst="roundRect">
            <a:avLst>
              <a:gd name="adj" fmla="val 9412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383133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383133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97280" y="383133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8" name="terminal-text"/>
          <p:cNvSpPr txBox="1"/>
          <p:nvPr/>
        </p:nvSpPr>
        <p:spPr>
          <a:xfrm>
            <a:off x="777240" y="4087368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docker compose run --rm dev pnpm verify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How every lab works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786384" y="1325880"/>
            <a:ext cx="822960" cy="822960"/>
          </a:xfrm>
          <a:prstGeom prst="ellipse">
            <a:avLst/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86384" y="13258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1</a:t>
            </a:r>
            <a:endParaRPr lang="en-US" sz="28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11096" y="1627632"/>
            <a:ext cx="237744" cy="2377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57200" y="2331720"/>
            <a:ext cx="14813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1F24"/>
                </a:solidFill>
              </a:rPr>
              <a:t>Spec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2788920"/>
            <a:ext cx="14813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specs/&lt;name&gt;.md: fields, rules, gaps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2468880" y="1325880"/>
            <a:ext cx="822960" cy="822960"/>
          </a:xfrm>
          <a:prstGeom prst="ellipse">
            <a:avLst/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2468880" y="13258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2</a:t>
            </a:r>
            <a:endParaRPr lang="en-US" sz="28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93592" y="1627632"/>
            <a:ext cx="237744" cy="23774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139696" y="2331720"/>
            <a:ext cx="14813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1F24"/>
                </a:solidFill>
              </a:rPr>
              <a:t>Generate</a:t>
            </a:r>
            <a:endParaRPr lang="en-US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2139696" y="2788920"/>
            <a:ext cx="14813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nest-cli: structure + wiring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4151376" y="1325880"/>
            <a:ext cx="822960" cy="822960"/>
          </a:xfrm>
          <a:prstGeom prst="ellipse">
            <a:avLst/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4151376" y="13258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3</a:t>
            </a:r>
            <a:endParaRPr lang="en-US" sz="2800" dirty="0"/>
          </a:p>
        </p:txBody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76088" y="1627632"/>
            <a:ext cx="237744" cy="23774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822192" y="2331720"/>
            <a:ext cx="14813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1F24"/>
                </a:solidFill>
              </a:rPr>
              <a:t>Template</a:t>
            </a:r>
            <a:endParaRPr lang="en-US" sz="1800" dirty="0"/>
          </a:p>
        </p:txBody>
      </p:sp>
      <p:sp>
        <p:nvSpPr>
          <p:cNvPr id="17" name="Text 12"/>
          <p:cNvSpPr txBox="1"/>
          <p:nvPr/>
        </p:nvSpPr>
        <p:spPr>
          <a:xfrm>
            <a:off x="3822192" y="2788920"/>
            <a:ext cx="14813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house conventions, identical every time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5833872" y="1325880"/>
            <a:ext cx="822960" cy="822960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5833872" y="13258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4</a:t>
            </a:r>
            <a:endParaRPr lang="en-US" sz="2800" dirty="0"/>
          </a:p>
        </p:txBody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58584" y="1627632"/>
            <a:ext cx="237744" cy="237744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5504688" y="2331720"/>
            <a:ext cx="14813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1F24"/>
                </a:solidFill>
              </a:rPr>
              <a:t>Fill</a:t>
            </a:r>
            <a:endParaRPr lang="en-US" sz="1800" dirty="0"/>
          </a:p>
        </p:txBody>
      </p:sp>
      <p:sp>
        <p:nvSpPr>
          <p:cNvPr id="22" name="Text 16"/>
          <p:cNvSpPr txBox="1"/>
          <p:nvPr/>
        </p:nvSpPr>
        <p:spPr>
          <a:xfrm>
            <a:off x="5504688" y="2788920"/>
            <a:ext cx="14813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your agent, ONLY inside AI-FILL markers</a:t>
            </a:r>
            <a:endParaRPr lang="en-US" sz="1400" dirty="0"/>
          </a:p>
        </p:txBody>
      </p:sp>
      <p:sp>
        <p:nvSpPr>
          <p:cNvPr id="23" name="Shape 17"/>
          <p:cNvSpPr/>
          <p:nvPr/>
        </p:nvSpPr>
        <p:spPr>
          <a:xfrm>
            <a:off x="7516368" y="1325880"/>
            <a:ext cx="822960" cy="822960"/>
          </a:xfrm>
          <a:prstGeom prst="ellipse">
            <a:avLst/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7516368" y="13258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5</a:t>
            </a:r>
            <a:endParaRPr lang="en-US" sz="2800" dirty="0"/>
          </a:p>
        </p:txBody>
      </p:sp>
      <p:sp>
        <p:nvSpPr>
          <p:cNvPr id="25" name="Text 19"/>
          <p:cNvSpPr txBox="1"/>
          <p:nvPr/>
        </p:nvSpPr>
        <p:spPr>
          <a:xfrm>
            <a:off x="7187184" y="2331720"/>
            <a:ext cx="14813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1F24"/>
                </a:solidFill>
              </a:rPr>
              <a:t>Verify</a:t>
            </a:r>
            <a:endParaRPr lang="en-US" sz="1800" dirty="0"/>
          </a:p>
        </p:txBody>
      </p:sp>
      <p:sp>
        <p:nvSpPr>
          <p:cNvPr id="26" name="Text 20"/>
          <p:cNvSpPr txBox="1"/>
          <p:nvPr/>
        </p:nvSpPr>
        <p:spPr>
          <a:xfrm>
            <a:off x="7187184" y="2788920"/>
            <a:ext cx="14813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pnpm verify: read the counts</a:t>
            </a:r>
            <a:endParaRPr lang="en-US" sz="1400" dirty="0"/>
          </a:p>
        </p:txBody>
      </p:sp>
      <p:sp>
        <p:nvSpPr>
          <p:cNvPr id="27" name="Text 21"/>
          <p:cNvSpPr txBox="1"/>
          <p:nvPr/>
        </p:nvSpPr>
        <p:spPr>
          <a:xfrm>
            <a:off x="457200" y="406908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4748B"/>
                </a:solidFill>
              </a:rPr>
              <a:t>Repeatable work → tools.  Judgement → the agent, fenced in.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Three rules for the lab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640080" cy="640080"/>
          </a:xfrm>
          <a:prstGeom prst="ellipse">
            <a:avLst/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018" y="1329538"/>
            <a:ext cx="358445" cy="358445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325880" y="1097280"/>
            <a:ext cx="7360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1F24"/>
                </a:solidFill>
              </a:rPr>
              <a:t>dev = the toolbox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alias dev='docker compose run --rm dev'. Every 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X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 in the course becomes 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 pnpm X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.</a:t>
            </a:r>
            <a:endParaRPr lang="en-US" sz="1800" dirty="0"/>
          </a:p>
        </p:txBody>
      </p:sp>
      <p:sp>
        <p:nvSpPr>
          <p:cNvPr id="6" name="Shape 3"/>
          <p:cNvSpPr/>
          <p:nvPr/>
        </p:nvSpPr>
        <p:spPr>
          <a:xfrm>
            <a:off x="457200" y="2331720"/>
            <a:ext cx="640080" cy="640080"/>
          </a:xfrm>
          <a:prstGeom prst="ellipse">
            <a:avLst/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018" y="2472538"/>
            <a:ext cx="358445" cy="358445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325880" y="2240280"/>
            <a:ext cx="7360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1F24"/>
                </a:solidFill>
              </a:rPr>
              <a:t>Counts, not exit codes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Read "Tests N passed" AND "Test Files": a failed beforeAll shows 0 failures in the Tests line and exit 1.</a:t>
            </a:r>
            <a:endParaRPr lang="en-US" sz="1800" dirty="0"/>
          </a:p>
        </p:txBody>
      </p:sp>
      <p:sp>
        <p:nvSpPr>
          <p:cNvPr id="9" name="Shape 5"/>
          <p:cNvSpPr/>
          <p:nvPr/>
        </p:nvSpPr>
        <p:spPr>
          <a:xfrm>
            <a:off x="457200" y="3474720"/>
            <a:ext cx="640080" cy="640080"/>
          </a:xfrm>
          <a:prstGeom prst="ellipse">
            <a:avLst/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018" y="3615538"/>
            <a:ext cx="358445" cy="358445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325880" y="3383280"/>
            <a:ext cx="7360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1F24"/>
                </a:solidFill>
              </a:rPr>
              <a:t>Never share a secret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Device secrets, Basic credentials and Inspector URLs (they carry a token) stay in your terminal.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The lite track (draft lab times)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4023360" cy="475488"/>
          </a:xfrm>
          <a:prstGeom prst="roundRect">
            <a:avLst>
              <a:gd name="adj" fmla="val 11538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143000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B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Setup and the loop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3566160" y="1143000"/>
            <a:ext cx="777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40'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1709928"/>
            <a:ext cx="4023360" cy="475488"/>
          </a:xfrm>
          <a:prstGeom prst="roundRect">
            <a:avLst>
              <a:gd name="adj" fmla="val 11538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4360" y="1709928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B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Data: drizzle and zod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3566160" y="1709928"/>
            <a:ext cx="777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25'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2276856"/>
            <a:ext cx="4023360" cy="475488"/>
          </a:xfrm>
          <a:prstGeom prst="roundRect">
            <a:avLst>
              <a:gd name="adj" fmla="val 11538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94360" y="2276856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B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Identity: auth and devices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566160" y="2276856"/>
            <a:ext cx="777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30'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663440" y="1143000"/>
            <a:ext cx="4023360" cy="475488"/>
          </a:xfrm>
          <a:prstGeom prst="roundRect">
            <a:avLst>
              <a:gd name="adj" fmla="val 11538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800600" y="1143000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B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Your first MCP server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7772400" y="1143000"/>
            <a:ext cx="777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30'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663440" y="1709928"/>
            <a:ext cx="4023360" cy="475488"/>
          </a:xfrm>
          <a:prstGeom prst="roundRect">
            <a:avLst>
              <a:gd name="adj" fmla="val 11538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800600" y="1709928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B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Inspector and transports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7772400" y="1709928"/>
            <a:ext cx="777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25'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663440" y="2276856"/>
            <a:ext cx="4023360" cy="475488"/>
          </a:xfrm>
          <a:prstGeom prst="roundRect">
            <a:avLst>
              <a:gd name="adj" fmla="val 11538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800600" y="2276856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B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 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Secure MCP, then the capstone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7772400" y="2276856"/>
            <a:ext cx="777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20'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0972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1FB68A"/>
                </a:solidFill>
              </a:rPr>
              <a:t>MODULE 1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0876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Setup and the loop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560320"/>
            <a:ext cx="5669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Start the stack, then add an </a:t>
            </a:r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orders</a:t>
            </a:r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 resource: generate → template → fill → verify.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675120" y="2560320"/>
            <a:ext cx="2011680" cy="1097280"/>
          </a:xfrm>
          <a:prstGeom prst="roundRect">
            <a:avLst>
              <a:gd name="adj" fmla="val 8333"/>
            </a:avLst>
          </a:prstGeom>
          <a:solidFill>
            <a:srgbClr val="2B3440"/>
          </a:solidFill>
          <a:ln w="12700">
            <a:solidFill>
              <a:srgbClr val="2B344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0" y="2788920"/>
            <a:ext cx="640080" cy="640080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98818" y="2929738"/>
            <a:ext cx="358445" cy="358445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589520" y="2697480"/>
            <a:ext cx="1051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40 min</a:t>
            </a:r>
            <a:endParaRPr lang="en-US" sz="22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</a:rPr>
              <a:t>lab (draft)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Run this: stack up, then an orders resource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822960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7223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 · run this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77724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boilerplate/nest-ai-starter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compose up -d --build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alias dev='docker compose run --rm dev'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 pnpm verify                # 67 + 61 tests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write specs/orders.md (copy specs/notes.md), then: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 pnpm exec nest g resource orders --type rest --crud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 pnpm resource:template --name order --plural orders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 pnpm check:ai-fill         # your agent's to-do list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your agent fills every AI-FILL marker, then: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 pnpm verify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Checkpoint: stack green, markers to zero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502920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captured, then expected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45720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docker compose ps -a  (STATUS)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       Up … (healthy)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migrate   Exited (0)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dev pnpm verify (before your resource)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Tests  67 passed (67)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Tests  61 passed (61)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after the template step (captured)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files written: 11;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AI-FILL markers to complete: 16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after your agent (expected)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AI-FILL markers: 0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852160" y="109728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1F24"/>
                </a:solidFill>
              </a:rPr>
              <a:t>Done when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852160" y="164592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36651" y="1730411"/>
            <a:ext cx="215067" cy="215067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6355080" y="160934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app healthy, migrate exited 0, both gates green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852160" y="260604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6651" y="2690531"/>
            <a:ext cx="215067" cy="215067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6355080" y="256946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check:ai-fill prints 0 markers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5852160" y="356616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6651" y="3650651"/>
            <a:ext cx="215067" cy="215067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355080" y="352958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delete one service rule: exactly one test goes red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If you are stuck: module 1</a:t>
            </a:r>
            <a:endParaRPr lang="en-US" sz="3200" dirty="0"/>
          </a:p>
        </p:txBody>
      </p:sp>
      <p:sp>
        <p:nvSpPr>
          <p:cNvPr id="3" name="snag-1"/>
          <p:cNvSpPr/>
          <p:nvPr/>
        </p:nvSpPr>
        <p:spPr>
          <a:xfrm>
            <a:off x="457200" y="109728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" y="137160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6442" y="1482242"/>
            <a:ext cx="281635" cy="28163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17320" y="118872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A port is already in use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Something local owns 5432, 6379 or 3000. Stop it, or change the LEFT side of that 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ports: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 entry.</a:t>
            </a:r>
            <a:endParaRPr lang="en-US" sz="1600" dirty="0"/>
          </a:p>
        </p:txBody>
      </p:sp>
      <p:sp>
        <p:nvSpPr>
          <p:cNvPr id="7" name="snag-2"/>
          <p:cNvSpPr/>
          <p:nvPr/>
        </p:nvSpPr>
        <p:spPr>
          <a:xfrm>
            <a:off x="457200" y="228600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85800" y="256032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442" y="2670962"/>
            <a:ext cx="281635" cy="281635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417320" y="237744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"Run step 1 first"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The template script refuses before 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nest g resource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, and refuses a second run. Never use --force after filling.</a:t>
            </a:r>
            <a:endParaRPr lang="en-US" sz="1600" dirty="0"/>
          </a:p>
        </p:txBody>
      </p:sp>
      <p:sp>
        <p:nvSpPr>
          <p:cNvPr id="11" name="snag-3"/>
          <p:cNvSpPr/>
          <p:nvPr/>
        </p:nvSpPr>
        <p:spPr>
          <a:xfrm>
            <a:off x="457200" y="347472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85800" y="374904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6442" y="3859682"/>
            <a:ext cx="281635" cy="281635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417320" y="356616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Unit green, e2e red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Validation, defaults and status codes live at the HTTP boundary. Only e2e sees them.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0972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1FB68A"/>
                </a:solidFill>
              </a:rPr>
              <a:t>MODULE 2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0876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Data: drizzle and zod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560320"/>
            <a:ext cx="5669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Add a </a:t>
            </a:r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phone</a:t>
            </a:r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 column and watch the migration checks work for you.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675120" y="2560320"/>
            <a:ext cx="2011680" cy="1097280"/>
          </a:xfrm>
          <a:prstGeom prst="roundRect">
            <a:avLst>
              <a:gd name="adj" fmla="val 8333"/>
            </a:avLst>
          </a:prstGeom>
          <a:solidFill>
            <a:srgbClr val="2B3440"/>
          </a:solidFill>
          <a:ln w="12700">
            <a:solidFill>
              <a:srgbClr val="2B344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0" y="2788920"/>
            <a:ext cx="640080" cy="640080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98818" y="2929738"/>
            <a:ext cx="358445" cy="358445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589520" y="2697480"/>
            <a:ext cx="1051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25 min</a:t>
            </a:r>
            <a:endParaRPr lang="en-US" sz="22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</a:rPr>
              <a:t>lab (draft)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Run this: add a phone column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822960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7223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2 · run this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77724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specs/users.md: phone (optional, E.164)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user.schema.ts + users.table.ts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 pnpm check:migrations   # FAILS: drift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 pnpm db:generate        # READ the SQL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 pnpm check:migrations   # clean now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 pnpm verify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compose up -d --build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compose logs migrate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Checkpoint: drift caught, ledger grows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502920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captured messages, expected count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45720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before db:generate (captured)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check-migrations: DRIFT - tables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changed without a migration.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db:generate (captured format)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[✓] Your SQL migration file ➜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drizzle/0003_….sql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after up -d --build (expected)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db:migrate: ledger rows: 4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852160" y="109728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1F24"/>
                </a:solidFill>
              </a:rPr>
              <a:t>Done when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852160" y="164592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36651" y="1730411"/>
            <a:ext cx="215067" cy="215067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6355080" y="160934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check:migrations failed BEFORE generating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852160" y="260604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6651" y="2690531"/>
            <a:ext cx="215067" cy="215067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6355080" y="256946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you read the SQL in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drizzle/0003_*</a:t>
            </a:r>
            <a:pPr indent="0" marL="0">
              <a:buNone/>
            </a:pP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5852160" y="356616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6651" y="3650651"/>
            <a:ext cx="215067" cy="215067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355080" y="352958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ledger rows: 4; phone appears in responses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If you are stuck: module 2</a:t>
            </a:r>
            <a:endParaRPr lang="en-US" sz="3200" dirty="0"/>
          </a:p>
        </p:txBody>
      </p:sp>
      <p:sp>
        <p:nvSpPr>
          <p:cNvPr id="3" name="snag-1"/>
          <p:cNvSpPr/>
          <p:nvPr/>
        </p:nvSpPr>
        <p:spPr>
          <a:xfrm>
            <a:off x="457200" y="109728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" y="137160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6442" y="1482242"/>
            <a:ext cx="281635" cy="28163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17320" y="118872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All tests pass, check fails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Correct: tests run on the MIGRATION SQL (PGlite), not your TypeScript table. Generate the migration.</a:t>
            </a:r>
            <a:endParaRPr lang="en-US" sz="1600" dirty="0"/>
          </a:p>
        </p:txBody>
      </p:sp>
      <p:sp>
        <p:nvSpPr>
          <p:cNvPr id="7" name="snag-2"/>
          <p:cNvSpPr/>
          <p:nvPr/>
        </p:nvSpPr>
        <p:spPr>
          <a:xfrm>
            <a:off x="457200" y="228600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85800" y="256032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442" y="2670962"/>
            <a:ext cx="281635" cy="281635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417320" y="237744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Drift test fails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The zod schema and the table must declare exactly the same fields, with the same TS names.</a:t>
            </a:r>
            <a:endParaRPr lang="en-US" sz="1600" dirty="0"/>
          </a:p>
        </p:txBody>
      </p:sp>
      <p:sp>
        <p:nvSpPr>
          <p:cNvPr id="11" name="snag-3"/>
          <p:cNvSpPr/>
          <p:nvPr/>
        </p:nvSpPr>
        <p:spPr>
          <a:xfrm>
            <a:off x="457200" y="347472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85800" y="374904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6442" y="3859682"/>
            <a:ext cx="281635" cy="281635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417320" y="356616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The generated SQL says NOT NULL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That fails on populated tables (measured). Use nullable, then backfill, then SET NOT NULL.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0972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1FB68A"/>
                </a:solidFill>
              </a:rPr>
              <a:t>MODULE 3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0876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Identity: auth and devices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560320"/>
            <a:ext cx="5669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Break the "one identical 401" rule on purpose, then issue and rotate device credentials.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675120" y="2560320"/>
            <a:ext cx="2011680" cy="1097280"/>
          </a:xfrm>
          <a:prstGeom prst="roundRect">
            <a:avLst>
              <a:gd name="adj" fmla="val 8333"/>
            </a:avLst>
          </a:prstGeom>
          <a:solidFill>
            <a:srgbClr val="2B3440"/>
          </a:solidFill>
          <a:ln w="12700">
            <a:solidFill>
              <a:srgbClr val="2B344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0" y="2788920"/>
            <a:ext cx="640080" cy="640080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98818" y="2929738"/>
            <a:ext cx="358445" cy="358445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589520" y="2697480"/>
            <a:ext cx="1051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30 min</a:t>
            </a:r>
            <a:endParaRPr lang="en-US" sz="22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</a:rPr>
              <a:t>lab (draft)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Run this: break the 401, then rotate a key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822960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7223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3 · run this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77724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curl -i localhost:3000/api/v1/auth/me     # 401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lab: give unknown emails a different message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 pnpm test:e2e         # which test fails? revert.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eval "$(docker compose run --rm -T dev \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node scripts/demo-device.mjs | grep '^export ')"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curl -s -H "Authorization: $DEMO_BASIC" \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localhost:3000/api/v1/devices/$DEVICE_ID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curl -s -X POST -H "Authorization: $DEMO_BASIC" \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localhost:3000/api/v1/devices/$DEVICE_ID/credentials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Checkpoint: one 401, one secret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502920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from the code, then expected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45720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HTTP/1.1 401 Unauthorized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WWW-Authenticate: Basic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realm="nest-ai-starter", charset="UTF-8"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after your change, e2e reports: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 every failure is the SAME 401 …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GET device (expected)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"status":"active", "secretLast4":"…"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POST …/credentials (expected)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"secret":"dsk_…"   (shown ONCE)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852160" y="109728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1F24"/>
                </a:solidFill>
              </a:rPr>
              <a:t>Done when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852160" y="164592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36651" y="1730411"/>
            <a:ext cx="215067" cy="215067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6355080" y="160934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you saw the test that pins the 401 rule fail, then reverted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852160" y="260604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6651" y="2690531"/>
            <a:ext cx="215067" cy="215067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6355080" y="256946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no response but /credentials ever shows a secret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5852160" y="356616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6651" y="3650651"/>
            <a:ext cx="215067" cy="215067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355080" y="352958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another user's device → 404, not 403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If you are stuck: module 3</a:t>
            </a:r>
            <a:endParaRPr lang="en-US" sz="3200" dirty="0"/>
          </a:p>
        </p:txBody>
      </p:sp>
      <p:sp>
        <p:nvSpPr>
          <p:cNvPr id="3" name="snag-1"/>
          <p:cNvSpPr/>
          <p:nvPr/>
        </p:nvSpPr>
        <p:spPr>
          <a:xfrm>
            <a:off x="457200" y="109728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" y="137160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6442" y="1482242"/>
            <a:ext cx="281635" cy="28163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17320" y="118872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"2 passed | 30 skipped", exit 1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A beforeAll threw (e.g. sign-up lost @Public()). The failure is on the Test Files line.</a:t>
            </a:r>
            <a:endParaRPr lang="en-US" sz="1600" dirty="0"/>
          </a:p>
        </p:txBody>
      </p:sp>
      <p:sp>
        <p:nvSpPr>
          <p:cNvPr id="7" name="snag-2"/>
          <p:cNvSpPr/>
          <p:nvPr/>
        </p:nvSpPr>
        <p:spPr>
          <a:xfrm>
            <a:off x="457200" y="228600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85800" y="256032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442" y="2670962"/>
            <a:ext cx="281635" cy="281635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417320" y="237744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My new route answers 401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Secure by default: the guard is global. Add @Public() only on purpose.</a:t>
            </a:r>
            <a:endParaRPr lang="en-US" sz="1600" dirty="0"/>
          </a:p>
        </p:txBody>
      </p:sp>
      <p:sp>
        <p:nvSpPr>
          <p:cNvPr id="11" name="snag-3"/>
          <p:cNvSpPr/>
          <p:nvPr/>
        </p:nvSpPr>
        <p:spPr>
          <a:xfrm>
            <a:off x="457200" y="347472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85800" y="374904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6442" y="3859682"/>
            <a:ext cx="281635" cy="281635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417320" y="356616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Deleting a user gives a 500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Blocked FK deletes report 23001 (RESTRICT) or 23503 (NO ACTION). The adapter maps both to 409.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0972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1FB68A"/>
                </a:solidFill>
              </a:rPr>
              <a:t>MODULE 4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0876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Your first MCP server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560320"/>
            <a:ext cx="5669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Read one raw JSON-RPC exchange, then add a </a:t>
            </a:r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publish-note</a:t>
            </a:r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 tool and pin it with tests.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675120" y="2560320"/>
            <a:ext cx="2011680" cy="1097280"/>
          </a:xfrm>
          <a:prstGeom prst="roundRect">
            <a:avLst>
              <a:gd name="adj" fmla="val 8333"/>
            </a:avLst>
          </a:prstGeom>
          <a:solidFill>
            <a:srgbClr val="2B3440"/>
          </a:solidFill>
          <a:ln w="12700">
            <a:solidFill>
              <a:srgbClr val="2B344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0" y="2788920"/>
            <a:ext cx="640080" cy="640080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98818" y="2929738"/>
            <a:ext cx="358445" cy="358445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589520" y="2697480"/>
            <a:ext cx="1051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30 min</a:t>
            </a:r>
            <a:endParaRPr lang="en-US" sz="22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</a:rPr>
              <a:t>lab (draft)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Run this (1/2): a raw MCP initialize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822960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7223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4 · run this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77724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eval "$(docker compose run --rm -T dev \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node scripts/demo-device.mjs | grep '^export ')"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curl -s -i -X POST localhost:3000/mcp \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-H 'content-type: application/json' \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-H 'accept: application/json, text/event-stream' \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-H "X-Access-Key-Id: $MCP_KEY_ID" \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-H "X-Secret-Key: $MCP_SECRET" \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-d '{"jsonrpc":"2.0","id":1,"method":"initialize",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"params":{"protocolVersion":"2025-06-18",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"capabilities":{},"clientInfo":{"name":"curl","version":"1"}}}'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Run this (2/2): add a publish-note tool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822960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7223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4 · run this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77724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src/mcp/notes.tools.ts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@Tool({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name: 'publish-note',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description: 'Publish a note. A published note needs a non-empty body.',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parameters: z.object({ id: z.string().uuid() }),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publishNote(@Payload() { id }: { id: string }): Promise&lt;ToolResult&gt; 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runTool(() =&gt; this.notes.update(id, { status: 'published' }));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Checkpoint: JSON-RPC in SSE, rule over MCP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502920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captured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45720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content-type: text/event-stream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event: message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data: {"result":{"protocolVersion":…},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"jsonrpc":"2.0","id":1}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publish-note on a note with no body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{"content":[{"type":"text","text":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"RULE_VIOLATION: A published note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needs a non-empty body"}],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"isError":true}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852160" y="109728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1F24"/>
                </a:solidFill>
              </a:rPr>
              <a:t>Done when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852160" y="164592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36651" y="1730411"/>
            <a:ext cx="215067" cy="215067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6355080" y="160934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you matched the response id to the request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852160" y="260604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6651" y="2690531"/>
            <a:ext cx="215067" cy="215067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6355080" y="256946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the stdio e2e tool list updated on purpose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5852160" y="356616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6651" y="3650651"/>
            <a:ext cx="215067" cy="215067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355080" y="352958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tool error (isError) vs protocol error (error)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If you are stuck: module 4</a:t>
            </a:r>
            <a:endParaRPr lang="en-US" sz="3200" dirty="0"/>
          </a:p>
        </p:txBody>
      </p:sp>
      <p:sp>
        <p:nvSpPr>
          <p:cNvPr id="3" name="snag-1"/>
          <p:cNvSpPr/>
          <p:nvPr/>
        </p:nvSpPr>
        <p:spPr>
          <a:xfrm>
            <a:off x="457200" y="109728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" y="137160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6442" y="1482242"/>
            <a:ext cx="281635" cy="28163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17320" y="118872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401 on /mcp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Missing headers, a draft or archived device, or a rotated secret: one 401 for all. Re-run the helper.</a:t>
            </a:r>
            <a:endParaRPr lang="en-US" sz="1600" dirty="0"/>
          </a:p>
        </p:txBody>
      </p:sp>
      <p:sp>
        <p:nvSpPr>
          <p:cNvPr id="7" name="snag-2"/>
          <p:cNvSpPr/>
          <p:nvPr/>
        </p:nvSpPr>
        <p:spPr>
          <a:xfrm>
            <a:off x="457200" y="228600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85800" y="256032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442" y="2670962"/>
            <a:ext cx="281635" cy="281635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417320" y="237744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console.log "for debugging"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It goes into the protocol stream. The SDK client ignores it, so only the RAW stdout test fails.</a:t>
            </a:r>
            <a:endParaRPr lang="en-US" sz="1600" dirty="0"/>
          </a:p>
        </p:txBody>
      </p:sp>
      <p:sp>
        <p:nvSpPr>
          <p:cNvPr id="11" name="snag-3"/>
          <p:cNvSpPr/>
          <p:nvPr/>
        </p:nvSpPr>
        <p:spPr>
          <a:xfrm>
            <a:off x="457200" y="347472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85800" y="374904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6442" y="3859682"/>
            <a:ext cx="281635" cy="281635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417320" y="356616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A crash instead of isError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Wrap tool bodies in runTool(): DomainError → tool error the model can read.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0972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1FB68A"/>
                </a:solidFill>
              </a:rPr>
              <a:t>MODULE 5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0876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Inspector and transports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560320"/>
            <a:ext cx="5669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Turn an Inspector call into a CI check, then flip </a:t>
            </a:r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enableJsonResponse</a:t>
            </a:r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 and compare the wire.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675120" y="2560320"/>
            <a:ext cx="2011680" cy="1097280"/>
          </a:xfrm>
          <a:prstGeom prst="roundRect">
            <a:avLst>
              <a:gd name="adj" fmla="val 8333"/>
            </a:avLst>
          </a:prstGeom>
          <a:solidFill>
            <a:srgbClr val="2B3440"/>
          </a:solidFill>
          <a:ln w="12700">
            <a:solidFill>
              <a:srgbClr val="2B344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0" y="2788920"/>
            <a:ext cx="640080" cy="640080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98818" y="2929738"/>
            <a:ext cx="358445" cy="358445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589520" y="2697480"/>
            <a:ext cx="1051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25 min</a:t>
            </a:r>
            <a:endParaRPr lang="en-US" sz="22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</a:rPr>
              <a:t>lab (draft)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Run this: a CI check, then the wire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822960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7223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5 · run this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77724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 pnpm build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 pnpm mcp:inspect:cli --method tools/call \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--tool-name get-note \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--tool-arg id=00000000-0000-4000-8000-000000000000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echo "exit: $?"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src/bootstrap/attach-mcp.ts: enableJsonResponse: true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compose up -d --build app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re-run the module 4 initialize: what changed?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then revert enableJsonResponse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Checkpoint: exit 5, then two framings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502920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captured, then expected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45720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"content": [ { "type": "text",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"text": "NOT_FOUND: Note … not found" } ],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"isError": true }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exit: 5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enableJsonResponse: true (expected)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content-type: application/json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{"result":…}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852160" y="109728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1F24"/>
                </a:solidFill>
              </a:rPr>
              <a:t>Done when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852160" y="164592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36651" y="1730411"/>
            <a:ext cx="215067" cy="215067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6355080" y="160934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a script that FAILS when create-note accepts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{title:'x', status:'published'}</a:t>
            </a:r>
            <a:pPr indent="0" marL="0">
              <a:buNone/>
            </a:pP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852160" y="260604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6651" y="2690531"/>
            <a:ext cx="215067" cy="215067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6355080" y="256946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both framings captured and compared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5852160" y="356616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6651" y="3650651"/>
            <a:ext cx="215067" cy="215067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355080" y="352958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MCP_ALLOWED_HOSTS explained in one sentence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If you are stuck: module 5</a:t>
            </a:r>
            <a:endParaRPr lang="en-US" sz="3200" dirty="0"/>
          </a:p>
        </p:txBody>
      </p:sp>
      <p:sp>
        <p:nvSpPr>
          <p:cNvPr id="3" name="snag-1"/>
          <p:cNvSpPr/>
          <p:nvPr/>
        </p:nvSpPr>
        <p:spPr>
          <a:xfrm>
            <a:off x="457200" y="109728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" y="137160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6442" y="1482242"/>
            <a:ext cx="281635" cy="28163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17320" y="118872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No such file dist/mcp-stdio.js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Build first: dev pnpm build.</a:t>
            </a:r>
            <a:endParaRPr lang="en-US" sz="1600" dirty="0"/>
          </a:p>
        </p:txBody>
      </p:sp>
      <p:sp>
        <p:nvSpPr>
          <p:cNvPr id="7" name="snag-2"/>
          <p:cNvSpPr/>
          <p:nvPr/>
        </p:nvSpPr>
        <p:spPr>
          <a:xfrm>
            <a:off x="457200" y="228600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85800" y="256032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442" y="2670962"/>
            <a:ext cx="281635" cy="281635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417320" y="237744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Sharing the Inspector UI URL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Don't: it carries MCP_INSPECTOR_API_TOKEN, which is a credential.</a:t>
            </a:r>
            <a:endParaRPr lang="en-US" sz="1600" dirty="0"/>
          </a:p>
        </p:txBody>
      </p:sp>
      <p:sp>
        <p:nvSpPr>
          <p:cNvPr id="11" name="snag-3"/>
          <p:cNvSpPr/>
          <p:nvPr/>
        </p:nvSpPr>
        <p:spPr>
          <a:xfrm>
            <a:off x="457200" y="347472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85800" y="374904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6442" y="3859682"/>
            <a:ext cx="281635" cy="281635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417320" y="356616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Called by service name: 403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Add that name to MCP_ALLOWED_HOSTS (reproduced in Docker).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0972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1FB68A"/>
                </a:solidFill>
              </a:rPr>
              <a:t>MODULE 6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0876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Secure MCP, then the capstone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560320"/>
            <a:ext cx="5669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Rotate a device secret mid-session and watch the next call fail. The capstone is homework.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675120" y="2560320"/>
            <a:ext cx="2011680" cy="1097280"/>
          </a:xfrm>
          <a:prstGeom prst="roundRect">
            <a:avLst>
              <a:gd name="adj" fmla="val 8333"/>
            </a:avLst>
          </a:prstGeom>
          <a:solidFill>
            <a:srgbClr val="2B3440"/>
          </a:solidFill>
          <a:ln w="12700">
            <a:solidFill>
              <a:srgbClr val="2B344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0" y="2788920"/>
            <a:ext cx="640080" cy="640080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98818" y="2929738"/>
            <a:ext cx="358445" cy="358445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589520" y="2697480"/>
            <a:ext cx="1051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20 min</a:t>
            </a:r>
            <a:endParaRPr lang="en-US" sz="22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</a:rPr>
              <a:t>lab (draft)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Run this: rotate mid-session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822960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7223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6 · run this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77724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eval "$(docker compose run --rm -T dev \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node scripts/demo-device.mjs | grep '^export ')"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 npx -y @modelcontextprotocol/inspector@2.12.0 \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--cli http://app:3000/mcp \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--method tools/call --tool-name whoami \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--header "X-Access-Key-Id: $MCP_KEY_ID" \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--header "X-Secret-Key: $MCP_SECRET"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curl -s -X POST -H "Authorization: $DEMO_BASIC" \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localhost:3000/api/v1/devices/$DEVICE_ID/credentials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run the same Inspector command again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Checkpoint: rotation bites immediately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502920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first call captured, second expected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45720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first whoami (captured)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"device": { … "status": "active" … },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"owner":  { … "email": "demo@example.com" }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after rotation, same headers (expected)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 401 → the Inspector reports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auth_required (it expects OAuth)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852160" y="109728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1F24"/>
                </a:solidFill>
              </a:rPr>
              <a:t>Done when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852160" y="164592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36651" y="1730411"/>
            <a:ext cx="215067" cy="215067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6355080" y="160934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the old secret failed on the NEXT call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852160" y="260604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6651" y="2690531"/>
            <a:ext cx="215067" cy="215067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6355080" y="256946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the 7 failure modes → one 401, explained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5852160" y="356616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6651" y="3650651"/>
            <a:ext cx="215067" cy="215067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355080" y="352958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why stdio whoami is a tool error (local trust)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If you are stuck: module 6</a:t>
            </a:r>
            <a:endParaRPr lang="en-US" sz="3200" dirty="0"/>
          </a:p>
        </p:txBody>
      </p:sp>
      <p:sp>
        <p:nvSpPr>
          <p:cNvPr id="3" name="snag-1"/>
          <p:cNvSpPr/>
          <p:nvPr/>
        </p:nvSpPr>
        <p:spPr>
          <a:xfrm>
            <a:off x="457200" y="109728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" y="137160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6442" y="1482242"/>
            <a:ext cx="281635" cy="28163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17320" y="118872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Inspector says auth_required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That IS your 401. Check the headers, or re-run the helper for a fresh device.</a:t>
            </a:r>
            <a:endParaRPr lang="en-US" sz="1600" dirty="0"/>
          </a:p>
        </p:txBody>
      </p:sp>
      <p:sp>
        <p:nvSpPr>
          <p:cNvPr id="7" name="snag-2"/>
          <p:cNvSpPr/>
          <p:nvPr/>
        </p:nvSpPr>
        <p:spPr>
          <a:xfrm>
            <a:off x="457200" y="228600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85800" y="256032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442" y="2670962"/>
            <a:ext cx="281635" cy="281635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417320" y="237744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whoami over stdio fails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By design: stdio trusts the local user; there is no device identity.</a:t>
            </a:r>
            <a:endParaRPr lang="en-US" sz="1600" dirty="0"/>
          </a:p>
        </p:txBody>
      </p:sp>
      <p:sp>
        <p:nvSpPr>
          <p:cNvPr id="11" name="snag-3"/>
          <p:cNvSpPr/>
          <p:nvPr/>
        </p:nvSpPr>
        <p:spPr>
          <a:xfrm>
            <a:off x="457200" y="347472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85800" y="374904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6442" y="3859682"/>
            <a:ext cx="281635" cy="281635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417320" y="356616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Auth seems bypassed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The middleware must be registered BEFORE the transport mounts (measured: after = bypassed).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Capstone (homework): evidence, not claims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23444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1691" y="1318931"/>
            <a:ext cx="215067" cy="215067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960120" y="1188720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1F24"/>
                </a:solidFill>
              </a:rPr>
              <a:t>1.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spec diff + every open question you raised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457200" y="2075688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691" y="2160179"/>
            <a:ext cx="215067" cy="215067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2029968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1F24"/>
                </a:solidFill>
              </a:rPr>
              <a:t>2.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plan with a verify line per task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457200" y="2916936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691" y="3001427"/>
            <a:ext cx="215067" cy="215067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960120" y="2871216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1F24"/>
                </a:solidFill>
              </a:rPr>
              <a:t>3.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the migration SQL, and what you hand-edited</a:t>
            </a:r>
            <a:endParaRPr lang="en-US" sz="1400" dirty="0"/>
          </a:p>
        </p:txBody>
      </p:sp>
      <p:sp>
        <p:nvSpPr>
          <p:cNvPr id="12" name="Shape 7"/>
          <p:cNvSpPr/>
          <p:nvPr/>
        </p:nvSpPr>
        <p:spPr>
          <a:xfrm>
            <a:off x="457200" y="3758184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1691" y="3842675"/>
            <a:ext cx="215067" cy="215067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960120" y="3712464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1F24"/>
                </a:solidFill>
              </a:rPr>
              <a:t>4.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unit + e2e counts; owner-check mutation result</a:t>
            </a:r>
            <a:endParaRPr lang="en-US" sz="1400" dirty="0"/>
          </a:p>
        </p:txBody>
      </p:sp>
      <p:sp>
        <p:nvSpPr>
          <p:cNvPr id="15" name="Shape 9"/>
          <p:cNvSpPr/>
          <p:nvPr/>
        </p:nvSpPr>
        <p:spPr>
          <a:xfrm>
            <a:off x="4663440" y="123444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47931" y="1318931"/>
            <a:ext cx="215067" cy="215067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5166360" y="1188720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1F24"/>
                </a:solidFill>
              </a:rPr>
              <a:t>5.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my-notes e2e: two devices of two users</a:t>
            </a:r>
            <a:endParaRPr lang="en-US" sz="1400" dirty="0"/>
          </a:p>
        </p:txBody>
      </p:sp>
      <p:sp>
        <p:nvSpPr>
          <p:cNvPr id="18" name="Shape 11"/>
          <p:cNvSpPr/>
          <p:nvPr/>
        </p:nvSpPr>
        <p:spPr>
          <a:xfrm>
            <a:off x="4663440" y="2075688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47931" y="2160179"/>
            <a:ext cx="215067" cy="215067"/>
          </a:xfrm>
          <a:prstGeom prst="rect">
            <a:avLst/>
          </a:prstGeom>
        </p:spPr>
      </p:pic>
      <p:sp>
        <p:nvSpPr>
          <p:cNvPr id="20" name="Text 12"/>
          <p:cNvSpPr txBox="1"/>
          <p:nvPr/>
        </p:nvSpPr>
        <p:spPr>
          <a:xfrm>
            <a:off x="5166360" y="2029968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1F24"/>
                </a:solidFill>
              </a:rPr>
              <a:t>6.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pnpm verify: every line, incl. Test Files</a:t>
            </a:r>
            <a:endParaRPr lang="en-US" sz="1400" dirty="0"/>
          </a:p>
        </p:txBody>
      </p:sp>
      <p:sp>
        <p:nvSpPr>
          <p:cNvPr id="21" name="Shape 13"/>
          <p:cNvSpPr/>
          <p:nvPr/>
        </p:nvSpPr>
        <p:spPr>
          <a:xfrm>
            <a:off x="4663440" y="2916936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22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47931" y="3001427"/>
            <a:ext cx="215067" cy="215067"/>
          </a:xfrm>
          <a:prstGeom prst="rect">
            <a:avLst/>
          </a:prstGeom>
        </p:spPr>
      </p:pic>
      <p:sp>
        <p:nvSpPr>
          <p:cNvPr id="23" name="Text 14"/>
          <p:cNvSpPr txBox="1"/>
          <p:nvPr/>
        </p:nvSpPr>
        <p:spPr>
          <a:xfrm>
            <a:off x="5166360" y="2871216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1F24"/>
                </a:solidFill>
              </a:rPr>
              <a:t>7.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Inspector capture with headers (secret redacted)</a:t>
            </a:r>
            <a:endParaRPr lang="en-US" sz="1400" dirty="0"/>
          </a:p>
        </p:txBody>
      </p:sp>
      <p:sp>
        <p:nvSpPr>
          <p:cNvPr id="24" name="Shape 15"/>
          <p:cNvSpPr/>
          <p:nvPr/>
        </p:nvSpPr>
        <p:spPr>
          <a:xfrm>
            <a:off x="4663440" y="3758184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25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747931" y="3842675"/>
            <a:ext cx="215067" cy="215067"/>
          </a:xfrm>
          <a:prstGeom prst="rect">
            <a:avLst/>
          </a:prstGeom>
        </p:spPr>
      </p:pic>
      <p:sp>
        <p:nvSpPr>
          <p:cNvPr id="26" name="Text 16"/>
          <p:cNvSpPr txBox="1"/>
          <p:nvPr/>
        </p:nvSpPr>
        <p:spPr>
          <a:xfrm>
            <a:off x="5166360" y="3712464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1F24"/>
                </a:solidFill>
              </a:rPr>
              <a:t>8.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WORKLOG entry, with any corrections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8046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What you built</a:t>
            </a:r>
            <a:endParaRPr lang="en-US" sz="4400" dirty="0"/>
          </a:p>
        </p:txBody>
      </p:sp>
      <p:sp>
        <p:nvSpPr>
          <p:cNvPr id="3" name="Shape 1"/>
          <p:cNvSpPr/>
          <p:nvPr/>
        </p:nvSpPr>
        <p:spPr>
          <a:xfrm>
            <a:off x="548640" y="2743200"/>
            <a:ext cx="1481328" cy="685800"/>
          </a:xfrm>
          <a:prstGeom prst="roundRect">
            <a:avLst>
              <a:gd name="adj" fmla="val 10667"/>
            </a:avLst>
          </a:prstGeom>
          <a:solidFill>
            <a:srgbClr val="2B3440"/>
          </a:solidFill>
          <a:ln w="12700">
            <a:solidFill>
              <a:srgbClr val="2B344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2743200"/>
            <a:ext cx="14813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Docker stack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2185416" y="2743200"/>
            <a:ext cx="1481328" cy="685800"/>
          </a:xfrm>
          <a:prstGeom prst="roundRect">
            <a:avLst>
              <a:gd name="adj" fmla="val 10667"/>
            </a:avLst>
          </a:prstGeom>
          <a:solidFill>
            <a:srgbClr val="2B3440"/>
          </a:solidFill>
          <a:ln w="12700">
            <a:solidFill>
              <a:srgbClr val="2B344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185416" y="2743200"/>
            <a:ext cx="14813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REST + drizzle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822192" y="2743200"/>
            <a:ext cx="1481328" cy="685800"/>
          </a:xfrm>
          <a:prstGeom prst="roundRect">
            <a:avLst>
              <a:gd name="adj" fmla="val 10667"/>
            </a:avLst>
          </a:prstGeom>
          <a:solidFill>
            <a:srgbClr val="2B3440"/>
          </a:solidFill>
          <a:ln w="12700">
            <a:solidFill>
              <a:srgbClr val="2B344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822192" y="2743200"/>
            <a:ext cx="14813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Auth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58968" y="2743200"/>
            <a:ext cx="1481328" cy="685800"/>
          </a:xfrm>
          <a:prstGeom prst="roundRect">
            <a:avLst>
              <a:gd name="adj" fmla="val 10667"/>
            </a:avLst>
          </a:prstGeom>
          <a:solidFill>
            <a:srgbClr val="2B3440"/>
          </a:solidFill>
          <a:ln w="12700">
            <a:solidFill>
              <a:srgbClr val="2B344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58968" y="2743200"/>
            <a:ext cx="14813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Devices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095744" y="2743200"/>
            <a:ext cx="1481328" cy="685800"/>
          </a:xfrm>
          <a:prstGeom prst="roundRect">
            <a:avLst>
              <a:gd name="adj" fmla="val 10667"/>
            </a:avLst>
          </a:prstGeom>
          <a:solidFill>
            <a:srgbClr val="1FB68A"/>
          </a:solidFill>
          <a:ln w="12700">
            <a:solidFill>
              <a:srgbClr val="2B344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095744" y="2743200"/>
            <a:ext cx="14813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MCP server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370332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BD5E1"/>
                </a:solidFill>
              </a:rPr>
              <a:t>Next: OAuth for interactive MCP clients (@rekog/mcp-nest-auth) · Redis-backed rate limits · deploy with MCP_ALLOWED_HOSTS set</a:t>
            </a:r>
            <a:endParaRPr lang="en-US" sz="1400" dirty="0"/>
          </a:p>
        </p:txBody>
      </p:sp>
      <p:sp>
        <p:nvSpPr>
          <p:cNvPr id="15" name="Text 0"/>
          <p:cNvSpPr/>
          <p:nvPr>
            <p:ph idx="101" type="body" hasCustomPrompt="1"/>
          </p:nvPr>
        </p:nvSpPr>
        <p:spPr>
          <a:xfrm>
            <a:off x="548640" y="269748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ab Companion">
  <a:themeElements>
    <a:clrScheme name="Lab Companion">
      <a:dk1>
        <a:srgbClr val="1B1F24"/>
      </a:dk1>
      <a:lt1>
        <a:srgbClr val="FFFFFF"/>
      </a:lt1>
      <a:dk2>
        <a:srgbClr val="2B3440"/>
      </a:dk2>
      <a:lt2>
        <a:srgbClr val="F1F5F9"/>
      </a:lt2>
      <a:accent1>
        <a:srgbClr val="1FB68A"/>
      </a:accent1>
      <a:accent2>
        <a:srgbClr val="E69A28"/>
      </a:accent2>
      <a:accent3>
        <a:srgbClr val="7C5CFF"/>
      </a:accent3>
      <a:accent4>
        <a:srgbClr val="E5484D"/>
      </a:accent4>
      <a:accent5>
        <a:srgbClr val="0F766E"/>
      </a:accent5>
      <a:accent6>
        <a:srgbClr val="94A3B8"/>
      </a:accent6>
      <a:hlink>
        <a:srgbClr val="0F766E"/>
      </a:hlink>
      <a:folHlink>
        <a:srgbClr val="7C5CFF"/>
      </a:folHlink>
    </a:clrScheme>
    <a:fontScheme name="Lab Companion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31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Lab companion (lite): Building Apps with AI Agents</dc:title>
  <dc:subject>PptxGenJS Presentation</dc:subject>
  <dc:creator>edu-training</dc:creator>
  <cp:lastModifiedBy>edu-training</cp:lastModifiedBy>
  <cp:revision>1</cp:revision>
  <dcterms:created xsi:type="dcterms:W3CDTF">2026-10-25T15:03:30Z</dcterms:created>
  <dcterms:modified xsi:type="dcterms:W3CDTF">2026-10-25T15:03:30Z</dcterms:modified>
</cp:coreProperties>
</file>